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6950" cy="5143500"/>
          </a:xfrm>
          <a:prstGeom prst="rect">
            <a:avLst/>
          </a:prstGeom>
          <a:solidFill>
            <a:srgbClr val="2E6E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88950" y="402431"/>
            <a:ext cx="764291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1300" b="1" dirty="0">
                <a:solidFill>
                  <a:srgbClr val="7C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COMPATIBILITY CHECK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88950" y="821531"/>
            <a:ext cx="7642911" cy="1752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00"/>
              </a:lnSpc>
              <a:spcAft>
                <a:spcPts val="1400"/>
              </a:spcAft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PDL replace the GOI</a:t>
            </a:r>
            <a:endParaRPr lang="en-US" sz="4000" dirty="0"/>
          </a:p>
          <a:p>
            <a:pPr algn="l" indent="0" marL="0">
              <a:lnSpc>
                <a:spcPts val="4600"/>
              </a:lnSpc>
              <a:spcAft>
                <a:spcPts val="1400"/>
              </a:spcAft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an open-source paper?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88950" y="2751237"/>
            <a:ext cx="6217920" cy="85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Aft>
                <a:spcPts val="6000"/>
              </a:spcAft>
              <a:buNone/>
            </a:pPr>
            <a:r>
              <a:rPr lang="en-US" sz="16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Checking whether People Data Labs' Free Company Dataset can stand in for ISTARI's proprietary GOI in a companion paper derived from this thesis.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88950" y="4366468"/>
            <a:ext cx="764291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5DB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Marmee Pandya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88950" y="4553694"/>
            <a:ext cx="764291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7C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for discussion with Ralph · October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7724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2E6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841325"/>
            <a:ext cx="7772400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spcAft>
                <a:spcPts val="800"/>
              </a:spcAft>
              <a:buNone/>
            </a:pPr>
            <a:r>
              <a:rPr lang="en-US" sz="2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thesis runs on data nobody else can reuse.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62000" y="1735187"/>
            <a:ext cx="725413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result in this thesis depends on ISTARI's Global Organisation Index. A companion paper needs a dataset other researchers can actually get their hands on.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62000" y="2628900"/>
            <a:ext cx="3316932" cy="1953071"/>
          </a:xfrm>
          <a:prstGeom prst="roundRect">
            <a:avLst>
              <a:gd name="adj" fmla="val 3902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41350" y="2908250"/>
            <a:ext cx="28133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GOI (this thesis)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1350" y="3263801"/>
            <a:ext cx="2813396" cy="607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D5DB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~20M companies. Proprietary to ISTARI. Not something a published paper can point readers to.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92538" y="3457724"/>
            <a:ext cx="21708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7C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65068" y="2628900"/>
            <a:ext cx="3316932" cy="1953071"/>
          </a:xfrm>
          <a:prstGeom prst="roundRect">
            <a:avLst>
              <a:gd name="adj" fmla="val 3902"/>
            </a:avLst>
          </a:prstGeom>
          <a:solidFill>
            <a:srgbClr val="2E6E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344418" y="2908250"/>
            <a:ext cx="28133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PDL Free Company Dataset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344418" y="3492401"/>
            <a:ext cx="2813396" cy="810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D5DB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~23M companies. Publicly downloadable. The obvious candidate, if it actually resembles GOI closely enough.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62000" y="4886771"/>
            <a:ext cx="77724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2400"/>
              </a:spcBef>
              <a:buNone/>
            </a:pPr>
            <a:r>
              <a:rPr lang="en-US" sz="1050" dirty="0">
                <a:solidFill>
                  <a:srgbClr val="7C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rest of this deck is the evidence for whether that "if" holds.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7724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2E6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841325"/>
            <a:ext cx="7772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400"/>
              </a:spcAft>
              <a:buNone/>
            </a:pPr>
            <a:r>
              <a:rPr lang="en-US" sz="2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tested it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62000" y="1527125"/>
            <a:ext cx="369189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GOI SIDE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2000" y="1790551"/>
            <a:ext cx="369189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2E6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300,000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62000" y="2304901"/>
            <a:ext cx="369189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random, query-independent sample, not the 101-query corpus used elsewhere in the thesis. Chosen so the comparison reflects GOI's overall makeup rather than a search-topic-skewed slice.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62500" y="1527125"/>
            <a:ext cx="369189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PDL SIDE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62500" y="1790551"/>
            <a:ext cx="369189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2E6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35,828,989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762500" y="2304901"/>
            <a:ext cx="369189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row in PDL's public file. Streamed line by line rather than loaded at once, the file is 10.7GB, too large to hold in memory as a table.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2000" y="3270052"/>
            <a:ext cx="7620000" cy="844153"/>
          </a:xfrm>
          <a:prstGeom prst="roundRect">
            <a:avLst>
              <a:gd name="adj" fmla="val 6018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800100" y="3270052"/>
            <a:ext cx="0" cy="844153"/>
          </a:xfrm>
          <a:prstGeom prst="line">
            <a:avLst/>
          </a:prstGeom>
          <a:noFill/>
          <a:ln w="76200">
            <a:solidFill>
              <a:srgbClr val="2E6E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2101" y="3473202"/>
            <a:ext cx="7176718" cy="437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150" b="1" dirty="0">
                <a:solidFill>
                  <a:srgbClr val="2E6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key:</a:t>
            </a:r>
            <a:pPr algn="l"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normalised domain / website (lowercase, protocol and "www." stripped, path removed). This is what every overlap figure in this deck is built on.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57200"/>
            <a:ext cx="77724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E6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739676"/>
            <a:ext cx="77724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by field, where they match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62000" y="1177826"/>
            <a:ext cx="77724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inspecting both schemas directly. Red rows are the ones that matter most.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42901"/>
          <a:ext cx="7620000" cy="3174950"/>
        </p:xfrm>
        <a:graphic>
          <a:graphicData uri="http://schemas.openxmlformats.org/drawingml/2006/table">
            <a:tbl>
              <a:tblPr/>
              <a:tblGrid>
                <a:gridCol w="1737360"/>
                <a:gridCol w="1371600"/>
                <a:gridCol w="2834640"/>
              </a:tblGrid>
              <a:tr h="2442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GOI field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PDL field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Note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</a:tr>
              <a:tr h="2442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4053"/>
                          </a:solidFill>
                        </a:rPr>
                        <a:t>domain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4053"/>
                          </a:solidFill>
                        </a:rPr>
                        <a:t>website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4053"/>
                          </a:solidFill>
                        </a:rPr>
                        <a:t>join key for overlap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42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4053"/>
                          </a:solidFill>
                        </a:rPr>
                        <a:t>name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4053"/>
                          </a:solidFill>
                        </a:rPr>
                        <a:t>name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4053"/>
                          </a:solidFill>
                        </a:rPr>
                        <a:t>direct match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42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4053"/>
                          </a:solidFill>
                        </a:rPr>
                        <a:t>country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4053"/>
                          </a:solidFill>
                        </a:rPr>
                        <a:t>country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4053"/>
                          </a:solidFill>
                        </a:rPr>
                        <a:t>direct match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42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4053"/>
                          </a:solidFill>
                        </a:rPr>
                        <a:t>state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4053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4053"/>
                          </a:solidFill>
                        </a:rPr>
                        <a:t>approximate match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42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4053"/>
                          </a:solidFill>
                        </a:rPr>
                        <a:t>district / municipality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4053"/>
                          </a:solidFill>
                        </a:rPr>
                        <a:t>locality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4053"/>
                          </a:solidFill>
                        </a:rPr>
                        <a:t>GOI has two finer levels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42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4053"/>
                          </a:solidFill>
                        </a:rPr>
                        <a:t>organization_size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4053"/>
                          </a:solidFill>
                        </a:rPr>
                        <a:t>size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4053"/>
                          </a:solidFill>
                        </a:rPr>
                        <a:t>bucket boundaries differ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42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4053"/>
                          </a:solidFill>
                        </a:rPr>
                        <a:t>nace_code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4053"/>
                          </a:solidFill>
                        </a:rPr>
                        <a:t>industry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4053"/>
                          </a:solidFill>
                        </a:rPr>
                        <a:t>different taxonomies entirely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42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4053"/>
                          </a:solidFill>
                        </a:rPr>
                        <a:t>organization_type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4053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4053"/>
                          </a:solidFill>
                        </a:rPr>
                        <a:t>no PDL equivalent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42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4053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4053"/>
                          </a:solidFill>
                        </a:rPr>
                        <a:t>founded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4053"/>
                          </a:solidFill>
                        </a:rPr>
                        <a:t>no GOI equivalent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42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4053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4053"/>
                          </a:solidFill>
                        </a:rPr>
                        <a:t>linkedin_url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4053"/>
                          </a:solidFill>
                        </a:rPr>
                        <a:t>no GOI equivalent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42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7B241C"/>
                          </a:solidFill>
                        </a:rPr>
                        <a:t>summary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7B241C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7B241C"/>
                          </a:solidFill>
                        </a:rPr>
                        <a:t>MISSING: the field this thesis’ retrieval method depends on most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</a:tr>
              <a:tr h="2442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7B241C"/>
                          </a:solidFill>
                        </a:rPr>
                        <a:t>summary_keywords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7B241C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7B241C"/>
                          </a:solidFill>
                        </a:rPr>
                        <a:t>MISSING: derived from summary, same gap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83482" y="911423"/>
            <a:ext cx="257703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7C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HEADLINE NUMBER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324987" y="1168598"/>
            <a:ext cx="4494026" cy="1269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00"/>
              </a:lnSpc>
              <a:buNone/>
            </a:pPr>
            <a:r>
              <a:rPr lang="en-US" sz="10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40.4%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1722171" y="2565499"/>
            <a:ext cx="569965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1000"/>
              </a:spcBef>
              <a:buNone/>
            </a:pPr>
            <a:r>
              <a:rPr lang="en-US" sz="1500" dirty="0">
                <a:solidFill>
                  <a:srgbClr val="D5DB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GOI's random company sample is also findable in PDL, matched by domain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12338" y="3556099"/>
            <a:ext cx="233172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6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121,300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12338" y="3902125"/>
            <a:ext cx="2331720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spcBef>
                <a:spcPts val="400"/>
              </a:spcBef>
              <a:buNone/>
            </a:pPr>
            <a:r>
              <a:rPr lang="en-US" sz="1000" dirty="0">
                <a:solidFill>
                  <a:srgbClr val="7C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GOI companies found in PDL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06140" y="3556099"/>
            <a:ext cx="233172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6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23.1M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406140" y="3902125"/>
            <a:ext cx="2331720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spcBef>
                <a:spcPts val="400"/>
              </a:spcBef>
              <a:buNone/>
            </a:pPr>
            <a:r>
              <a:rPr lang="en-US" sz="1000" dirty="0">
                <a:solidFill>
                  <a:srgbClr val="7C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companies in PDL, bigger than GOI's full ~20M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99942" y="3556099"/>
            <a:ext cx="233172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6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0.53%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199942" y="3902125"/>
            <a:ext cx="2331720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spcBef>
                <a:spcPts val="400"/>
              </a:spcBef>
              <a:buNone/>
            </a:pPr>
            <a:r>
              <a:rPr lang="en-US" sz="1000" dirty="0">
                <a:solidFill>
                  <a:srgbClr val="7C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PDL matched, expected, the GOI sample is a tiny slice of PDL's size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55550"/>
            <a:ext cx="77724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BREAKS DOWN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612725"/>
            <a:ext cx="77724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Geography is the weak point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62000" y="1180951"/>
            <a:ext cx="2849829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 rate ranges from </a:t>
            </a:r>
            <a:pPr algn="l" indent="0" marL="0">
              <a:lnSpc>
                <a:spcPts val="1575"/>
              </a:lnSpc>
              <a:spcAft>
                <a:spcPts val="1000"/>
              </a:spcAft>
              <a:buNone/>
            </a:pPr>
            <a:r>
              <a:rPr lang="en-US" sz="10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 in Brazil</a:t>
            </a:r>
            <a:pPr algn="l" indent="0" marL="0">
              <a:lnSpc>
                <a:spcPts val="1575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down to </a:t>
            </a:r>
            <a:pPr algn="l" indent="0" marL="0">
              <a:lnSpc>
                <a:spcPts val="1575"/>
              </a:lnSpc>
              <a:spcAft>
                <a:spcPts val="1000"/>
              </a:spcAft>
              <a:buNone/>
            </a:pPr>
            <a:r>
              <a:rPr lang="en-US" sz="10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 in Russia</a:t>
            </a:r>
            <a:pPr algn="l" indent="0" marL="0">
              <a:lnSpc>
                <a:spcPts val="1575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 10× spread. The Americas, India, and the UK are well covered. East Asia and Eastern Europe are not.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62000" y="2308027"/>
            <a:ext cx="2793950" cy="761702"/>
          </a:xfrm>
          <a:prstGeom prst="roundRect">
            <a:avLst>
              <a:gd name="adj" fmla="val 6669"/>
            </a:avLst>
          </a:prstGeom>
          <a:solidFill>
            <a:srgbClr val="FDED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90575" y="2308027"/>
            <a:ext cx="0" cy="761702"/>
          </a:xfrm>
          <a:prstGeom prst="line">
            <a:avLst/>
          </a:prstGeom>
          <a:noFill/>
          <a:ln w="5715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8751" y="2422327"/>
            <a:ext cx="2506751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Germany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7B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GOI's #2 country by volume, sits at just </a:t>
            </a:r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29.8% overlap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7B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well below the 40.4% average.</a:t>
            </a:r>
            <a:endParaRPr lang="en-US" sz="1000" dirty="0"/>
          </a:p>
        </p:txBody>
      </p:sp>
      <p:pic>
        <p:nvPicPr>
          <p:cNvPr id="8" name="Image 0" descr="/pfs/data6/home/ma/ma_ma/ma_mpandya/Thesis/scientific-paper/slides/figures/overlap_rate_by_count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09851" y="1054001"/>
            <a:ext cx="4317950" cy="34543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55550"/>
            <a:ext cx="77724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E6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HOLDS 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612725"/>
            <a:ext cx="77724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is fine. Company size is not.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62000" y="977801"/>
            <a:ext cx="777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every dimension breaks down the way geography does.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62000" y="1307902"/>
            <a:ext cx="37565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NACE section</a:t>
            </a:r>
            <a:endParaRPr lang="en-US" sz="1050" dirty="0"/>
          </a:p>
        </p:txBody>
      </p:sp>
      <p:pic>
        <p:nvPicPr>
          <p:cNvPr id="6" name="Image 0" descr="/pfs/data6/home/ma/ma_ma/ma_mpandya/Thesis/scientific-paper/slides/figures/overlap_rate_by_n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536502"/>
            <a:ext cx="3301901" cy="231130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2000" y="3962102"/>
            <a:ext cx="3756559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spcBef>
                <a:spcPts val="600"/>
              </a:spcBef>
              <a:buNone/>
            </a:pPr>
            <a:r>
              <a:rPr lang="en-US" sz="950" dirty="0">
                <a:solidFill>
                  <a:srgbClr val="7C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 is 27-55%, roughly 2×, not 10×. No industry is badly abandoned by PDL.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698802" y="1307902"/>
            <a:ext cx="37565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organisation size</a:t>
            </a:r>
            <a:endParaRPr lang="en-US" sz="1050" dirty="0"/>
          </a:p>
        </p:txBody>
      </p:sp>
      <p:pic>
        <p:nvPicPr>
          <p:cNvPr id="9" name="Image 1" descr="/pfs/data6/home/ma/ma_ma/ma_mpandya/Thesis/scientific-paper/slides/figures/overlap_rate_by_siz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8802" y="1536502"/>
            <a:ext cx="3301901" cy="2057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98802" y="3708202"/>
            <a:ext cx="3756559" cy="50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spcBef>
                <a:spcPts val="600"/>
              </a:spcBef>
              <a:buNone/>
            </a:pPr>
            <a:r>
              <a:rPr lang="en-US" sz="950" dirty="0">
                <a:solidFill>
                  <a:srgbClr val="7C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 companies (0-9 employees) sit at 30%, well below Small/Medium/Large (47-53%), and Micro is GOI's largest size bucket.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8950" y="824061"/>
            <a:ext cx="75134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CRITICAL GAP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88950" y="1182737"/>
            <a:ext cx="7254139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50"/>
              </a:lnSpc>
              <a:spcAft>
                <a:spcPts val="20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PDL has no description field at all.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8950" y="2389138"/>
            <a:ext cx="6995160" cy="762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spcAft>
                <a:spcPts val="2200"/>
              </a:spcAft>
              <a:buNone/>
            </a:pPr>
            <a:r>
              <a:rPr lang="en-US" sz="1250" dirty="0">
                <a:solidFill>
                  <a:srgbClr val="BFC9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thesis's entire retrieval approach is built on embedding the </a:t>
            </a:r>
            <a:pPr algn="l" indent="0" marL="0">
              <a:lnSpc>
                <a:spcPts val="2000"/>
              </a:lnSpc>
              <a:spcAft>
                <a:spcPts val="22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pPr algn="l" indent="0" marL="0">
              <a:lnSpc>
                <a:spcPts val="2000"/>
              </a:lnSpc>
              <a:spcAft>
                <a:spcPts val="2200"/>
              </a:spcAft>
              <a:buNone/>
            </a:pPr>
            <a:r>
              <a:rPr lang="en-US" sz="1250" dirty="0">
                <a:solidFill>
                  <a:srgbClr val="BFC9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field, an AI-generated description of what each company actually does. Confirmed directly from PDL's schema, that field simply doesn't exist.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88950" y="3430637"/>
            <a:ext cx="7366099" cy="888802"/>
          </a:xfrm>
          <a:prstGeom prst="roundRect">
            <a:avLst>
              <a:gd name="adj" fmla="val 8573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42851" y="3633788"/>
            <a:ext cx="6995464" cy="193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7C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PDL'S FULL SCHEMA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42851" y="3903018"/>
            <a:ext cx="699546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id, website, name, founded, size, locality, region, country, industry, linkedin_url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57200"/>
            <a:ext cx="77724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E6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739676"/>
            <a:ext cx="77724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400"/>
              </a:spcAft>
              <a:buNone/>
            </a:pPr>
            <a:r>
              <a:rPr lang="en-US" sz="25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substitute, with two real caveats.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62000" y="1415951"/>
            <a:ext cx="2349401" cy="2543026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62000" y="1454051"/>
            <a:ext cx="2349401" cy="0"/>
          </a:xfrm>
          <a:prstGeom prst="line">
            <a:avLst/>
          </a:prstGeom>
          <a:noFill/>
          <a:ln w="76200">
            <a:solidFill>
              <a:srgbClr val="3F7D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5150" y="1695301"/>
            <a:ext cx="198196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Holds up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5150" y="2003227"/>
            <a:ext cx="1943100" cy="167640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425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40.4% direct domain overlap on a random sample</a:t>
            </a:r>
            <a:endParaRPr lang="en-US" sz="950" dirty="0"/>
          </a:p>
          <a:p>
            <a:pPr algn="l" marL="88900" indent="-88900">
              <a:lnSpc>
                <a:spcPts val="1425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PDL is larger than GOI overall (23.1M vs ~20M)</a:t>
            </a:r>
            <a:endParaRPr lang="en-US" sz="950" dirty="0"/>
          </a:p>
          <a:p>
            <a:pPr algn="l" marL="88900" indent="-88900">
              <a:lnSpc>
                <a:spcPts val="1425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coverage is fairly even (27-55%)</a:t>
            </a:r>
            <a:endParaRPr lang="en-US" sz="950" dirty="0"/>
          </a:p>
          <a:p>
            <a:pPr algn="l" marL="88900" indent="-88900">
              <a:lnSpc>
                <a:spcPts val="1425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firmographic fields map cleanly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301901" y="1415951"/>
            <a:ext cx="2349401" cy="2543026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301901" y="1454051"/>
            <a:ext cx="2349401" cy="0"/>
          </a:xfrm>
          <a:prstGeom prst="line">
            <a:avLst/>
          </a:prstGeom>
          <a:noFill/>
          <a:ln w="762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5051" y="1695301"/>
            <a:ext cx="198196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Doesn't hold up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05051" y="2003227"/>
            <a:ext cx="1943100" cy="1419225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425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description field, the one GOI field this thesis's method depends on most</a:t>
            </a:r>
            <a:endParaRPr lang="en-US" sz="950" dirty="0"/>
          </a:p>
          <a:p>
            <a:pPr algn="l" marL="88900" indent="-88900">
              <a:lnSpc>
                <a:spcPts val="1425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Geography is wildly uneven (6-66%)</a:t>
            </a:r>
            <a:endParaRPr lang="en-US" sz="950" dirty="0"/>
          </a:p>
          <a:p>
            <a:pPr algn="l" marL="88900" indent="-88900">
              <a:lnSpc>
                <a:spcPts val="1425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Weakest exactly where GOI is biggest: micro companies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841802" y="1415951"/>
            <a:ext cx="2349401" cy="2543026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841802" y="1454051"/>
            <a:ext cx="2349401" cy="0"/>
          </a:xfrm>
          <a:prstGeom prst="line">
            <a:avLst/>
          </a:prstGeom>
          <a:noFill/>
          <a:ln w="76200">
            <a:solidFill>
              <a:srgbClr val="2E6E9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44952" y="1695301"/>
            <a:ext cx="198196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means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44952" y="2003227"/>
            <a:ext cx="1943100" cy="152400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425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PDL is a defensible substitute for company identity, not yet for the retrieval task itself</a:t>
            </a:r>
            <a:endParaRPr lang="en-US" sz="950" dirty="0"/>
          </a:p>
          <a:p>
            <a:pPr algn="l" marL="88900" indent="-88900">
              <a:lnSpc>
                <a:spcPts val="1425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and a text-sourcing plan are the open questions, not whether PDL is usable at all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7950"/>
            <a:ext cx="77724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E6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DISCUSSION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790426"/>
            <a:ext cx="77724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600"/>
              </a:spcAft>
              <a:buNone/>
            </a:pPr>
            <a:r>
              <a:rPr lang="en-US" sz="25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ways forward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62000" y="1492002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86718" y="1579215"/>
            <a:ext cx="10823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20701" y="1492002"/>
            <a:ext cx="673602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the PDL corpus to where it's strong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20701" y="1711077"/>
            <a:ext cx="673602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 the paper's PDL-derived sample to well-covered countries and company sizes, and say so explicitly as a limitation.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62000" y="2312938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86718" y="2400151"/>
            <a:ext cx="10823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20701" y="2312938"/>
            <a:ext cx="673602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descriptions separately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20701" y="2532013"/>
            <a:ext cx="673602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Scrape company websites and generate summaries the same way GOI's own pipeline does, budget this as real added work, not a footnote.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62000" y="3133874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86718" y="3221087"/>
            <a:ext cx="10823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20701" y="3133874"/>
            <a:ext cx="673602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PDL for identity only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20701" y="3352949"/>
            <a:ext cx="673602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PDL as the public company list, pair it with freshly generated text, rather than expecting it to be a drop-in GOI replacement.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62000" y="4335810"/>
            <a:ext cx="7620000" cy="517327"/>
          </a:xfrm>
          <a:prstGeom prst="roundRect">
            <a:avLst>
              <a:gd name="adj" fmla="val 14730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15901" y="4513511"/>
            <a:ext cx="725444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"Given the time left, which of these is worth committing to for the paper?"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 PDL replace the GOI for an open-source paper?</dc:title>
  <dc:subject>PptxGenJS Presentation</dc:subject>
  <dc:creator>Marmee Pandya</dc:creator>
  <cp:lastModifiedBy>Marmee Pandya</cp:lastModifiedBy>
  <cp:revision>1</cp:revision>
  <dcterms:created xsi:type="dcterms:W3CDTF">2026-10-05T12:44:46Z</dcterms:created>
  <dcterms:modified xsi:type="dcterms:W3CDTF">2026-10-05T12:44:46Z</dcterms:modified>
</cp:coreProperties>
</file>