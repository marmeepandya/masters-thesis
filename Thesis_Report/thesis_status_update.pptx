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0" y="0"/>
            <a:ext cx="2468880" cy="6858000"/>
          </a:xfrm>
          <a:prstGeom prst="rect">
            <a:avLst/>
          </a:prstGeom>
          <a:solidFill>
            <a:srgbClr val="24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BF9A4A"/>
                </a:solidFill>
                <a:latin typeface="Arial"/>
              </a:defRPr>
            </a:pPr>
            <a:r>
              <a:t>MASTER'S THESIS  —  STATUS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7772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Semantic Company</a:t>
            </a:r>
          </a:p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Retrieval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 i="0">
                <a:solidFill>
                  <a:srgbClr val="8B9798"/>
                </a:solidFill>
                <a:latin typeface="Arial"/>
              </a:defRPr>
            </a:pPr>
            <a:r>
              <a:t>Experiment Results  &amp;  Open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74920"/>
            <a:ext cx="54864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Marmee Pandya</a:t>
            </a:r>
          </a:p>
          <a:p>
            <a:pPr algn="l">
              <a:defRPr sz="1300" b="0" i="0">
                <a:solidFill>
                  <a:srgbClr val="8B9798"/>
                </a:solidFill>
                <a:latin typeface="Arial"/>
              </a:defRPr>
            </a:pPr>
            <a:r>
              <a:t>July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2E4053"/>
                </a:solidFill>
                <a:latin typeface="Arial"/>
              </a:defRPr>
            </a:pPr>
            <a:r>
              <a:t>01 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C2833"/>
                </a:solidFill>
                <a:latin typeface="Arial"/>
              </a:defRPr>
            </a:pPr>
            <a:r>
              <a:t>Evaluation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82296" cy="1048816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609344"/>
            <a:ext cx="632764" cy="292608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4053"/>
                </a:solidFill>
                <a:latin typeface="Arial"/>
              </a:defRPr>
            </a:pPr>
            <a:r>
              <a:t>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98,716 companies — the subset production's own search surfaces for these queries — evaluated against 101 real user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49016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49016"/>
            <a:ext cx="82296" cy="1048816"/>
          </a:xfrm>
          <a:prstGeom prst="rect">
            <a:avLst/>
          </a:prstGeom>
          <a:solidFill>
            <a:srgbClr val="B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795320"/>
            <a:ext cx="1137513" cy="292608"/>
          </a:xfrm>
          <a:prstGeom prst="roundRect">
            <a:avLst>
              <a:gd name="adj" fmla="val 50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04A2E"/>
                </a:solidFill>
                <a:latin typeface="Arial"/>
              </a:defRPr>
            </a:pPr>
            <a:r>
              <a:t>GROUND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106216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Production's own v2 API results — NOT independent human labels. A known limitation to flag and discuss with the advisor.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34993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34993"/>
            <a:ext cx="82296" cy="104881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981297"/>
            <a:ext cx="1305763" cy="292608"/>
          </a:xfrm>
          <a:prstGeom prst="roundRect">
            <a:avLst>
              <a:gd name="adj" fmla="val 50000"/>
            </a:avLst>
          </a:prstGeom>
          <a:solidFill>
            <a:srgbClr val="FC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F9A4A"/>
                </a:solidFill>
                <a:latin typeface="Arial"/>
              </a:defRPr>
            </a:pPr>
            <a:r>
              <a:t>PRIMARY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292193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Recall@k (coverage of relevant companies), reported at k = 10 / 50 / 100 / 300 / 500 / 1000. Precision / NDCG are secondary, per the advisor's explicit guidance.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0970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20970"/>
            <a:ext cx="82296" cy="1048816"/>
          </a:xfrm>
          <a:prstGeom prst="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5167274"/>
            <a:ext cx="1053388" cy="292608"/>
          </a:xfrm>
          <a:prstGeom prst="roundRect">
            <a:avLst>
              <a:gd name="adj" fmla="val 50000"/>
            </a:avLst>
          </a:prstGeom>
          <a:solidFill>
            <a:srgbClr val="EA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6B35"/>
                </a:solidFill>
                <a:latin typeface="Arial"/>
              </a:defRPr>
            </a:pPr>
            <a:r>
              <a:t>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478170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Every experiment in this deck is evaluated on this same fixed query set and corpus — all numbers are directly comparable.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8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2E4053"/>
                </a:solidFill>
                <a:latin typeface="Arial"/>
              </a:defRPr>
            </a:pPr>
            <a:r>
              <a:t>02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C2833"/>
                </a:solidFill>
                <a:latin typeface="Arial"/>
              </a:defRPr>
            </a:pPr>
            <a:r>
              <a:t>Master Results — Recall@k, All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08789" cy="4924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829188"/>
                <a:gridCol w="991708"/>
                <a:gridCol w="991708"/>
                <a:gridCol w="991708"/>
                <a:gridCol w="991708"/>
                <a:gridCol w="991708"/>
                <a:gridCol w="1121061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50" b="1" i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</a:t>
                      </a:r>
                    </a:p>
                  </a:txBody>
                  <a:tcPr anchor="ctr" marL="101600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 i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R@10</a:t>
                      </a:r>
                    </a:p>
                  </a:txBody>
                  <a:tcPr anchor="ctr" marL="25400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 i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R@50</a:t>
                      </a:r>
                    </a:p>
                  </a:txBody>
                  <a:tcPr anchor="ctr" marL="25400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 i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R@100</a:t>
                      </a:r>
                    </a:p>
                  </a:txBody>
                  <a:tcPr anchor="ctr" marL="25400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 i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R@300</a:t>
                      </a:r>
                    </a:p>
                  </a:txBody>
                  <a:tcPr anchor="ctr" marL="25400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 i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R@500</a:t>
                      </a:r>
                    </a:p>
                  </a:txBody>
                  <a:tcPr anchor="ctr" marL="25400"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 i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R@1000</a:t>
                      </a:r>
                    </a:p>
                  </a:txBody>
                  <a:tcPr anchor="ctr" marL="25400">
                    <a:solidFill>
                      <a:srgbClr val="1C2833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Learned Fusion Ranker  (GBDT, trained from scratch, cross-validated)</a:t>
                      </a:r>
                    </a:p>
                  </a:txBody>
                  <a:tcPr anchor="ctr" marT="12700" marB="12700" marL="101600">
                    <a:solidFill>
                      <a:srgbClr val="FCF3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0.010</a:t>
                      </a:r>
                    </a:p>
                  </a:txBody>
                  <a:tcPr anchor="ctr" marT="12700" marB="12700" marL="25400">
                    <a:solidFill>
                      <a:srgbClr val="FCF3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0.048</a:t>
                      </a:r>
                    </a:p>
                  </a:txBody>
                  <a:tcPr anchor="ctr" marT="12700" marB="12700" marL="25400">
                    <a:solidFill>
                      <a:srgbClr val="FCF3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0.096</a:t>
                      </a:r>
                    </a:p>
                  </a:txBody>
                  <a:tcPr anchor="ctr" marT="12700" marB="12700" marL="25400">
                    <a:solidFill>
                      <a:srgbClr val="FCF3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0.281</a:t>
                      </a:r>
                    </a:p>
                  </a:txBody>
                  <a:tcPr anchor="ctr" marT="12700" marB="12700" marL="25400">
                    <a:solidFill>
                      <a:srgbClr val="FCF3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0.456</a:t>
                      </a:r>
                    </a:p>
                  </a:txBody>
                  <a:tcPr anchor="ctr" marT="12700" marB="12700" marL="25400">
                    <a:solidFill>
                      <a:srgbClr val="FCF3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0.823</a:t>
                      </a:r>
                    </a:p>
                  </a:txBody>
                  <a:tcPr anchor="ctr" marT="12700" marB="12700" marL="25400">
                    <a:solidFill>
                      <a:srgbClr val="FCF3DD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Hybrid 3-way full rerank  (MiniLM + Linq + GTE, BGE reranker)</a:t>
                      </a:r>
                    </a:p>
                  </a:txBody>
                  <a:tcPr anchor="ctr" marT="12700" marB="12700" marL="1016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0.010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0.095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0.278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0.450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0.804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Hybrid 3-way full rerank  (same pool, mxbai reranker)</a:t>
                      </a:r>
                    </a:p>
                  </a:txBody>
                  <a:tcPr anchor="ctr" marT="12700" marB="127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0.010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0.047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0.094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0.276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0.449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0.804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Hybrid 2-way full rerank  (MiniLM + Linq)</a:t>
                      </a:r>
                    </a:p>
                  </a:txBody>
                  <a:tcPr anchor="ctr" marT="12700" marB="12700" marL="1016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0.010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0.095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0.278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0.450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0.802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Hybrid 4-way full rerank  (+ OpenAI-large)</a:t>
                      </a:r>
                    </a:p>
                  </a:txBody>
                  <a:tcPr anchor="ctr" marT="12700" marB="127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0.010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0.048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0.095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0.278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0.450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0.802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Hybrid RRF + top-50 rerank  (early version)</a:t>
                      </a:r>
                    </a:p>
                  </a:txBody>
                  <a:tcPr anchor="ctr" marT="12700" marB="12700" marL="1016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0.010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0.047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0.093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0.270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0.435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0.782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ColBERT  (MaxSim, from-scratch)</a:t>
                      </a:r>
                    </a:p>
                  </a:txBody>
                  <a:tcPr anchor="ctr" marT="12700" marB="127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0.009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0.047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0.093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0.270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0.435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0.773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GTE-large  (solo baseline)</a:t>
                      </a:r>
                    </a:p>
                  </a:txBody>
                  <a:tcPr anchor="ctr" marT="12700" marB="12700" marL="1016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0.010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0.093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0.270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0.430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0.768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Linq-Embed-Mistral  (7B, solo)</a:t>
                      </a:r>
                    </a:p>
                  </a:txBody>
                  <a:tcPr anchor="ctr" marT="12700" marB="127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0.009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0.045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0.090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0.260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0.415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0.749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SFR-Mistral  (solo)</a:t>
                      </a:r>
                    </a:p>
                  </a:txBody>
                  <a:tcPr anchor="ctr" marT="12700" marB="12700" marL="1016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0.009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0.045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0.089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0.258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0.412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0.746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MiniLM  (solo)</a:t>
                      </a:r>
                    </a:p>
                  </a:txBody>
                  <a:tcPr anchor="ctr" marT="12700" marB="127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0.010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0.046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0.090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0.258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0.410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0.741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OpenAI text-embedding-3-large  (solo)</a:t>
                      </a:r>
                    </a:p>
                  </a:txBody>
                  <a:tcPr anchor="ctr" marT="12700" marB="12700" marL="1016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0.009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0.044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0.087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0.250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0.398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0.728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BGE all-fields  (solo)</a:t>
                      </a:r>
                    </a:p>
                  </a:txBody>
                  <a:tcPr anchor="ctr" marT="12700" marB="127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0.009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0.044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0.086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0.248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0.395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0.726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BGE-M3  (solo)</a:t>
                      </a:r>
                    </a:p>
                  </a:txBody>
                  <a:tcPr anchor="ctr" marT="12700" marB="12700" marL="1016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0.008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0.042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0.083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0.238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0.380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0.704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Nomic  (solo)</a:t>
                      </a:r>
                    </a:p>
                  </a:txBody>
                  <a:tcPr anchor="ctr" marT="12700" marB="127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0.008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0.040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0.079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0.225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0.360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0.684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BM25  (lexical baseline)</a:t>
                      </a:r>
                    </a:p>
                  </a:txBody>
                  <a:tcPr anchor="ctr" marT="12700" marB="12700" marL="1016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0.007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0.037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0.073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0.208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0.335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0.635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SimLM  (solo)</a:t>
                      </a:r>
                    </a:p>
                  </a:txBody>
                  <a:tcPr anchor="ctr" marT="12700" marB="127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0.007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0.034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0.068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0.195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0.310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0.609</a:t>
                      </a:r>
                    </a:p>
                  </a:txBody>
                  <a:tcPr anchor="ctr" marT="12700" marB="12700" marL="25400">
                    <a:solidFill>
                      <a:srgbClr val="FFFFFF"/>
                    </a:solidFill>
                  </a:tcPr>
                </a:tc>
              </a:tr>
              <a:tr h="253288">
                <a:tc>
                  <a:txBody>
                    <a:bodyPr/>
                    <a:lstStyle/>
                    <a:p>
                      <a:pPr algn="l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E5-Mistral  (solo, misconfigured prefix)</a:t>
                      </a:r>
                    </a:p>
                  </a:txBody>
                  <a:tcPr anchor="ctr" marT="12700" marB="12700" marL="1016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0.003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0.014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0.027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0.078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 i="0">
                          <a:solidFill>
                            <a:srgbClr val="2A2A2A"/>
                          </a:solidFill>
                          <a:latin typeface="Arial"/>
                        </a:defRPr>
                      </a:pPr>
                      <a:r>
                        <a:t>0.130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 i="0">
                          <a:solidFill>
                            <a:srgbClr val="1C2833"/>
                          </a:solidFill>
                          <a:latin typeface="Arial"/>
                        </a:defRPr>
                      </a:pPr>
                      <a:r>
                        <a:t>0.274</a:t>
                      </a:r>
                    </a:p>
                  </a:txBody>
                  <a:tcPr anchor="ctr" marT="12700" marB="12700" marL="25400"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8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2E4053"/>
                </a:solidFill>
                <a:latin typeface="Arial"/>
              </a:defRPr>
            </a:pPr>
            <a:r>
              <a:t>03   READING THE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C2833"/>
                </a:solidFill>
                <a:latin typeface="Arial"/>
              </a:defRPr>
            </a:pPr>
            <a:r>
              <a:t>Why Recall@10 / Recall@50 Look So 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1048816"/>
          </a:xfrm>
          <a:prstGeom prst="rect">
            <a:avLst/>
          </a:prstGeom>
          <a:solidFill>
            <a:srgbClr val="B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563624"/>
            <a:ext cx="1137513" cy="292608"/>
          </a:xfrm>
          <a:prstGeom prst="roundRect">
            <a:avLst>
              <a:gd name="adj" fmla="val 50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04A2E"/>
                </a:solidFill>
                <a:latin typeface="Arial"/>
              </a:defRPr>
            </a:pPr>
            <a:r>
              <a:t>THE SURPRISE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Recall@10 ≈ 0.010 and Recall@50 ≈ 0.048 for EVERY method in this deck, best and worst alike — looks alarming at first glance.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3296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03296"/>
            <a:ext cx="82296" cy="1048816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74960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4053"/>
                </a:solidFill>
                <a:latin typeface="Arial"/>
              </a:defRPr>
            </a:pPr>
            <a:r>
              <a:t>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60496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The ground truth defines EXACTLY 1000 “relevant” companies per query (production's own top-1000). Recall@10 is mathematically capped at 10/1000 = 0.010 — even a flawless top-10 can't score higher.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89273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89273"/>
            <a:ext cx="82296" cy="1048816"/>
          </a:xfrm>
          <a:prstGeom prst="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935577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EA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6B35"/>
                </a:solidFill>
                <a:latin typeface="Arial"/>
              </a:defRPr>
            </a:pPr>
            <a:r>
              <a:t>THE REAL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246473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Precision@10 for our best methods is 0.955–0.977 — 95–98% of what we return in the top 10 IS inside production's own top-1000. That is the metric that actually reflects quality at small 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75250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975250"/>
            <a:ext cx="82296" cy="104881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5121554"/>
            <a:ext cx="801014" cy="292608"/>
          </a:xfrm>
          <a:prstGeom prst="roundRect">
            <a:avLst>
              <a:gd name="adj" fmla="val 50000"/>
            </a:avLst>
          </a:prstGeom>
          <a:solidFill>
            <a:srgbClr val="FC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F9A4A"/>
                </a:solidFill>
                <a:latin typeface="Arial"/>
              </a:defRPr>
            </a:pPr>
            <a: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432450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Recall only differentiates at larger k (300–1000), where finding many of the 1000 needles is genuinely hard. Low k=10/50 numbers are a metric artifact, not a performance red flag.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8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2E4053"/>
                </a:solidFill>
                <a:latin typeface="Arial"/>
              </a:defRPr>
            </a:pPr>
            <a:r>
              <a:t>04   GROUP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C2833"/>
                </a:solidFill>
                <a:latin typeface="Arial"/>
              </a:defRPr>
            </a:pPr>
            <a:r>
              <a:t>Sparse &amp; Solo Dense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1">
                <a:solidFill>
                  <a:srgbClr val="2E4053"/>
                </a:solidFill>
                <a:latin typeface="Arial"/>
              </a:defRPr>
            </a:pPr>
            <a:r>
              <a:t>BM25 · BGE · MiniLM · Nomic · OpenAI-large · BGE-M3 · GTE-large · E5-Mistral · Linq-Mistral · SFR-Mistral · SimLM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82296" cy="1048816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020824"/>
            <a:ext cx="1558137" cy="292608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4053"/>
                </a:solidFill>
                <a:latin typeface="Arial"/>
              </a:defRPr>
            </a:pPr>
            <a:r>
              <a:t>WHY WE TRIED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Establish a broad quality baseline across lexical retrieval and many embedding models — open-source and commercial — before attempting anything more complex.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0496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60496"/>
            <a:ext cx="82296" cy="1048816"/>
          </a:xfrm>
          <a:prstGeom prst="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3206800"/>
            <a:ext cx="1053388" cy="292608"/>
          </a:xfrm>
          <a:prstGeom prst="roundRect">
            <a:avLst>
              <a:gd name="adj" fmla="val 50000"/>
            </a:avLst>
          </a:prstGeom>
          <a:solidFill>
            <a:srgbClr val="EA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6B35"/>
                </a:solidFill>
                <a:latin typeface="Arial"/>
              </a:defRPr>
            </a:pPr>
            <a:r>
              <a:t>WHAT WORKED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517696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GTE-large was the best solo model (Recall@1000 = 0.768) — general-purpose, not instruction-tuned, well balanced. MiniLM (0.741) was a strong, cheap, fast baseline despite being tiny.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46473"/>
            <a:ext cx="10908792" cy="174421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46473"/>
            <a:ext cx="82296" cy="1744218"/>
          </a:xfrm>
          <a:prstGeom prst="rect">
            <a:avLst/>
          </a:prstGeom>
          <a:solidFill>
            <a:srgbClr val="B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4392777"/>
            <a:ext cx="1894636" cy="292608"/>
          </a:xfrm>
          <a:prstGeom prst="roundRect">
            <a:avLst>
              <a:gd name="adj" fmla="val 50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04A2E"/>
                </a:solidFill>
                <a:latin typeface="Arial"/>
              </a:defRPr>
            </a:pPr>
            <a:r>
              <a:t>WHAT FAILED — AND 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703673"/>
            <a:ext cx="10396728" cy="1433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–  E5-Mistral collapsed to 0.274: a misconfigured instruction prefix (didn't match the model's expected convention) — a cautionary tale about prefix formatting for instruction-tuned embedders.</a:t>
            </a:r>
          </a:p>
          <a:p>
            <a:pPr algn="l">
              <a:spcAft>
                <a:spcPts val="500"/>
              </a:spcAft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–  SimLM underperformed even BM25 (0.609): its title+body sentence-pair convention and CLS pooling didn't transfer well to company-profile text.</a:t>
            </a:r>
          </a:p>
          <a:p>
            <a:pPr algn="l">
              <a:spcAft>
                <a:spcPts val="500"/>
              </a:spcAft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–  BM25 (0.635) behaved as expected: exact keyword matches only, misses semantic / paraphrased matches.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8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2E4053"/>
                </a:solidFill>
                <a:latin typeface="Arial"/>
              </a:defRPr>
            </a:pPr>
            <a:r>
              <a:t>05   GROUP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C2833"/>
                </a:solidFill>
                <a:latin typeface="Arial"/>
              </a:defRPr>
            </a:pPr>
            <a:r>
              <a:t>Models That Failed to Load, or Are Still 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08792" cy="8170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82296" cy="817016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627632"/>
            <a:ext cx="1558137" cy="292608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4053"/>
                </a:solidFill>
                <a:latin typeface="Arial"/>
              </a:defRPr>
            </a:pPr>
            <a:r>
              <a:t>WHY WE TRIED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10396728" cy="50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Wanted the strongest available open-source embedders — the 7B–9B parameter “leading heavy embedder” 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5504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35504"/>
            <a:ext cx="82296" cy="1048816"/>
          </a:xfrm>
          <a:prstGeom prst="rect">
            <a:avLst/>
          </a:prstGeom>
          <a:solidFill>
            <a:srgbClr val="B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581808"/>
            <a:ext cx="1894636" cy="292608"/>
          </a:xfrm>
          <a:prstGeom prst="roundRect">
            <a:avLst>
              <a:gd name="adj" fmla="val 50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04A2E"/>
                </a:solidFill>
                <a:latin typeface="Arial"/>
              </a:defRPr>
            </a:pPr>
            <a:r>
              <a:t>WHAT FAILED — AND 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92704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gte-large-en-v1.5, NV-Embed-v2, and gte-Qwen2-7B-instruct all ship custom trust_remote_code=True modeling code, incompatible with our installed transformers==5.9.0. None could be loaded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21481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21481"/>
            <a:ext cx="82296" cy="104881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767785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FC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F9A4A"/>
                </a:solidFill>
                <a:latin typeface="Arial"/>
              </a:defRPr>
            </a:pPr>
            <a:r>
              <a:t>SUBSTITUTE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078681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BAAI/bge-multilingual-gemma2 (9B params, standard architecture, no custom code) — but blocked by a missing `accelerate` dependency (from a venv rebuild) plus days of GPU-partition congestion.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07458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07458"/>
            <a:ext cx="82296" cy="1048816"/>
          </a:xfrm>
          <a:prstGeom prst="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4953762"/>
            <a:ext cx="632764" cy="292608"/>
          </a:xfrm>
          <a:prstGeom prst="roundRect">
            <a:avLst>
              <a:gd name="adj" fmla="val 50000"/>
            </a:avLst>
          </a:prstGeom>
          <a:solidFill>
            <a:srgbClr val="EA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6B35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264658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Root cause found and fixed tonight (installed `accelerate`) — encoding resubmitted and now running on a short GPU partition with automatic checkpoint/resume.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8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2E4053"/>
                </a:solidFill>
                <a:latin typeface="Arial"/>
              </a:defRPr>
            </a:pPr>
            <a:r>
              <a:t>06   GROUP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C2833"/>
                </a:solidFill>
                <a:latin typeface="Arial"/>
              </a:defRPr>
            </a:pPr>
            <a:r>
              <a:t>ColBERT — Late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08792" cy="128061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82296" cy="1280617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627632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4053"/>
                </a:solidFill>
                <a:latin typeface="Arial"/>
              </a:defRPr>
            </a:pPr>
            <a:r>
              <a:t>WHY WE TRIED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10396728" cy="969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Token-level MaxSim matching (every query token vs. every document token) is architecturally richer than single-vector dense retrieval — should capture finer-grained relevance in principle. Implemented from scratch (brute-force MaxSim, not the official PLAID-indexed pipeline) due to library/indexing constraints.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99105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99105"/>
            <a:ext cx="82296" cy="1048816"/>
          </a:xfrm>
          <a:prstGeom prst="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3045409"/>
            <a:ext cx="716889" cy="292608"/>
          </a:xfrm>
          <a:prstGeom prst="roundRect">
            <a:avLst>
              <a:gd name="adj" fmla="val 50000"/>
            </a:avLst>
          </a:prstGeom>
          <a:solidFill>
            <a:srgbClr val="EA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6B35"/>
                </a:solidFill>
                <a:latin typeface="Arial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56305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Recall@1000 = 0.773 — solidly better than any solo dense embedding baseline, but still below the hybrid rerank pipelines.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85082"/>
            <a:ext cx="10908792" cy="8170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85082"/>
            <a:ext cx="82296" cy="81701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4231386"/>
            <a:ext cx="801014" cy="292608"/>
          </a:xfrm>
          <a:prstGeom prst="roundRect">
            <a:avLst>
              <a:gd name="adj" fmla="val 50000"/>
            </a:avLst>
          </a:prstGeom>
          <a:solidFill>
            <a:srgbClr val="FC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F9A4A"/>
                </a:solidFill>
                <a:latin typeface="Arial"/>
              </a:defRPr>
            </a:pPr>
            <a: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542282"/>
            <a:ext cx="10396728" cy="50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Worth trying, but token-level richness alone didn't leapfrog the hybrid rerank approach.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8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2E4053"/>
                </a:solidFill>
                <a:latin typeface="Arial"/>
              </a:defRPr>
            </a:pPr>
            <a:r>
              <a:t>07 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C2833"/>
                </a:solidFill>
                <a:latin typeface="Arial"/>
              </a:defRPr>
            </a:pPr>
            <a:r>
              <a:t>Hybrid Rerank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82296" cy="1048816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609344"/>
            <a:ext cx="1558137" cy="292608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4053"/>
                </a:solidFill>
                <a:latin typeface="Arial"/>
              </a:defRPr>
            </a:pPr>
            <a:r>
              <a:t>WHY WE TRIED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No single embedding model perfectly covers the relevant set. Pool multiple models' candidates and rerank with a cross-encoder to recover misses and fix ranking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49016"/>
            <a:ext cx="10908792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49016"/>
            <a:ext cx="82296" cy="2011680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587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BF9A4A"/>
                </a:solidFill>
                <a:latin typeface="Arial"/>
              </a:defRPr>
            </a:pPr>
            <a:r>
              <a:t>PROGRESSION  (Recall@1000)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62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C2833"/>
                </a:solidFill>
                <a:latin typeface="Arial"/>
              </a:defRPr>
            </a:pPr>
            <a:r>
              <a:t>RRF + top-50 rerank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0621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BF9A4A"/>
                </a:solidFill>
                <a:latin typeface="Arial"/>
              </a:defRPr>
            </a:pPr>
            <a:r>
              <a:t>0.782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106216"/>
            <a:ext cx="5971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E4053"/>
                </a:solidFill>
                <a:latin typeface="Arial"/>
              </a:defRPr>
            </a:pPr>
            <a:r>
              <a:t>reranking too small a slice capped the ceiling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19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C2833"/>
                </a:solidFill>
                <a:latin typeface="Arial"/>
              </a:defRPr>
            </a:pPr>
            <a:r>
              <a:t>Full-pool 2-way (MiniLM+Linq)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7197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BF9A4A"/>
                </a:solidFill>
                <a:latin typeface="Arial"/>
              </a:defRPr>
            </a:pPr>
            <a:r>
              <a:t>0.802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471976"/>
            <a:ext cx="5971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E4053"/>
                </a:solidFill>
                <a:latin typeface="Arial"/>
              </a:defRPr>
            </a:pPr>
            <a:r>
              <a:t>big jump — rerank the ENTIRE union 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377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C2833"/>
                </a:solidFill>
                <a:latin typeface="Arial"/>
              </a:defRPr>
            </a:pPr>
            <a:r>
              <a:t>Full-pool 3-way (+GTE-large)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83773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BF9A4A"/>
                </a:solidFill>
                <a:latin typeface="Arial"/>
              </a:defRPr>
            </a:pPr>
            <a:r>
              <a:t>0.804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837736"/>
            <a:ext cx="5971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E4053"/>
                </a:solidFill>
                <a:latin typeface="Arial"/>
              </a:defRPr>
            </a:pPr>
            <a:r>
              <a:t>best pretrained-component result — marginal gain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34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C2833"/>
                </a:solidFill>
                <a:latin typeface="Arial"/>
              </a:defRPr>
            </a:pPr>
            <a:r>
              <a:t>Full-pool 4-way (+OpenAI-large)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20349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BF9A4A"/>
                </a:solidFill>
                <a:latin typeface="Arial"/>
              </a:defRPr>
            </a:pPr>
            <a:r>
              <a:t>0.802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203496"/>
            <a:ext cx="5971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E4053"/>
                </a:solidFill>
                <a:latin typeface="Arial"/>
              </a:defRPr>
            </a:pPr>
            <a:r>
              <a:t>did NOT improve further — flat / slightly worse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97856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797856"/>
            <a:ext cx="82296" cy="1048816"/>
          </a:xfrm>
          <a:prstGeom prst="rect">
            <a:avLst/>
          </a:prstGeom>
          <a:solidFill>
            <a:srgbClr val="B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" y="4944160"/>
            <a:ext cx="1053388" cy="292608"/>
          </a:xfrm>
          <a:prstGeom prst="roundRect">
            <a:avLst>
              <a:gd name="adj" fmla="val 50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04A2E"/>
                </a:solidFill>
                <a:latin typeface="Arial"/>
              </a:defRPr>
            </a:pPr>
            <a:r>
              <a:t>KEY FINDING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255056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Adding more candidate-generating channels stopped helping — coverage saturated. This motivated two follow-up tests: is it the reranker (next slide), or the fusion method itself (slide after)?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8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2E4053"/>
                </a:solidFill>
                <a:latin typeface="Arial"/>
              </a:defRPr>
            </a:pPr>
            <a:r>
              <a:t>08   GROUP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C2833"/>
                </a:solidFill>
                <a:latin typeface="Arial"/>
              </a:defRPr>
            </a:pPr>
            <a:r>
              <a:t>Reranker Ablation — Isolating the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08792" cy="8170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82296" cy="817016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609344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4053"/>
                </a:solidFill>
                <a:latin typeface="Arial"/>
              </a:defRPr>
            </a:pPr>
            <a:r>
              <a:t>WHY WE TRIED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10396728" cy="50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Given channel saturation (previous slide) — is the reranker model itself now the limiting factor?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17216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17216"/>
            <a:ext cx="82296" cy="104881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563520"/>
            <a:ext cx="464515" cy="292608"/>
          </a:xfrm>
          <a:prstGeom prst="roundRect">
            <a:avLst>
              <a:gd name="adj" fmla="val 50000"/>
            </a:avLst>
          </a:prstGeom>
          <a:solidFill>
            <a:srgbClr val="FC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F9A4A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74416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Swapped BAAI/bge-reranker-v2-m3 (XLM-RoBERTa) for mixedbread-ai/mxbai-rerank-large-v1 (DeBERTa-v2 — architecturally distinct, comparable size) on the EXACT SAME 3-way candidate pool.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03193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03193"/>
            <a:ext cx="82296" cy="1048816"/>
          </a:xfrm>
          <a:prstGeom prst="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749497"/>
            <a:ext cx="716889" cy="292608"/>
          </a:xfrm>
          <a:prstGeom prst="roundRect">
            <a:avLst>
              <a:gd name="adj" fmla="val 50000"/>
            </a:avLst>
          </a:prstGeom>
          <a:solidFill>
            <a:srgbClr val="EA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6B35"/>
                </a:solidFill>
                <a:latin typeface="Arial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060393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Recall@1000 essentially unchanged: 0.8042 vs 0.8035 (noise-level, 0.0007 difference). NDCG@10 did improve somewhat (0.971 vs 0.955) — ranks the very top results slightly better without changing the top-1000 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9170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789170"/>
            <a:ext cx="82296" cy="1048816"/>
          </a:xfrm>
          <a:prstGeom prst="rect">
            <a:avLst/>
          </a:prstGeom>
          <a:solidFill>
            <a:srgbClr val="B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493547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04A2E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246370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Swapping WHICH pretrained reranker we call doesn't move recall. That pointed to the next question: what if fusion itself is learned, instead of just union + a frozen reranker?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8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2E4053"/>
                </a:solidFill>
                <a:latin typeface="Arial"/>
              </a:defRPr>
            </a:pPr>
            <a:r>
              <a:t>09   GROUP 6  —  NEW BEST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C2833"/>
                </a:solidFill>
                <a:latin typeface="Arial"/>
              </a:defRPr>
            </a:pPr>
            <a:r>
              <a:t>Learned Fusion Ranker — Trained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08792" cy="128061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2296" cy="1280617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517904"/>
            <a:ext cx="1558137" cy="292608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4053"/>
                </a:solidFill>
                <a:latin typeface="Arial"/>
              </a:defRPr>
            </a:pPr>
            <a:r>
              <a:t>WHY WE TRIED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10396728" cy="969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Every hybrid so far combines FROZEN pretrained components — pool candidates, score with a pretrained reranker. Nothing is fit to this task's own data. Tests whether training on this data beats swapping which pretrained model gets called.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9377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89377"/>
            <a:ext cx="82296" cy="104881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935681"/>
            <a:ext cx="632764" cy="292608"/>
          </a:xfrm>
          <a:prstGeom prst="roundRect">
            <a:avLst>
              <a:gd name="adj" fmla="val 50000"/>
            </a:avLst>
          </a:prstGeom>
          <a:solidFill>
            <a:srgbClr val="FC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F9A4A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246577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Logistic regression + GBDT trained on per-channel scores/ranks (MiniLM, Linq, GTE, BM25) + the reranker score, via 5-fold CV grouped by query — no query ever leaks into its own training fold.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5354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5354"/>
            <a:ext cx="82296" cy="1048816"/>
          </a:xfrm>
          <a:prstGeom prst="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4121658"/>
            <a:ext cx="1558137" cy="292608"/>
          </a:xfrm>
          <a:prstGeom prst="roundRect">
            <a:avLst>
              <a:gd name="adj" fmla="val 50000"/>
            </a:avLst>
          </a:prstGeom>
          <a:solidFill>
            <a:srgbClr val="EA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A6B35"/>
                </a:solidFill>
                <a:latin typeface="Arial"/>
              </a:defRPr>
            </a:pPr>
            <a:r>
              <a:t>RESULT — NEW BEST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432554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Recall@1000 = 0.823 (GBDT) vs. the previous best 0.804 (+0.019), on held-out cross-validated predictions. The reranker-swap test only moved recall by 0.0007 — this gain is ~27x larger, genuinely from learning.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1330"/>
            <a:ext cx="10908792" cy="1048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161330"/>
            <a:ext cx="82296" cy="1048816"/>
          </a:xfrm>
          <a:prstGeom prst="rect">
            <a:avLst/>
          </a:prstGeom>
          <a:solidFill>
            <a:srgbClr val="B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5307634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FB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04A2E"/>
                </a:solidFill>
                <a:latin typeface="Arial"/>
              </a:defRPr>
            </a:pPr>
            <a:r>
              <a:t>WHAT WE LEARNED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618530"/>
            <a:ext cx="10396728" cy="73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2A2A2A"/>
                </a:solidFill>
                <a:latin typeface="Arial"/>
              </a:defRPr>
            </a:pPr>
            <a:r>
              <a:t>The model's learned weights show MiniLM's RANK POSITION is the single strongest signal — stronger than the reranker's own score. A concrete, non-obvious finding about what matters 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D8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8B9798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BF9A4A"/>
                </a:solidFill>
                <a:latin typeface="Arial"/>
              </a:defRPr>
            </a:pPr>
            <a:r>
              <a:t>10   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rial"/>
              </a:defRPr>
            </a:pPr>
            <a:r>
              <a:t>Open Questions for Ralph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536192"/>
            <a:ext cx="384048" cy="384048"/>
          </a:xfrm>
          <a:prstGeom prst="ellipse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8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499616"/>
            <a:ext cx="10341864" cy="75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Ground-truth circularity: our “ground truth” is itself production's own v2 API output, not independent human labels — how should this shape how we frame results?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91283"/>
            <a:ext cx="384048" cy="384048"/>
          </a:xfrm>
          <a:prstGeom prst="ellipse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8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254707"/>
            <a:ext cx="10341864" cy="75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Scale gap: we evaluate on 98,716 companies; production is ~20,000,000. Could Istari provide a modest (~300K-1M) unlabeled sample purely for an ANN/efficiency scale test?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46374"/>
            <a:ext cx="384048" cy="384048"/>
          </a:xfrm>
          <a:prstGeom prst="ellipse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8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3009798"/>
            <a:ext cx="10341864" cy="75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Corpus contamination: an earlier audit flagged query-like boilerplate in some summaries, inflating certain scores — clean the corpus, or report as-is with the caveat documented?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01465"/>
            <a:ext cx="384048" cy="384048"/>
          </a:xfrm>
          <a:prstGeom prst="ellipse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83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3764889"/>
            <a:ext cx="10341864" cy="75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Live v2 API comparison: still blocked on a fresh API key — worth checking whether our static ground-truth snapshot has gone stale vs. current production?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56556"/>
            <a:ext cx="384048" cy="384048"/>
          </a:xfrm>
          <a:prstGeom prst="ellipse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83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4519980"/>
            <a:ext cx="10341864" cy="75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The learned fusion ranker (previous slide) is the new best result at 0.823 — is that the headline number for the thesis, or should we keep pushing this direction further?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364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6E7C89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6E7C89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BF9A4A"/>
                </a:solidFill>
                <a:latin typeface="Arial"/>
              </a:defRPr>
            </a:pPr>
            <a:r>
              <a:t>11   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02920" cy="41148"/>
          </a:xfrm>
          <a:prstGeom prst="rect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536192"/>
            <a:ext cx="384048" cy="384048"/>
          </a:xfrm>
          <a:prstGeom prst="ellipse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8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499616"/>
            <a:ext cx="10341864" cy="75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BGE-Gemma2 (9B) baseline — root cause fixed tonight (missing accelerate dependency), now running on a short GPU partition with auto-resubmission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91283"/>
            <a:ext cx="384048" cy="384048"/>
          </a:xfrm>
          <a:prstGeom prst="ellipse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8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254707"/>
            <a:ext cx="10341864" cy="75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Extend the learned fusion ranker — try adding ColBERT and OpenAI-large scores as features, and a proper listwise (LambdaMART-style) objective instead of pointwise classification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46374"/>
            <a:ext cx="384048" cy="384048"/>
          </a:xfrm>
          <a:prstGeom prst="ellipse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8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3009798"/>
            <a:ext cx="10341864" cy="5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Resolve the corpus contamination question (decision needed — see open questions)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640734"/>
            <a:ext cx="384048" cy="384048"/>
          </a:xfrm>
          <a:prstGeom prst="ellipse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83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3604158"/>
            <a:ext cx="10341864" cy="5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Get a new v2 API key and run a live comparison against the current static ground truth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35094"/>
            <a:ext cx="384048" cy="384048"/>
          </a:xfrm>
          <a:prstGeom prst="ellipse">
            <a:avLst/>
          </a:prstGeom>
          <a:solidFill>
            <a:srgbClr val="BF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283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4198518"/>
            <a:ext cx="10341864" cy="51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Draft the ask to Istari for a larger unlabeled company sample (efficiency/ANN scale test only)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364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6E7C89"/>
                </a:solidFill>
                <a:latin typeface="Arial"/>
              </a:defRPr>
            </a:pPr>
            <a:r>
              <a:t>Semantic Company Retrieval  |  Thesis Status Update  |  M. Pandya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 i="0">
                <a:solidFill>
                  <a:srgbClr val="6E7C89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