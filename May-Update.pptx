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handoutMasterIdLst>
    <p:handoutMasterId r:id="rId17"/>
  </p:handoutMasterIdLst>
  <p:sldIdLst>
    <p:sldId id="256" r:id="rId2"/>
    <p:sldId id="257" r:id="rId3"/>
    <p:sldId id="260" r:id="rId4"/>
    <p:sldId id="258" r:id="rId5"/>
    <p:sldId id="262" r:id="rId6"/>
    <p:sldId id="261" r:id="rId7"/>
    <p:sldId id="259" r:id="rId8"/>
    <p:sldId id="265" r:id="rId9"/>
    <p:sldId id="264" r:id="rId10"/>
    <p:sldId id="266" r:id="rId11"/>
    <p:sldId id="268" r:id="rId12"/>
    <p:sldId id="267"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056" userDrawn="1">
          <p15:clr>
            <a:srgbClr val="A4A3A4"/>
          </p15:clr>
        </p15:guide>
        <p15:guide id="4" pos="7392" userDrawn="1">
          <p15:clr>
            <a:srgbClr val="A4A3A4"/>
          </p15:clr>
        </p15:guide>
        <p15:guide id="5" pos="5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200"/>
    <p:restoredTop sz="94673"/>
  </p:normalViewPr>
  <p:slideViewPr>
    <p:cSldViewPr snapToGrid="0" showGuides="1">
      <p:cViewPr varScale="1">
        <p:scale>
          <a:sx n="110" d="100"/>
          <a:sy n="110" d="100"/>
        </p:scale>
        <p:origin x="208" y="480"/>
      </p:cViewPr>
      <p:guideLst>
        <p:guide orient="horz" pos="2160"/>
        <p:guide pos="3840"/>
        <p:guide orient="horz" pos="1056"/>
        <p:guide pos="7392"/>
        <p:guide pos="528"/>
      </p:guideLst>
    </p:cSldViewPr>
  </p:slideViewPr>
  <p:notesTextViewPr>
    <p:cViewPr>
      <p:scale>
        <a:sx n="1" d="1"/>
        <a:sy n="1" d="1"/>
      </p:scale>
      <p:origin x="0" y="0"/>
    </p:cViewPr>
  </p:notesTextViewPr>
  <p:notesViewPr>
    <p:cSldViewPr snapToGrid="0" showGuides="1">
      <p:cViewPr varScale="1">
        <p:scale>
          <a:sx n="103" d="100"/>
          <a:sy n="103" d="100"/>
        </p:scale>
        <p:origin x="3832"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C4BD9C-C4FF-0B9D-4210-06CC102744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4EEEF30-3E17-8B1E-D2CD-1C6C39AFA9B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AEB5B2-B254-4C48-9BD4-84B7923DE7B5}" type="datetimeFigureOut">
              <a:rPr lang="en-US" smtClean="0"/>
              <a:t>6/3/26</a:t>
            </a:fld>
            <a:endParaRPr lang="en-US"/>
          </a:p>
        </p:txBody>
      </p:sp>
      <p:sp>
        <p:nvSpPr>
          <p:cNvPr id="4" name="Footer Placeholder 3">
            <a:extLst>
              <a:ext uri="{FF2B5EF4-FFF2-40B4-BE49-F238E27FC236}">
                <a16:creationId xmlns:a16="http://schemas.microsoft.com/office/drawing/2014/main" id="{A08BBFFB-9E27-6835-963B-F3961BA911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A9A402A-9AE5-82FF-4706-E3D94628871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87C40D-F696-0041-81CC-3CE74F3209A8}" type="slidenum">
              <a:rPr lang="en-US" smtClean="0"/>
              <a:t>‹#›</a:t>
            </a:fld>
            <a:endParaRPr lang="en-US"/>
          </a:p>
        </p:txBody>
      </p:sp>
    </p:spTree>
    <p:extLst>
      <p:ext uri="{BB962C8B-B14F-4D97-AF65-F5344CB8AC3E}">
        <p14:creationId xmlns:p14="http://schemas.microsoft.com/office/powerpoint/2010/main" val="219708775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BF6EE8-24BC-B043-9A6F-2641347E84BA}" type="datetimeFigureOut">
              <a:rPr lang="en-US" smtClean="0"/>
              <a:t>6/3/26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04C92A-2E4D-4942-A0C4-2FF69168F295}" type="slidenum">
              <a:rPr lang="en-US" smtClean="0"/>
              <a:t>‹#›</a:t>
            </a:fld>
            <a:endParaRPr lang="en-US"/>
          </a:p>
        </p:txBody>
      </p:sp>
    </p:spTree>
    <p:extLst>
      <p:ext uri="{BB962C8B-B14F-4D97-AF65-F5344CB8AC3E}">
        <p14:creationId xmlns:p14="http://schemas.microsoft.com/office/powerpoint/2010/main" val="2296241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CEB79-63E0-C79D-3E46-9FC37D39CD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097F25-785D-7E56-E4AD-AF35A9D3E0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3283256-0000-718B-1A31-D9D030EED6A1}"/>
              </a:ext>
            </a:extLst>
          </p:cNvPr>
          <p:cNvSpPr>
            <a:spLocks noGrp="1"/>
          </p:cNvSpPr>
          <p:nvPr>
            <p:ph type="dt" sz="half" idx="10"/>
          </p:nvPr>
        </p:nvSpPr>
        <p:spPr/>
        <p:txBody>
          <a:bodyPr/>
          <a:lstStyle/>
          <a:p>
            <a:fld id="{50FEFF03-156D-584E-8642-50F036EF330B}" type="datetime1">
              <a:rPr lang="en-US" smtClean="0"/>
              <a:t>6/3/26</a:t>
            </a:fld>
            <a:endParaRPr lang="en-US"/>
          </a:p>
        </p:txBody>
      </p:sp>
      <p:sp>
        <p:nvSpPr>
          <p:cNvPr id="5" name="Footer Placeholder 4">
            <a:extLst>
              <a:ext uri="{FF2B5EF4-FFF2-40B4-BE49-F238E27FC236}">
                <a16:creationId xmlns:a16="http://schemas.microsoft.com/office/drawing/2014/main" id="{0E73F211-DDAC-2B90-AED1-395D579FF08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36D5D64-B8E0-5860-2521-71C1D54619DF}"/>
              </a:ext>
            </a:extLst>
          </p:cNvPr>
          <p:cNvSpPr>
            <a:spLocks noGrp="1"/>
          </p:cNvSpPr>
          <p:nvPr>
            <p:ph type="sldNum" sz="quarter" idx="12"/>
          </p:nvPr>
        </p:nvSpPr>
        <p:spPr/>
        <p:txBody>
          <a:bodyPr/>
          <a:lstStyle/>
          <a:p>
            <a:fld id="{9918A6A5-4FFB-434A-A92F-4AE444D35066}" type="slidenum">
              <a:rPr lang="en-US" smtClean="0"/>
              <a:t>‹#›</a:t>
            </a:fld>
            <a:endParaRPr lang="en-US"/>
          </a:p>
        </p:txBody>
      </p:sp>
    </p:spTree>
    <p:extLst>
      <p:ext uri="{BB962C8B-B14F-4D97-AF65-F5344CB8AC3E}">
        <p14:creationId xmlns:p14="http://schemas.microsoft.com/office/powerpoint/2010/main" val="29091271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5CB5E-20A2-9379-011B-4727B5F319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4F9EDE-744E-3849-5F69-A3734FE10E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5687B8-1716-34E1-472A-69A8AAAE0C0F}"/>
              </a:ext>
            </a:extLst>
          </p:cNvPr>
          <p:cNvSpPr>
            <a:spLocks noGrp="1"/>
          </p:cNvSpPr>
          <p:nvPr>
            <p:ph type="dt" sz="half" idx="10"/>
          </p:nvPr>
        </p:nvSpPr>
        <p:spPr/>
        <p:txBody>
          <a:bodyPr/>
          <a:lstStyle/>
          <a:p>
            <a:fld id="{4B9484E0-EA99-6E40-9BD0-550CD26F6E0B}" type="datetime1">
              <a:rPr lang="en-US" smtClean="0"/>
              <a:t>6/3/26</a:t>
            </a:fld>
            <a:endParaRPr lang="en-US"/>
          </a:p>
        </p:txBody>
      </p:sp>
      <p:sp>
        <p:nvSpPr>
          <p:cNvPr id="5" name="Footer Placeholder 4">
            <a:extLst>
              <a:ext uri="{FF2B5EF4-FFF2-40B4-BE49-F238E27FC236}">
                <a16:creationId xmlns:a16="http://schemas.microsoft.com/office/drawing/2014/main" id="{04D4BAC1-4B9C-0F98-1B2F-9E2F4A13A6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E1C0A6-4C2A-D97B-2A5C-6566FEA0B87E}"/>
              </a:ext>
            </a:extLst>
          </p:cNvPr>
          <p:cNvSpPr>
            <a:spLocks noGrp="1"/>
          </p:cNvSpPr>
          <p:nvPr>
            <p:ph type="sldNum" sz="quarter" idx="12"/>
          </p:nvPr>
        </p:nvSpPr>
        <p:spPr/>
        <p:txBody>
          <a:bodyPr/>
          <a:lstStyle/>
          <a:p>
            <a:fld id="{9918A6A5-4FFB-434A-A92F-4AE444D35066}" type="slidenum">
              <a:rPr lang="en-US" smtClean="0"/>
              <a:t>‹#›</a:t>
            </a:fld>
            <a:endParaRPr lang="en-US"/>
          </a:p>
        </p:txBody>
      </p:sp>
    </p:spTree>
    <p:extLst>
      <p:ext uri="{BB962C8B-B14F-4D97-AF65-F5344CB8AC3E}">
        <p14:creationId xmlns:p14="http://schemas.microsoft.com/office/powerpoint/2010/main" val="1455542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D47F8-2C97-C049-CC2E-D40C77896D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F1E001D-05F9-A9A4-8F4E-DE9F2BBADF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9059A9-3914-E59B-EF23-B3A7DFE3E45E}"/>
              </a:ext>
            </a:extLst>
          </p:cNvPr>
          <p:cNvSpPr>
            <a:spLocks noGrp="1"/>
          </p:cNvSpPr>
          <p:nvPr>
            <p:ph type="dt" sz="half" idx="10"/>
          </p:nvPr>
        </p:nvSpPr>
        <p:spPr/>
        <p:txBody>
          <a:bodyPr/>
          <a:lstStyle/>
          <a:p>
            <a:fld id="{10F49564-D553-0941-A003-CDBCACF4340C}" type="datetime1">
              <a:rPr lang="en-US" smtClean="0"/>
              <a:t>6/3/26</a:t>
            </a:fld>
            <a:endParaRPr lang="en-US"/>
          </a:p>
        </p:txBody>
      </p:sp>
      <p:sp>
        <p:nvSpPr>
          <p:cNvPr id="5" name="Footer Placeholder 4">
            <a:extLst>
              <a:ext uri="{FF2B5EF4-FFF2-40B4-BE49-F238E27FC236}">
                <a16:creationId xmlns:a16="http://schemas.microsoft.com/office/drawing/2014/main" id="{A2F9BD58-F73B-9178-391F-9B0F4E94EC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2C99EB-929C-6D64-1D71-C71CDEEDDB8A}"/>
              </a:ext>
            </a:extLst>
          </p:cNvPr>
          <p:cNvSpPr>
            <a:spLocks noGrp="1"/>
          </p:cNvSpPr>
          <p:nvPr>
            <p:ph type="sldNum" sz="quarter" idx="12"/>
          </p:nvPr>
        </p:nvSpPr>
        <p:spPr/>
        <p:txBody>
          <a:bodyPr/>
          <a:lstStyle/>
          <a:p>
            <a:fld id="{9918A6A5-4FFB-434A-A92F-4AE444D35066}" type="slidenum">
              <a:rPr lang="en-US" smtClean="0"/>
              <a:t>‹#›</a:t>
            </a:fld>
            <a:endParaRPr lang="en-US"/>
          </a:p>
        </p:txBody>
      </p:sp>
    </p:spTree>
    <p:extLst>
      <p:ext uri="{BB962C8B-B14F-4D97-AF65-F5344CB8AC3E}">
        <p14:creationId xmlns:p14="http://schemas.microsoft.com/office/powerpoint/2010/main" val="3023288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F412A-0CC1-9157-95EB-D5ADFD61B6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C028E8-4EA1-22F7-C5C0-C02FDAED8A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0D2F75-A320-2D7B-FCEC-8585A19A38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FE2207-07B3-7B91-2122-ECA33A7893E7}"/>
              </a:ext>
            </a:extLst>
          </p:cNvPr>
          <p:cNvSpPr>
            <a:spLocks noGrp="1"/>
          </p:cNvSpPr>
          <p:nvPr>
            <p:ph type="dt" sz="half" idx="10"/>
          </p:nvPr>
        </p:nvSpPr>
        <p:spPr/>
        <p:txBody>
          <a:bodyPr/>
          <a:lstStyle/>
          <a:p>
            <a:fld id="{1842BCBD-88C9-B147-888E-D42FA00E5060}" type="datetime1">
              <a:rPr lang="en-US" smtClean="0"/>
              <a:t>6/3/26</a:t>
            </a:fld>
            <a:endParaRPr lang="en-US"/>
          </a:p>
        </p:txBody>
      </p:sp>
      <p:sp>
        <p:nvSpPr>
          <p:cNvPr id="6" name="Footer Placeholder 5">
            <a:extLst>
              <a:ext uri="{FF2B5EF4-FFF2-40B4-BE49-F238E27FC236}">
                <a16:creationId xmlns:a16="http://schemas.microsoft.com/office/drawing/2014/main" id="{1A95CA83-D545-A31E-E7BE-C48FCE58CA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F972F1-D126-648A-0C65-82BCB73DD5C9}"/>
              </a:ext>
            </a:extLst>
          </p:cNvPr>
          <p:cNvSpPr>
            <a:spLocks noGrp="1"/>
          </p:cNvSpPr>
          <p:nvPr>
            <p:ph type="sldNum" sz="quarter" idx="12"/>
          </p:nvPr>
        </p:nvSpPr>
        <p:spPr/>
        <p:txBody>
          <a:bodyPr/>
          <a:lstStyle/>
          <a:p>
            <a:fld id="{9918A6A5-4FFB-434A-A92F-4AE444D35066}" type="slidenum">
              <a:rPr lang="en-US" smtClean="0"/>
              <a:t>‹#›</a:t>
            </a:fld>
            <a:endParaRPr lang="en-US"/>
          </a:p>
        </p:txBody>
      </p:sp>
    </p:spTree>
    <p:extLst>
      <p:ext uri="{BB962C8B-B14F-4D97-AF65-F5344CB8AC3E}">
        <p14:creationId xmlns:p14="http://schemas.microsoft.com/office/powerpoint/2010/main" val="1241478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FBFB2-8DA8-2635-355F-7A393303F9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8960A0-DE91-5BAA-E10B-ADAE18D6C0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B367B4-6BEB-6274-3F56-9C54B8760E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576630-16D1-0D5A-5FBF-D986FAD9AA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759BAB-12F0-B7CA-CCFA-7B452AEA62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4D5DD9-0DC4-0411-F1CA-3A57C3DD7953}"/>
              </a:ext>
            </a:extLst>
          </p:cNvPr>
          <p:cNvSpPr>
            <a:spLocks noGrp="1"/>
          </p:cNvSpPr>
          <p:nvPr>
            <p:ph type="dt" sz="half" idx="10"/>
          </p:nvPr>
        </p:nvSpPr>
        <p:spPr/>
        <p:txBody>
          <a:bodyPr/>
          <a:lstStyle/>
          <a:p>
            <a:fld id="{A2B5BBBC-9A94-C84A-9E62-58A8A88E0A93}" type="datetime1">
              <a:rPr lang="en-US" smtClean="0"/>
              <a:t>6/3/26</a:t>
            </a:fld>
            <a:endParaRPr lang="en-US"/>
          </a:p>
        </p:txBody>
      </p:sp>
      <p:sp>
        <p:nvSpPr>
          <p:cNvPr id="8" name="Footer Placeholder 7">
            <a:extLst>
              <a:ext uri="{FF2B5EF4-FFF2-40B4-BE49-F238E27FC236}">
                <a16:creationId xmlns:a16="http://schemas.microsoft.com/office/drawing/2014/main" id="{24D10A05-4340-E7B1-1D80-6B742FA7E4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114654-315E-CB5F-8C7C-AB20EAB07DD9}"/>
              </a:ext>
            </a:extLst>
          </p:cNvPr>
          <p:cNvSpPr>
            <a:spLocks noGrp="1"/>
          </p:cNvSpPr>
          <p:nvPr>
            <p:ph type="sldNum" sz="quarter" idx="12"/>
          </p:nvPr>
        </p:nvSpPr>
        <p:spPr/>
        <p:txBody>
          <a:bodyPr/>
          <a:lstStyle/>
          <a:p>
            <a:fld id="{9918A6A5-4FFB-434A-A92F-4AE444D35066}" type="slidenum">
              <a:rPr lang="en-US" smtClean="0"/>
              <a:t>‹#›</a:t>
            </a:fld>
            <a:endParaRPr lang="en-US"/>
          </a:p>
        </p:txBody>
      </p:sp>
    </p:spTree>
    <p:extLst>
      <p:ext uri="{BB962C8B-B14F-4D97-AF65-F5344CB8AC3E}">
        <p14:creationId xmlns:p14="http://schemas.microsoft.com/office/powerpoint/2010/main" val="53598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E49BB-4CBF-16D5-611C-E06D55CE51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AD062E-F70E-58FB-75FD-C9E283BFE9C3}"/>
              </a:ext>
            </a:extLst>
          </p:cNvPr>
          <p:cNvSpPr>
            <a:spLocks noGrp="1"/>
          </p:cNvSpPr>
          <p:nvPr>
            <p:ph type="dt" sz="half" idx="10"/>
          </p:nvPr>
        </p:nvSpPr>
        <p:spPr/>
        <p:txBody>
          <a:bodyPr/>
          <a:lstStyle/>
          <a:p>
            <a:fld id="{C08F7CB0-1111-1346-9A92-57BA4738CDC3}" type="datetime1">
              <a:rPr lang="en-US" smtClean="0"/>
              <a:t>6/3/26</a:t>
            </a:fld>
            <a:endParaRPr lang="en-US"/>
          </a:p>
        </p:txBody>
      </p:sp>
      <p:sp>
        <p:nvSpPr>
          <p:cNvPr id="4" name="Footer Placeholder 3">
            <a:extLst>
              <a:ext uri="{FF2B5EF4-FFF2-40B4-BE49-F238E27FC236}">
                <a16:creationId xmlns:a16="http://schemas.microsoft.com/office/drawing/2014/main" id="{1493DA82-CF13-1FB9-2FB4-D0E3BE7CEE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DC83DF-ADC6-F394-7800-C7C309A39CCB}"/>
              </a:ext>
            </a:extLst>
          </p:cNvPr>
          <p:cNvSpPr>
            <a:spLocks noGrp="1"/>
          </p:cNvSpPr>
          <p:nvPr>
            <p:ph type="sldNum" sz="quarter" idx="12"/>
          </p:nvPr>
        </p:nvSpPr>
        <p:spPr/>
        <p:txBody>
          <a:bodyPr/>
          <a:lstStyle/>
          <a:p>
            <a:fld id="{9918A6A5-4FFB-434A-A92F-4AE444D35066}" type="slidenum">
              <a:rPr lang="en-US" smtClean="0"/>
              <a:t>‹#›</a:t>
            </a:fld>
            <a:endParaRPr lang="en-US"/>
          </a:p>
        </p:txBody>
      </p:sp>
    </p:spTree>
    <p:extLst>
      <p:ext uri="{BB962C8B-B14F-4D97-AF65-F5344CB8AC3E}">
        <p14:creationId xmlns:p14="http://schemas.microsoft.com/office/powerpoint/2010/main" val="894488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2EC2A7-EEF8-2732-AFA7-BDD80B0F621D}"/>
              </a:ext>
            </a:extLst>
          </p:cNvPr>
          <p:cNvSpPr>
            <a:spLocks noGrp="1"/>
          </p:cNvSpPr>
          <p:nvPr>
            <p:ph type="dt" sz="half" idx="10"/>
          </p:nvPr>
        </p:nvSpPr>
        <p:spPr/>
        <p:txBody>
          <a:bodyPr/>
          <a:lstStyle/>
          <a:p>
            <a:fld id="{F052F380-2B27-B640-B562-C93D432DA883}" type="datetime1">
              <a:rPr lang="en-US" smtClean="0"/>
              <a:t>6/3/26</a:t>
            </a:fld>
            <a:endParaRPr lang="en-US"/>
          </a:p>
        </p:txBody>
      </p:sp>
      <p:sp>
        <p:nvSpPr>
          <p:cNvPr id="3" name="Footer Placeholder 2">
            <a:extLst>
              <a:ext uri="{FF2B5EF4-FFF2-40B4-BE49-F238E27FC236}">
                <a16:creationId xmlns:a16="http://schemas.microsoft.com/office/drawing/2014/main" id="{4480F679-032A-6F30-9363-5F2222A391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BAE5D7-7AB5-B90A-CAF1-82F0609DA499}"/>
              </a:ext>
            </a:extLst>
          </p:cNvPr>
          <p:cNvSpPr>
            <a:spLocks noGrp="1"/>
          </p:cNvSpPr>
          <p:nvPr>
            <p:ph type="sldNum" sz="quarter" idx="12"/>
          </p:nvPr>
        </p:nvSpPr>
        <p:spPr/>
        <p:txBody>
          <a:bodyPr/>
          <a:lstStyle/>
          <a:p>
            <a:fld id="{9918A6A5-4FFB-434A-A92F-4AE444D35066}" type="slidenum">
              <a:rPr lang="en-US" smtClean="0"/>
              <a:t>‹#›</a:t>
            </a:fld>
            <a:endParaRPr lang="en-US"/>
          </a:p>
        </p:txBody>
      </p:sp>
    </p:spTree>
    <p:extLst>
      <p:ext uri="{BB962C8B-B14F-4D97-AF65-F5344CB8AC3E}">
        <p14:creationId xmlns:p14="http://schemas.microsoft.com/office/powerpoint/2010/main" val="2426057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C6B3E-4211-2089-3DB0-4C6E84A7A4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5C646A-B293-AEC7-2D05-A5D7335F7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C989E2-04FF-42A5-88E3-18103022AF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485DA3-9B05-17B9-2295-0BBA4D968E74}"/>
              </a:ext>
            </a:extLst>
          </p:cNvPr>
          <p:cNvSpPr>
            <a:spLocks noGrp="1"/>
          </p:cNvSpPr>
          <p:nvPr>
            <p:ph type="dt" sz="half" idx="10"/>
          </p:nvPr>
        </p:nvSpPr>
        <p:spPr/>
        <p:txBody>
          <a:bodyPr/>
          <a:lstStyle/>
          <a:p>
            <a:fld id="{756DBAB9-74B8-7441-ADA0-8EA8BE38DF93}" type="datetime1">
              <a:rPr lang="en-US" smtClean="0"/>
              <a:t>6/3/26</a:t>
            </a:fld>
            <a:endParaRPr lang="en-US"/>
          </a:p>
        </p:txBody>
      </p:sp>
      <p:sp>
        <p:nvSpPr>
          <p:cNvPr id="6" name="Footer Placeholder 5">
            <a:extLst>
              <a:ext uri="{FF2B5EF4-FFF2-40B4-BE49-F238E27FC236}">
                <a16:creationId xmlns:a16="http://schemas.microsoft.com/office/drawing/2014/main" id="{5B04FC35-1A8B-65A1-581F-7F6B1D1632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092D8E-29D9-920F-E1D5-56C0F0F5172D}"/>
              </a:ext>
            </a:extLst>
          </p:cNvPr>
          <p:cNvSpPr>
            <a:spLocks noGrp="1"/>
          </p:cNvSpPr>
          <p:nvPr>
            <p:ph type="sldNum" sz="quarter" idx="12"/>
          </p:nvPr>
        </p:nvSpPr>
        <p:spPr/>
        <p:txBody>
          <a:bodyPr/>
          <a:lstStyle/>
          <a:p>
            <a:fld id="{9918A6A5-4FFB-434A-A92F-4AE444D35066}" type="slidenum">
              <a:rPr lang="en-US" smtClean="0"/>
              <a:t>‹#›</a:t>
            </a:fld>
            <a:endParaRPr lang="en-US"/>
          </a:p>
        </p:txBody>
      </p:sp>
    </p:spTree>
    <p:extLst>
      <p:ext uri="{BB962C8B-B14F-4D97-AF65-F5344CB8AC3E}">
        <p14:creationId xmlns:p14="http://schemas.microsoft.com/office/powerpoint/2010/main" val="1273230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1775F-9EE5-B894-B2D9-E1BFA15C98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DA7403-E739-6F6F-9D73-3B448B3450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9D0979-47F9-4F40-84C5-1B417D4E4D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BEA17D-9CF2-2698-2AFA-D954A1606F2D}"/>
              </a:ext>
            </a:extLst>
          </p:cNvPr>
          <p:cNvSpPr>
            <a:spLocks noGrp="1"/>
          </p:cNvSpPr>
          <p:nvPr>
            <p:ph type="dt" sz="half" idx="10"/>
          </p:nvPr>
        </p:nvSpPr>
        <p:spPr/>
        <p:txBody>
          <a:bodyPr/>
          <a:lstStyle/>
          <a:p>
            <a:fld id="{97D31EAA-15C4-BD4E-A8F2-BBF4DF8DE188}" type="datetime1">
              <a:rPr lang="en-US" smtClean="0"/>
              <a:t>6/3/26</a:t>
            </a:fld>
            <a:endParaRPr lang="en-US"/>
          </a:p>
        </p:txBody>
      </p:sp>
      <p:sp>
        <p:nvSpPr>
          <p:cNvPr id="6" name="Footer Placeholder 5">
            <a:extLst>
              <a:ext uri="{FF2B5EF4-FFF2-40B4-BE49-F238E27FC236}">
                <a16:creationId xmlns:a16="http://schemas.microsoft.com/office/drawing/2014/main" id="{3D1DD634-E926-4D45-4A92-A9D47BD82F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E3FA69-8B26-DC9A-B737-BA421E60717D}"/>
              </a:ext>
            </a:extLst>
          </p:cNvPr>
          <p:cNvSpPr>
            <a:spLocks noGrp="1"/>
          </p:cNvSpPr>
          <p:nvPr>
            <p:ph type="sldNum" sz="quarter" idx="12"/>
          </p:nvPr>
        </p:nvSpPr>
        <p:spPr/>
        <p:txBody>
          <a:bodyPr/>
          <a:lstStyle/>
          <a:p>
            <a:fld id="{9918A6A5-4FFB-434A-A92F-4AE444D35066}" type="slidenum">
              <a:rPr lang="en-US" smtClean="0"/>
              <a:t>‹#›</a:t>
            </a:fld>
            <a:endParaRPr lang="en-US"/>
          </a:p>
        </p:txBody>
      </p:sp>
    </p:spTree>
    <p:extLst>
      <p:ext uri="{BB962C8B-B14F-4D97-AF65-F5344CB8AC3E}">
        <p14:creationId xmlns:p14="http://schemas.microsoft.com/office/powerpoint/2010/main" val="400041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AED52-3ACD-A623-50E6-708DF236B4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28C979-E51A-E5FB-DDA0-25C4F77640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D744F8-84D4-863A-E8EF-4C8EC2BFF051}"/>
              </a:ext>
            </a:extLst>
          </p:cNvPr>
          <p:cNvSpPr>
            <a:spLocks noGrp="1"/>
          </p:cNvSpPr>
          <p:nvPr>
            <p:ph type="dt" sz="half" idx="10"/>
          </p:nvPr>
        </p:nvSpPr>
        <p:spPr/>
        <p:txBody>
          <a:bodyPr/>
          <a:lstStyle/>
          <a:p>
            <a:fld id="{5539DB6B-5F81-F24A-91FE-2C03540375CC}" type="datetime1">
              <a:rPr lang="en-US" smtClean="0"/>
              <a:t>6/3/26</a:t>
            </a:fld>
            <a:endParaRPr lang="en-US"/>
          </a:p>
        </p:txBody>
      </p:sp>
      <p:sp>
        <p:nvSpPr>
          <p:cNvPr id="5" name="Footer Placeholder 4">
            <a:extLst>
              <a:ext uri="{FF2B5EF4-FFF2-40B4-BE49-F238E27FC236}">
                <a16:creationId xmlns:a16="http://schemas.microsoft.com/office/drawing/2014/main" id="{ABB39988-27CC-D9B2-B276-DFE60625D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FA078E-E6F1-2069-D162-3162D1907FFC}"/>
              </a:ext>
            </a:extLst>
          </p:cNvPr>
          <p:cNvSpPr>
            <a:spLocks noGrp="1"/>
          </p:cNvSpPr>
          <p:nvPr>
            <p:ph type="sldNum" sz="quarter" idx="12"/>
          </p:nvPr>
        </p:nvSpPr>
        <p:spPr/>
        <p:txBody>
          <a:bodyPr/>
          <a:lstStyle/>
          <a:p>
            <a:fld id="{9918A6A5-4FFB-434A-A92F-4AE444D35066}" type="slidenum">
              <a:rPr lang="en-US" smtClean="0"/>
              <a:t>‹#›</a:t>
            </a:fld>
            <a:endParaRPr lang="en-US"/>
          </a:p>
        </p:txBody>
      </p:sp>
    </p:spTree>
    <p:extLst>
      <p:ext uri="{BB962C8B-B14F-4D97-AF65-F5344CB8AC3E}">
        <p14:creationId xmlns:p14="http://schemas.microsoft.com/office/powerpoint/2010/main" val="788286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C2B578-6F9C-44F1-8E68-98496BF35C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756F47-07BC-C2F8-952A-E6E9ECB068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CF5CAC-62F8-1D69-6F54-E056E5084BD9}"/>
              </a:ext>
            </a:extLst>
          </p:cNvPr>
          <p:cNvSpPr>
            <a:spLocks noGrp="1"/>
          </p:cNvSpPr>
          <p:nvPr>
            <p:ph type="dt" sz="half" idx="10"/>
          </p:nvPr>
        </p:nvSpPr>
        <p:spPr/>
        <p:txBody>
          <a:bodyPr/>
          <a:lstStyle/>
          <a:p>
            <a:fld id="{95BF7022-268F-714C-9E84-58CCFC793F99}" type="datetime1">
              <a:rPr lang="en-US" smtClean="0"/>
              <a:t>6/3/26</a:t>
            </a:fld>
            <a:endParaRPr lang="en-US"/>
          </a:p>
        </p:txBody>
      </p:sp>
      <p:sp>
        <p:nvSpPr>
          <p:cNvPr id="5" name="Footer Placeholder 4">
            <a:extLst>
              <a:ext uri="{FF2B5EF4-FFF2-40B4-BE49-F238E27FC236}">
                <a16:creationId xmlns:a16="http://schemas.microsoft.com/office/drawing/2014/main" id="{0C743D30-0502-5753-BD83-506B23DABB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4BD95E-F89B-AC42-48BB-DC0CF793CEDD}"/>
              </a:ext>
            </a:extLst>
          </p:cNvPr>
          <p:cNvSpPr>
            <a:spLocks noGrp="1"/>
          </p:cNvSpPr>
          <p:nvPr>
            <p:ph type="sldNum" sz="quarter" idx="12"/>
          </p:nvPr>
        </p:nvSpPr>
        <p:spPr/>
        <p:txBody>
          <a:bodyPr/>
          <a:lstStyle/>
          <a:p>
            <a:fld id="{9918A6A5-4FFB-434A-A92F-4AE444D35066}" type="slidenum">
              <a:rPr lang="en-US" smtClean="0"/>
              <a:t>‹#›</a:t>
            </a:fld>
            <a:endParaRPr lang="en-US"/>
          </a:p>
        </p:txBody>
      </p:sp>
    </p:spTree>
    <p:extLst>
      <p:ext uri="{BB962C8B-B14F-4D97-AF65-F5344CB8AC3E}">
        <p14:creationId xmlns:p14="http://schemas.microsoft.com/office/powerpoint/2010/main" val="929261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130ADF-A3FE-A042-3C71-CCDADA458D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8399D2-7D7F-321A-F463-B9251F722B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44251A-728C-DF24-7ACA-3F290A33DD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32E34B-DDE9-9142-A57E-E5F931D5F520}" type="datetime1">
              <a:rPr lang="en-US" smtClean="0"/>
              <a:t>6/3/26</a:t>
            </a:fld>
            <a:endParaRPr lang="en-US"/>
          </a:p>
        </p:txBody>
      </p:sp>
      <p:sp>
        <p:nvSpPr>
          <p:cNvPr id="5" name="Footer Placeholder 4">
            <a:extLst>
              <a:ext uri="{FF2B5EF4-FFF2-40B4-BE49-F238E27FC236}">
                <a16:creationId xmlns:a16="http://schemas.microsoft.com/office/drawing/2014/main" id="{3B36C7B4-8B50-A7AC-DB91-D18FCAFE28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F845EFC6-8CBF-A9DB-D17F-24FD117F9E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18A6A5-4FFB-434A-A92F-4AE444D35066}" type="slidenum">
              <a:rPr lang="en-US" smtClean="0"/>
              <a:t>‹#›</a:t>
            </a:fld>
            <a:endParaRPr lang="en-US" dirty="0"/>
          </a:p>
        </p:txBody>
      </p:sp>
      <p:pic>
        <p:nvPicPr>
          <p:cNvPr id="8" name="Picture 7">
            <a:extLst>
              <a:ext uri="{FF2B5EF4-FFF2-40B4-BE49-F238E27FC236}">
                <a16:creationId xmlns:a16="http://schemas.microsoft.com/office/drawing/2014/main" id="{99C83FF5-9E4E-DAE8-7D85-B05E2BE373D5}"/>
              </a:ext>
            </a:extLst>
          </p:cNvPr>
          <p:cNvPicPr>
            <a:picLocks noChangeAspect="1"/>
          </p:cNvPicPr>
          <p:nvPr userDrawn="1"/>
        </p:nvPicPr>
        <p:blipFill>
          <a:blip r:embed="rId13"/>
          <a:srcRect t="23163" b="28155"/>
          <a:stretch>
            <a:fillRect/>
          </a:stretch>
        </p:blipFill>
        <p:spPr>
          <a:xfrm>
            <a:off x="10093584" y="0"/>
            <a:ext cx="2098416" cy="681037"/>
          </a:xfrm>
          <a:prstGeom prst="rect">
            <a:avLst/>
          </a:prstGeom>
        </p:spPr>
      </p:pic>
    </p:spTree>
    <p:extLst>
      <p:ext uri="{BB962C8B-B14F-4D97-AF65-F5344CB8AC3E}">
        <p14:creationId xmlns:p14="http://schemas.microsoft.com/office/powerpoint/2010/main" val="3903823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6B7D0-151F-3CA6-790B-A31511D42019}"/>
              </a:ext>
            </a:extLst>
          </p:cNvPr>
          <p:cNvSpPr>
            <a:spLocks noGrp="1"/>
          </p:cNvSpPr>
          <p:nvPr>
            <p:ph type="ctrTitle"/>
          </p:nvPr>
        </p:nvSpPr>
        <p:spPr>
          <a:xfrm>
            <a:off x="742950" y="2679859"/>
            <a:ext cx="10706100" cy="1498283"/>
          </a:xfrm>
        </p:spPr>
        <p:txBody>
          <a:bodyPr>
            <a:normAutofit fontScale="90000"/>
          </a:bodyPr>
          <a:lstStyle/>
          <a:p>
            <a:r>
              <a:rPr lang="en-US" b="1" dirty="0">
                <a:latin typeface="Calibri" panose="020F0502020204030204" pitchFamily="34" charset="0"/>
                <a:cs typeface="Calibri" panose="020F0502020204030204" pitchFamily="34" charset="0"/>
              </a:rPr>
              <a:t>Design &amp; Evaluation of Efficient Semantic Company Retrieval at Scale</a:t>
            </a:r>
          </a:p>
        </p:txBody>
      </p:sp>
      <p:sp>
        <p:nvSpPr>
          <p:cNvPr id="3" name="Subtitle 2">
            <a:extLst>
              <a:ext uri="{FF2B5EF4-FFF2-40B4-BE49-F238E27FC236}">
                <a16:creationId xmlns:a16="http://schemas.microsoft.com/office/drawing/2014/main" id="{9CECD499-C49E-8713-8198-F0E08641E13E}"/>
              </a:ext>
            </a:extLst>
          </p:cNvPr>
          <p:cNvSpPr>
            <a:spLocks noGrp="1"/>
          </p:cNvSpPr>
          <p:nvPr>
            <p:ph type="subTitle" idx="1"/>
          </p:nvPr>
        </p:nvSpPr>
        <p:spPr>
          <a:xfrm>
            <a:off x="4724400" y="4246182"/>
            <a:ext cx="2743200" cy="365125"/>
          </a:xfrm>
        </p:spPr>
        <p:txBody>
          <a:bodyPr>
            <a:normAutofit fontScale="92500" lnSpcReduction="20000"/>
          </a:bodyPr>
          <a:lstStyle/>
          <a:p>
            <a:r>
              <a:rPr lang="en-US" b="1" dirty="0">
                <a:latin typeface="Calibri" panose="020F0502020204030204" pitchFamily="34" charset="0"/>
                <a:cs typeface="Calibri" panose="020F0502020204030204" pitchFamily="34" charset="0"/>
              </a:rPr>
              <a:t>Thesis Results Update</a:t>
            </a:r>
          </a:p>
        </p:txBody>
      </p:sp>
      <p:sp>
        <p:nvSpPr>
          <p:cNvPr id="4" name="Date Placeholder 3">
            <a:extLst>
              <a:ext uri="{FF2B5EF4-FFF2-40B4-BE49-F238E27FC236}">
                <a16:creationId xmlns:a16="http://schemas.microsoft.com/office/drawing/2014/main" id="{AA37211D-95C7-80B9-8054-C43661379C26}"/>
              </a:ext>
            </a:extLst>
          </p:cNvPr>
          <p:cNvSpPr>
            <a:spLocks noGrp="1"/>
          </p:cNvSpPr>
          <p:nvPr>
            <p:ph type="dt" sz="half" idx="10"/>
          </p:nvPr>
        </p:nvSpPr>
        <p:spPr/>
        <p:txBody>
          <a:bodyPr/>
          <a:lstStyle/>
          <a:p>
            <a:fld id="{57AFBF78-CF95-494F-B213-8F5F85A614E6}" type="datetime1">
              <a:rPr lang="en-US" smtClean="0">
                <a:latin typeface="Calibri" panose="020F0502020204030204" pitchFamily="34" charset="0"/>
                <a:cs typeface="Calibri" panose="020F0502020204030204" pitchFamily="34" charset="0"/>
              </a:rPr>
              <a:t>6/3/26</a:t>
            </a:fld>
            <a:endParaRPr lang="en-US">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3577D75E-135C-8078-2830-E593B3262D7A}"/>
              </a:ext>
            </a:extLst>
          </p:cNvPr>
          <p:cNvSpPr>
            <a:spLocks noGrp="1"/>
          </p:cNvSpPr>
          <p:nvPr>
            <p:ph type="sldNum" sz="quarter" idx="12"/>
          </p:nvPr>
        </p:nvSpPr>
        <p:spPr/>
        <p:txBody>
          <a:bodyPr/>
          <a:lstStyle/>
          <a:p>
            <a:fld id="{9918A6A5-4FFB-434A-A92F-4AE444D35066}" type="slidenum">
              <a:rPr lang="en-US" smtClean="0">
                <a:latin typeface="Calibri" panose="020F0502020204030204" pitchFamily="34" charset="0"/>
                <a:cs typeface="Calibri" panose="020F0502020204030204" pitchFamily="34" charset="0"/>
              </a:rPr>
              <a:t>1</a:t>
            </a:fld>
            <a:endParaRPr lang="en-US">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0876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6C316-C994-2A09-FD8E-C5A2E6C5FB65}"/>
              </a:ext>
            </a:extLst>
          </p:cNvPr>
          <p:cNvSpPr>
            <a:spLocks noGrp="1"/>
          </p:cNvSpPr>
          <p:nvPr>
            <p:ph type="title"/>
          </p:nvPr>
        </p:nvSpPr>
        <p:spPr>
          <a:xfrm>
            <a:off x="838200" y="365125"/>
            <a:ext cx="10515600" cy="1325563"/>
          </a:xfrm>
        </p:spPr>
        <p:txBody>
          <a:bodyPr>
            <a:normAutofit/>
          </a:bodyPr>
          <a:lstStyle/>
          <a:p>
            <a:r>
              <a:rPr lang="en-US" sz="4000" b="1" dirty="0">
                <a:latin typeface="Calibri" panose="020F0502020204030204" pitchFamily="34" charset="0"/>
                <a:cs typeface="Calibri" panose="020F0502020204030204" pitchFamily="34" charset="0"/>
              </a:rPr>
              <a:t>Baseline - BM25 + 4 Embedding Models </a:t>
            </a:r>
            <a:r>
              <a:rPr lang="en-US" sz="2800" b="1" dirty="0">
                <a:latin typeface="Calibri" panose="020F0502020204030204" pitchFamily="34" charset="0"/>
                <a:cs typeface="Calibri" panose="020F0502020204030204" pitchFamily="34" charset="0"/>
              </a:rPr>
              <a:t>(k=1000)</a:t>
            </a:r>
            <a:endParaRPr lang="en-US" sz="4000" b="1" dirty="0">
              <a:latin typeface="Calibri" panose="020F0502020204030204" pitchFamily="34" charset="0"/>
              <a:cs typeface="Calibri" panose="020F0502020204030204" pitchFamily="34" charset="0"/>
            </a:endParaRPr>
          </a:p>
        </p:txBody>
      </p:sp>
      <p:graphicFrame>
        <p:nvGraphicFramePr>
          <p:cNvPr id="7" name="Content Placeholder 6">
            <a:extLst>
              <a:ext uri="{FF2B5EF4-FFF2-40B4-BE49-F238E27FC236}">
                <a16:creationId xmlns:a16="http://schemas.microsoft.com/office/drawing/2014/main" id="{E9E86E22-9862-264C-6255-871D4673B50B}"/>
              </a:ext>
            </a:extLst>
          </p:cNvPr>
          <p:cNvGraphicFramePr>
            <a:graphicFrameLocks noGrp="1"/>
          </p:cNvGraphicFramePr>
          <p:nvPr>
            <p:ph idx="1"/>
            <p:extLst>
              <p:ext uri="{D42A27DB-BD31-4B8C-83A1-F6EECF244321}">
                <p14:modId xmlns:p14="http://schemas.microsoft.com/office/powerpoint/2010/main" val="502125270"/>
              </p:ext>
            </p:extLst>
          </p:nvPr>
        </p:nvGraphicFramePr>
        <p:xfrm>
          <a:off x="838200" y="1688994"/>
          <a:ext cx="10896598" cy="2763520"/>
        </p:xfrm>
        <a:graphic>
          <a:graphicData uri="http://schemas.openxmlformats.org/drawingml/2006/table">
            <a:tbl>
              <a:tblPr firstRow="1" bandRow="1">
                <a:tableStyleId>{C4B1156A-380E-4F78-BDF5-A606A8083BF9}</a:tableStyleId>
              </a:tblPr>
              <a:tblGrid>
                <a:gridCol w="2522790">
                  <a:extLst>
                    <a:ext uri="{9D8B030D-6E8A-4147-A177-3AD203B41FA5}">
                      <a16:colId xmlns:a16="http://schemas.microsoft.com/office/drawing/2014/main" val="2738875573"/>
                    </a:ext>
                  </a:extLst>
                </a:gridCol>
                <a:gridCol w="1251412">
                  <a:extLst>
                    <a:ext uri="{9D8B030D-6E8A-4147-A177-3AD203B41FA5}">
                      <a16:colId xmlns:a16="http://schemas.microsoft.com/office/drawing/2014/main" val="642727418"/>
                    </a:ext>
                  </a:extLst>
                </a:gridCol>
                <a:gridCol w="1557608">
                  <a:extLst>
                    <a:ext uri="{9D8B030D-6E8A-4147-A177-3AD203B41FA5}">
                      <a16:colId xmlns:a16="http://schemas.microsoft.com/office/drawing/2014/main" val="1402106019"/>
                    </a:ext>
                  </a:extLst>
                </a:gridCol>
                <a:gridCol w="1278037">
                  <a:extLst>
                    <a:ext uri="{9D8B030D-6E8A-4147-A177-3AD203B41FA5}">
                      <a16:colId xmlns:a16="http://schemas.microsoft.com/office/drawing/2014/main" val="1992137792"/>
                    </a:ext>
                  </a:extLst>
                </a:gridCol>
                <a:gridCol w="1251411">
                  <a:extLst>
                    <a:ext uri="{9D8B030D-6E8A-4147-A177-3AD203B41FA5}">
                      <a16:colId xmlns:a16="http://schemas.microsoft.com/office/drawing/2014/main" val="1988334267"/>
                    </a:ext>
                  </a:extLst>
                </a:gridCol>
                <a:gridCol w="3035340">
                  <a:extLst>
                    <a:ext uri="{9D8B030D-6E8A-4147-A177-3AD203B41FA5}">
                      <a16:colId xmlns:a16="http://schemas.microsoft.com/office/drawing/2014/main" val="2084311506"/>
                    </a:ext>
                  </a:extLst>
                </a:gridCol>
              </a:tblGrid>
              <a:tr h="370840">
                <a:tc>
                  <a:txBody>
                    <a:bodyPr/>
                    <a:lstStyle/>
                    <a:p>
                      <a:pPr algn="ctr"/>
                      <a:r>
                        <a:rPr lang="en-US" b="1" dirty="0"/>
                        <a:t>Method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NDCG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@1000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Precision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@1000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Recall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@1000</a:t>
                      </a:r>
                    </a:p>
                  </a:txBody>
                  <a:tcPr anchor="ctr"/>
                </a:tc>
                <a:tc>
                  <a:txBody>
                    <a:bodyPr/>
                    <a:lstStyle/>
                    <a:p>
                      <a:pPr algn="ctr"/>
                      <a:r>
                        <a:rPr lang="en-US" dirty="0"/>
                        <a:t>F1</a:t>
                      </a:r>
                    </a:p>
                    <a:p>
                      <a:pPr algn="ctr"/>
                      <a:r>
                        <a:rPr lang="en-US" dirty="0"/>
                        <a:t>@1000</a:t>
                      </a:r>
                    </a:p>
                  </a:txBody>
                  <a:tcPr anchor="ctr"/>
                </a:tc>
                <a:tc>
                  <a:txBody>
                    <a:bodyPr/>
                    <a:lstStyle/>
                    <a:p>
                      <a:pPr algn="ctr"/>
                      <a:r>
                        <a:rPr lang="en-US" dirty="0"/>
                        <a:t>Avg. Query Latency</a:t>
                      </a:r>
                    </a:p>
                  </a:txBody>
                  <a:tcPr anchor="ctr"/>
                </a:tc>
                <a:extLst>
                  <a:ext uri="{0D108BD9-81ED-4DB2-BD59-A6C34878D82A}">
                    <a16:rowId xmlns:a16="http://schemas.microsoft.com/office/drawing/2014/main" val="1622018660"/>
                  </a:ext>
                </a:extLst>
              </a:tr>
              <a:tr h="370840">
                <a:tc>
                  <a:txBody>
                    <a:bodyPr/>
                    <a:lstStyle/>
                    <a:p>
                      <a:pPr algn="l"/>
                      <a:r>
                        <a:rPr lang="en-US" b="1" dirty="0"/>
                        <a:t>BM25 </a:t>
                      </a:r>
                    </a:p>
                  </a:txBody>
                  <a:tcPr anchor="ctr"/>
                </a:tc>
                <a:tc>
                  <a:txBody>
                    <a:bodyPr/>
                    <a:lstStyle/>
                    <a:p>
                      <a:pPr algn="ctr"/>
                      <a:r>
                        <a:rPr lang="en-US" dirty="0"/>
                        <a:t>0.652</a:t>
                      </a:r>
                      <a:endParaRPr lang="en-US" i="0" dirty="0"/>
                    </a:p>
                  </a:txBody>
                  <a:tcPr anchor="ctr"/>
                </a:tc>
                <a:tc>
                  <a:txBody>
                    <a:bodyPr/>
                    <a:lstStyle/>
                    <a:p>
                      <a:pPr algn="ctr"/>
                      <a:r>
                        <a:rPr lang="en-US" dirty="0"/>
                        <a:t>0.635</a:t>
                      </a:r>
                      <a:r>
                        <a:rPr lang="en-US" i="0" dirty="0"/>
                        <a:t> </a:t>
                      </a:r>
                    </a:p>
                  </a:txBody>
                  <a:tcPr anchor="ctr"/>
                </a:tc>
                <a:tc>
                  <a:txBody>
                    <a:bodyPr/>
                    <a:lstStyle/>
                    <a:p>
                      <a:pPr algn="ctr"/>
                      <a:r>
                        <a:rPr lang="en-US" dirty="0"/>
                        <a:t>0.635</a:t>
                      </a:r>
                      <a:r>
                        <a:rPr lang="en-US" i="0" dirty="0"/>
                        <a:t> </a:t>
                      </a:r>
                    </a:p>
                  </a:txBody>
                  <a:tcPr anchor="ctr"/>
                </a:tc>
                <a:tc>
                  <a:txBody>
                    <a:bodyPr/>
                    <a:lstStyle/>
                    <a:p>
                      <a:pPr algn="ctr"/>
                      <a:r>
                        <a:rPr lang="en-US" dirty="0"/>
                        <a:t>0.635</a:t>
                      </a:r>
                      <a:endParaRPr lang="en-US" i="0" dirty="0"/>
                    </a:p>
                  </a:txBody>
                  <a:tcPr anchor="ctr"/>
                </a:tc>
                <a:tc>
                  <a:txBody>
                    <a:bodyPr/>
                    <a:lstStyle/>
                    <a:p>
                      <a:pPr algn="r"/>
                      <a:r>
                        <a:rPr lang="en-US" dirty="0"/>
                        <a:t>113.2ms</a:t>
                      </a:r>
                    </a:p>
                  </a:txBody>
                  <a:tcPr anchor="ctr"/>
                </a:tc>
                <a:extLst>
                  <a:ext uri="{0D108BD9-81ED-4DB2-BD59-A6C34878D82A}">
                    <a16:rowId xmlns:a16="http://schemas.microsoft.com/office/drawing/2014/main" val="1386733963"/>
                  </a:ext>
                </a:extLst>
              </a:tr>
              <a:tr h="370840">
                <a:tc>
                  <a:txBody>
                    <a:bodyPr/>
                    <a:lstStyle/>
                    <a:p>
                      <a:pPr algn="l"/>
                      <a:r>
                        <a:rPr lang="en-US" b="1" dirty="0"/>
                        <a:t>BGE</a:t>
                      </a:r>
                    </a:p>
                  </a:txBody>
                  <a:tcPr anchor="ctr"/>
                </a:tc>
                <a:tc>
                  <a:txBody>
                    <a:bodyPr/>
                    <a:lstStyle/>
                    <a:p>
                      <a:pPr algn="ctr"/>
                      <a:r>
                        <a:rPr lang="en-US" dirty="0"/>
                        <a:t>0.751</a:t>
                      </a:r>
                      <a:endParaRPr lang="en-US" i="0" dirty="0"/>
                    </a:p>
                  </a:txBody>
                  <a:tcPr anchor="ctr"/>
                </a:tc>
                <a:tc>
                  <a:txBody>
                    <a:bodyPr/>
                    <a:lstStyle/>
                    <a:p>
                      <a:pPr algn="ctr"/>
                      <a:r>
                        <a:rPr lang="en-US" dirty="0"/>
                        <a:t>0.726</a:t>
                      </a:r>
                      <a:endParaRPr lang="en-US" i="0" dirty="0"/>
                    </a:p>
                  </a:txBody>
                  <a:tcPr anchor="ctr"/>
                </a:tc>
                <a:tc>
                  <a:txBody>
                    <a:bodyPr/>
                    <a:lstStyle/>
                    <a:p>
                      <a:pPr algn="ctr"/>
                      <a:r>
                        <a:rPr lang="en-US" dirty="0"/>
                        <a:t>0.726</a:t>
                      </a:r>
                      <a:endParaRPr lang="en-US" i="0" dirty="0"/>
                    </a:p>
                  </a:txBody>
                  <a:tcPr anchor="ctr"/>
                </a:tc>
                <a:tc>
                  <a:txBody>
                    <a:bodyPr/>
                    <a:lstStyle/>
                    <a:p>
                      <a:pPr algn="ctr"/>
                      <a:r>
                        <a:rPr lang="en-US" dirty="0"/>
                        <a:t>0.726</a:t>
                      </a:r>
                      <a:endParaRPr lang="en-US" i="0" dirty="0"/>
                    </a:p>
                  </a:txBody>
                  <a:tcPr anchor="ctr"/>
                </a:tc>
                <a:tc>
                  <a:txBody>
                    <a:bodyPr/>
                    <a:lstStyle/>
                    <a:p>
                      <a:pPr algn="r"/>
                      <a:r>
                        <a:rPr lang="en-US" dirty="0"/>
                        <a:t>44.1ms</a:t>
                      </a:r>
                    </a:p>
                  </a:txBody>
                  <a:tcPr anchor="ctr"/>
                </a:tc>
                <a:extLst>
                  <a:ext uri="{0D108BD9-81ED-4DB2-BD59-A6C34878D82A}">
                    <a16:rowId xmlns:a16="http://schemas.microsoft.com/office/drawing/2014/main" val="3712828818"/>
                  </a:ext>
                </a:extLst>
              </a:tr>
              <a:tr h="370840">
                <a:tc>
                  <a:txBody>
                    <a:bodyPr/>
                    <a:lstStyle/>
                    <a:p>
                      <a:pPr algn="l"/>
                      <a:r>
                        <a:rPr lang="en-US" b="1" dirty="0" err="1">
                          <a:solidFill>
                            <a:srgbClr val="00B050"/>
                          </a:solidFill>
                        </a:rPr>
                        <a:t>MiniLM</a:t>
                      </a:r>
                      <a:r>
                        <a:rPr lang="en-US" b="1" dirty="0">
                          <a:solidFill>
                            <a:srgbClr val="00B050"/>
                          </a:solidFill>
                        </a:rPr>
                        <a:t> </a:t>
                      </a:r>
                    </a:p>
                  </a:txBody>
                  <a:tcPr anchor="ctr"/>
                </a:tc>
                <a:tc>
                  <a:txBody>
                    <a:bodyPr/>
                    <a:lstStyle/>
                    <a:p>
                      <a:pPr algn="ctr"/>
                      <a:r>
                        <a:rPr lang="en-US" b="1" dirty="0">
                          <a:solidFill>
                            <a:srgbClr val="00B050"/>
                          </a:solidFill>
                        </a:rPr>
                        <a:t>0.767</a:t>
                      </a:r>
                      <a:endParaRPr lang="en-US" b="1" i="0" dirty="0">
                        <a:solidFill>
                          <a:srgbClr val="00B050"/>
                        </a:solidFill>
                      </a:endParaRPr>
                    </a:p>
                  </a:txBody>
                  <a:tcPr anchor="ctr"/>
                </a:tc>
                <a:tc>
                  <a:txBody>
                    <a:bodyPr/>
                    <a:lstStyle/>
                    <a:p>
                      <a:pPr algn="ctr"/>
                      <a:r>
                        <a:rPr lang="en-US" b="1" dirty="0">
                          <a:solidFill>
                            <a:srgbClr val="00B050"/>
                          </a:solidFill>
                        </a:rPr>
                        <a:t>0.741</a:t>
                      </a:r>
                      <a:endParaRPr lang="en-US" b="1" i="0" dirty="0">
                        <a:solidFill>
                          <a:srgbClr val="00B050"/>
                        </a:solidFill>
                      </a:endParaRPr>
                    </a:p>
                  </a:txBody>
                  <a:tcPr anchor="ctr"/>
                </a:tc>
                <a:tc>
                  <a:txBody>
                    <a:bodyPr/>
                    <a:lstStyle/>
                    <a:p>
                      <a:pPr algn="ctr"/>
                      <a:r>
                        <a:rPr lang="en-US" b="1" dirty="0">
                          <a:solidFill>
                            <a:srgbClr val="00B050"/>
                          </a:solidFill>
                        </a:rPr>
                        <a:t>0.741</a:t>
                      </a:r>
                      <a:endParaRPr lang="en-US" b="1" i="0" dirty="0">
                        <a:solidFill>
                          <a:srgbClr val="00B050"/>
                        </a:solidFill>
                      </a:endParaRPr>
                    </a:p>
                  </a:txBody>
                  <a:tcPr anchor="ctr"/>
                </a:tc>
                <a:tc>
                  <a:txBody>
                    <a:bodyPr/>
                    <a:lstStyle/>
                    <a:p>
                      <a:pPr algn="ctr"/>
                      <a:r>
                        <a:rPr lang="en-US" b="1" dirty="0">
                          <a:solidFill>
                            <a:srgbClr val="00B050"/>
                          </a:solidFill>
                        </a:rPr>
                        <a:t>0.741</a:t>
                      </a:r>
                      <a:endParaRPr lang="en-US" b="1" i="0" dirty="0">
                        <a:solidFill>
                          <a:srgbClr val="00B050"/>
                        </a:solidFill>
                      </a:endParaRPr>
                    </a:p>
                  </a:txBody>
                  <a:tcPr anchor="ctr"/>
                </a:tc>
                <a:tc>
                  <a:txBody>
                    <a:bodyPr/>
                    <a:lstStyle/>
                    <a:p>
                      <a:pPr algn="r"/>
                      <a:r>
                        <a:rPr lang="en-US" b="1" dirty="0">
                          <a:solidFill>
                            <a:srgbClr val="00B050"/>
                          </a:solidFill>
                        </a:rPr>
                        <a:t>17.7ms</a:t>
                      </a:r>
                    </a:p>
                  </a:txBody>
                  <a:tcPr anchor="ctr"/>
                </a:tc>
                <a:extLst>
                  <a:ext uri="{0D108BD9-81ED-4DB2-BD59-A6C34878D82A}">
                    <a16:rowId xmlns:a16="http://schemas.microsoft.com/office/drawing/2014/main" val="4188287029"/>
                  </a:ext>
                </a:extLst>
              </a:tr>
              <a:tr h="370840">
                <a:tc>
                  <a:txBody>
                    <a:bodyPr/>
                    <a:lstStyle/>
                    <a:p>
                      <a:pPr algn="l"/>
                      <a:r>
                        <a:rPr lang="en-US" b="1" dirty="0"/>
                        <a:t>text-embedding-3-large</a:t>
                      </a:r>
                    </a:p>
                  </a:txBody>
                  <a:tcPr anchor="ctr"/>
                </a:tc>
                <a:tc>
                  <a:txBody>
                    <a:bodyPr/>
                    <a:lstStyle/>
                    <a:p>
                      <a:pPr algn="ctr"/>
                      <a:r>
                        <a:rPr lang="en-US" dirty="0"/>
                        <a:t>0.751</a:t>
                      </a:r>
                      <a:endParaRPr lang="en-US" i="0" dirty="0"/>
                    </a:p>
                  </a:txBody>
                  <a:tcPr anchor="ctr"/>
                </a:tc>
                <a:tc>
                  <a:txBody>
                    <a:bodyPr/>
                    <a:lstStyle/>
                    <a:p>
                      <a:pPr algn="ctr"/>
                      <a:r>
                        <a:rPr lang="en-US" dirty="0"/>
                        <a:t>0.728</a:t>
                      </a:r>
                      <a:endParaRPr lang="en-US" i="0" dirty="0"/>
                    </a:p>
                  </a:txBody>
                  <a:tcPr anchor="ctr"/>
                </a:tc>
                <a:tc>
                  <a:txBody>
                    <a:bodyPr/>
                    <a:lstStyle/>
                    <a:p>
                      <a:pPr algn="ctr"/>
                      <a:r>
                        <a:rPr lang="en-US" dirty="0"/>
                        <a:t>0.728</a:t>
                      </a:r>
                      <a:endParaRPr lang="en-US" i="0" dirty="0"/>
                    </a:p>
                  </a:txBody>
                  <a:tcPr anchor="ctr"/>
                </a:tc>
                <a:tc>
                  <a:txBody>
                    <a:bodyPr/>
                    <a:lstStyle/>
                    <a:p>
                      <a:pPr algn="ctr"/>
                      <a:r>
                        <a:rPr lang="en-US" dirty="0"/>
                        <a:t>0.728</a:t>
                      </a:r>
                      <a:endParaRPr lang="en-US" i="0" dirty="0"/>
                    </a:p>
                  </a:txBody>
                  <a:tcPr anchor="ctr"/>
                </a:tc>
                <a:tc>
                  <a:txBody>
                    <a:bodyPr/>
                    <a:lstStyle/>
                    <a:p>
                      <a:pPr algn="r"/>
                      <a:r>
                        <a:rPr lang="en-US" dirty="0"/>
                        <a:t>Network:161.7ms</a:t>
                      </a:r>
                    </a:p>
                    <a:p>
                      <a:pPr algn="r"/>
                      <a:r>
                        <a:rPr lang="en-US" dirty="0"/>
                        <a:t>FAISS search: 86.1ms </a:t>
                      </a:r>
                    </a:p>
                  </a:txBody>
                  <a:tcPr anchor="ctr"/>
                </a:tc>
                <a:extLst>
                  <a:ext uri="{0D108BD9-81ED-4DB2-BD59-A6C34878D82A}">
                    <a16:rowId xmlns:a16="http://schemas.microsoft.com/office/drawing/2014/main" val="3682947584"/>
                  </a:ext>
                </a:extLst>
              </a:tr>
              <a:tr h="370840">
                <a:tc>
                  <a:txBody>
                    <a:bodyPr/>
                    <a:lstStyle/>
                    <a:p>
                      <a:pPr algn="l"/>
                      <a:r>
                        <a:rPr lang="en-US" b="1" dirty="0"/>
                        <a:t>Nomic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0.712</a:t>
                      </a:r>
                      <a:endParaRPr lang="en-US" i="0" dirty="0"/>
                    </a:p>
                  </a:txBody>
                  <a:tcPr anchor="ctr"/>
                </a:tc>
                <a:tc>
                  <a:txBody>
                    <a:bodyPr/>
                    <a:lstStyle/>
                    <a:p>
                      <a:pPr algn="ctr"/>
                      <a:r>
                        <a:rPr lang="en-US" dirty="0"/>
                        <a:t>0.684</a:t>
                      </a:r>
                      <a:endParaRPr lang="en-US" i="0" dirty="0"/>
                    </a:p>
                  </a:txBody>
                  <a:tcPr anchor="ctr"/>
                </a:tc>
                <a:tc>
                  <a:txBody>
                    <a:bodyPr/>
                    <a:lstStyle/>
                    <a:p>
                      <a:pPr algn="ctr"/>
                      <a:r>
                        <a:rPr lang="en-US" dirty="0"/>
                        <a:t>0.684</a:t>
                      </a:r>
                      <a:endParaRPr lang="en-US" i="0" dirty="0"/>
                    </a:p>
                  </a:txBody>
                  <a:tcPr anchor="ctr"/>
                </a:tc>
                <a:tc>
                  <a:txBody>
                    <a:bodyPr/>
                    <a:lstStyle/>
                    <a:p>
                      <a:pPr algn="ctr"/>
                      <a:r>
                        <a:rPr lang="en-US" dirty="0"/>
                        <a:t>0.684</a:t>
                      </a:r>
                      <a:endParaRPr lang="en-US" i="0" dirty="0"/>
                    </a:p>
                  </a:txBody>
                  <a:tcPr anchor="ctr"/>
                </a:tc>
                <a:tc>
                  <a:txBody>
                    <a:bodyPr/>
                    <a:lstStyle/>
                    <a:p>
                      <a:pPr algn="r"/>
                      <a:r>
                        <a:rPr lang="en-US" dirty="0"/>
                        <a:t>34.4ms</a:t>
                      </a:r>
                    </a:p>
                  </a:txBody>
                  <a:tcPr anchor="ctr"/>
                </a:tc>
                <a:extLst>
                  <a:ext uri="{0D108BD9-81ED-4DB2-BD59-A6C34878D82A}">
                    <a16:rowId xmlns:a16="http://schemas.microsoft.com/office/drawing/2014/main" val="1675035009"/>
                  </a:ext>
                </a:extLst>
              </a:tr>
            </a:tbl>
          </a:graphicData>
        </a:graphic>
      </p:graphicFrame>
      <p:sp>
        <p:nvSpPr>
          <p:cNvPr id="4" name="Date Placeholder 3">
            <a:extLst>
              <a:ext uri="{FF2B5EF4-FFF2-40B4-BE49-F238E27FC236}">
                <a16:creationId xmlns:a16="http://schemas.microsoft.com/office/drawing/2014/main" id="{17806436-E66A-5080-2FB6-B69716A8E77F}"/>
              </a:ext>
            </a:extLst>
          </p:cNvPr>
          <p:cNvSpPr>
            <a:spLocks noGrp="1"/>
          </p:cNvSpPr>
          <p:nvPr>
            <p:ph type="dt" sz="half" idx="10"/>
          </p:nvPr>
        </p:nvSpPr>
        <p:spPr/>
        <p:txBody>
          <a:bodyPr/>
          <a:lstStyle/>
          <a:p>
            <a:fld id="{4B9484E0-EA99-6E40-9BD0-550CD26F6E0B}" type="datetime1">
              <a:rPr lang="en-US" smtClean="0">
                <a:latin typeface="Calibri" panose="020F0502020204030204" pitchFamily="34" charset="0"/>
                <a:cs typeface="Calibri" panose="020F0502020204030204" pitchFamily="34" charset="0"/>
              </a:rPr>
              <a:t>6/3/26</a:t>
            </a:fld>
            <a:endParaRPr lang="en-US">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718ED16E-447A-5F2E-0B4C-894A4B05C7E7}"/>
              </a:ext>
            </a:extLst>
          </p:cNvPr>
          <p:cNvSpPr>
            <a:spLocks noGrp="1"/>
          </p:cNvSpPr>
          <p:nvPr>
            <p:ph type="sldNum" sz="quarter" idx="12"/>
          </p:nvPr>
        </p:nvSpPr>
        <p:spPr/>
        <p:txBody>
          <a:bodyPr/>
          <a:lstStyle/>
          <a:p>
            <a:fld id="{9918A6A5-4FFB-434A-A92F-4AE444D35066}" type="slidenum">
              <a:rPr lang="en-US" smtClean="0">
                <a:latin typeface="Calibri" panose="020F0502020204030204" pitchFamily="34" charset="0"/>
                <a:cs typeface="Calibri" panose="020F0502020204030204" pitchFamily="34" charset="0"/>
              </a:rPr>
              <a:t>2</a:t>
            </a:fld>
            <a:endParaRPr lang="en-US">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6DC9DF73-7999-836D-C797-B54CB9650437}"/>
              </a:ext>
            </a:extLst>
          </p:cNvPr>
          <p:cNvSpPr txBox="1"/>
          <p:nvPr/>
        </p:nvSpPr>
        <p:spPr>
          <a:xfrm>
            <a:off x="2103383" y="4998402"/>
            <a:ext cx="7985234" cy="369332"/>
          </a:xfrm>
          <a:prstGeom prst="rect">
            <a:avLst/>
          </a:prstGeom>
          <a:noFill/>
        </p:spPr>
        <p:txBody>
          <a:bodyPr wrap="square" rtlCol="0">
            <a:spAutoFit/>
          </a:bodyPr>
          <a:lstStyle/>
          <a:p>
            <a:pPr algn="just"/>
            <a:r>
              <a:rPr lang="en-US" dirty="0">
                <a:solidFill>
                  <a:srgbClr val="FF0000"/>
                </a:solidFill>
                <a:latin typeface="Calibri" panose="020F0502020204030204" pitchFamily="34" charset="0"/>
                <a:cs typeface="Calibri" panose="020F0502020204030204" pitchFamily="34" charset="0"/>
              </a:rPr>
              <a:t>* results are better when </a:t>
            </a:r>
            <a:r>
              <a:rPr lang="en-US" b="1" i="1" dirty="0">
                <a:solidFill>
                  <a:srgbClr val="FF0000"/>
                </a:solidFill>
                <a:latin typeface="Calibri" panose="020F0502020204030204" pitchFamily="34" charset="0"/>
                <a:cs typeface="Calibri" panose="020F0502020204030204" pitchFamily="34" charset="0"/>
              </a:rPr>
              <a:t>all fields</a:t>
            </a:r>
            <a:r>
              <a:rPr lang="en-US" b="1" dirty="0">
                <a:solidFill>
                  <a:srgbClr val="FF0000"/>
                </a:solidFill>
                <a:latin typeface="Calibri" panose="020F0502020204030204" pitchFamily="34" charset="0"/>
                <a:cs typeface="Calibri" panose="020F0502020204030204" pitchFamily="34" charset="0"/>
              </a:rPr>
              <a:t> </a:t>
            </a:r>
            <a:r>
              <a:rPr lang="en-US" dirty="0">
                <a:solidFill>
                  <a:srgbClr val="FF0000"/>
                </a:solidFill>
                <a:latin typeface="Calibri" panose="020F0502020204030204" pitchFamily="34" charset="0"/>
                <a:cs typeface="Calibri" panose="020F0502020204030204" pitchFamily="34" charset="0"/>
              </a:rPr>
              <a:t>are considered instead of just </a:t>
            </a:r>
            <a:r>
              <a:rPr lang="en-US" b="1" i="1" dirty="0">
                <a:solidFill>
                  <a:srgbClr val="FF0000"/>
                </a:solidFill>
                <a:latin typeface="Calibri" panose="020F0502020204030204" pitchFamily="34" charset="0"/>
                <a:cs typeface="Calibri" panose="020F0502020204030204" pitchFamily="34" charset="0"/>
              </a:rPr>
              <a:t>summary</a:t>
            </a:r>
          </a:p>
        </p:txBody>
      </p:sp>
    </p:spTree>
    <p:extLst>
      <p:ext uri="{BB962C8B-B14F-4D97-AF65-F5344CB8AC3E}">
        <p14:creationId xmlns:p14="http://schemas.microsoft.com/office/powerpoint/2010/main" val="2267434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EEA6-986E-40D1-7509-B5684E1A34E6}"/>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21E1B510-56A4-5862-A853-D54F8176923A}"/>
              </a:ext>
            </a:extLst>
          </p:cNvPr>
          <p:cNvSpPr txBox="1"/>
          <p:nvPr/>
        </p:nvSpPr>
        <p:spPr>
          <a:xfrm>
            <a:off x="2722344" y="4998402"/>
            <a:ext cx="6747312" cy="369332"/>
          </a:xfrm>
          <a:prstGeom prst="rect">
            <a:avLst/>
          </a:prstGeom>
          <a:noFill/>
        </p:spPr>
        <p:txBody>
          <a:bodyPr wrap="square" rtlCol="0">
            <a:spAutoFit/>
          </a:bodyPr>
          <a:lstStyle/>
          <a:p>
            <a:pPr algn="just"/>
            <a:r>
              <a:rPr lang="en-US" dirty="0">
                <a:solidFill>
                  <a:srgbClr val="FF0000"/>
                </a:solidFill>
                <a:latin typeface="Calibri" panose="020F0502020204030204" pitchFamily="34" charset="0"/>
                <a:cs typeface="Calibri" panose="020F0502020204030204" pitchFamily="34" charset="0"/>
              </a:rPr>
              <a:t>*</a:t>
            </a:r>
            <a:r>
              <a:rPr lang="en-US" b="1" i="1" dirty="0">
                <a:solidFill>
                  <a:srgbClr val="FF0000"/>
                </a:solidFill>
                <a:latin typeface="Calibri" panose="020F0502020204030204" pitchFamily="34" charset="0"/>
                <a:cs typeface="Calibri" panose="020F0502020204030204" pitchFamily="34" charset="0"/>
              </a:rPr>
              <a:t>k=50 &amp; 10</a:t>
            </a:r>
            <a:r>
              <a:rPr lang="en-US" dirty="0">
                <a:solidFill>
                  <a:srgbClr val="FF0000"/>
                </a:solidFill>
                <a:latin typeface="Calibri" panose="020F0502020204030204" pitchFamily="34" charset="0"/>
                <a:cs typeface="Calibri" panose="020F0502020204030204" pitchFamily="34" charset="0"/>
              </a:rPr>
              <a:t> is </a:t>
            </a:r>
            <a:r>
              <a:rPr lang="en-US" b="1" dirty="0">
                <a:solidFill>
                  <a:srgbClr val="FF0000"/>
                </a:solidFill>
                <a:latin typeface="Calibri" panose="020F0502020204030204" pitchFamily="34" charset="0"/>
                <a:cs typeface="Calibri" panose="020F0502020204030204" pitchFamily="34" charset="0"/>
              </a:rPr>
              <a:t>&lt;0.23 </a:t>
            </a:r>
            <a:r>
              <a:rPr lang="en-US" i="1" dirty="0">
                <a:solidFill>
                  <a:srgbClr val="FF0000"/>
                </a:solidFill>
                <a:latin typeface="Calibri" panose="020F0502020204030204" pitchFamily="34" charset="0"/>
                <a:cs typeface="Calibri" panose="020F0502020204030204" pitchFamily="34" charset="0"/>
              </a:rPr>
              <a:t>(for all methods)</a:t>
            </a:r>
            <a:r>
              <a:rPr lang="en-US" dirty="0">
                <a:solidFill>
                  <a:srgbClr val="FF0000"/>
                </a:solidFill>
                <a:latin typeface="Calibri" panose="020F0502020204030204" pitchFamily="34" charset="0"/>
                <a:cs typeface="Calibri" panose="020F0502020204030204" pitchFamily="34" charset="0"/>
              </a:rPr>
              <a:t>, needs </a:t>
            </a:r>
            <a:r>
              <a:rPr lang="en-US" b="1" i="1" dirty="0">
                <a:solidFill>
                  <a:srgbClr val="FF0000"/>
                </a:solidFill>
                <a:latin typeface="Calibri" panose="020F0502020204030204" pitchFamily="34" charset="0"/>
                <a:cs typeface="Calibri" panose="020F0502020204030204" pitchFamily="34" charset="0"/>
              </a:rPr>
              <a:t>fine tuning</a:t>
            </a:r>
            <a:r>
              <a:rPr lang="en-US" dirty="0">
                <a:solidFill>
                  <a:srgbClr val="FF0000"/>
                </a:solidFill>
                <a:latin typeface="Calibri" panose="020F0502020204030204" pitchFamily="34" charset="0"/>
                <a:cs typeface="Calibri" panose="020F0502020204030204" pitchFamily="34" charset="0"/>
              </a:rPr>
              <a:t> and </a:t>
            </a:r>
            <a:r>
              <a:rPr lang="en-US" b="1" i="1" dirty="0">
                <a:solidFill>
                  <a:srgbClr val="FF0000"/>
                </a:solidFill>
                <a:latin typeface="Calibri" panose="020F0502020204030204" pitchFamily="34" charset="0"/>
                <a:cs typeface="Calibri" panose="020F0502020204030204" pitchFamily="34" charset="0"/>
              </a:rPr>
              <a:t>reranking</a:t>
            </a:r>
          </a:p>
        </p:txBody>
      </p:sp>
      <p:sp>
        <p:nvSpPr>
          <p:cNvPr id="2" name="Title 1">
            <a:extLst>
              <a:ext uri="{FF2B5EF4-FFF2-40B4-BE49-F238E27FC236}">
                <a16:creationId xmlns:a16="http://schemas.microsoft.com/office/drawing/2014/main" id="{0B41B279-41C2-09DD-1686-F60F343BF84C}"/>
              </a:ext>
            </a:extLst>
          </p:cNvPr>
          <p:cNvSpPr>
            <a:spLocks noGrp="1"/>
          </p:cNvSpPr>
          <p:nvPr>
            <p:ph type="title"/>
          </p:nvPr>
        </p:nvSpPr>
        <p:spPr>
          <a:xfrm>
            <a:off x="838200" y="365125"/>
            <a:ext cx="10515600" cy="1325563"/>
          </a:xfrm>
        </p:spPr>
        <p:txBody>
          <a:bodyPr>
            <a:normAutofit/>
          </a:bodyPr>
          <a:lstStyle/>
          <a:p>
            <a:r>
              <a:rPr lang="en-US" sz="4000" b="1" dirty="0">
                <a:latin typeface="Calibri" panose="020F0502020204030204" pitchFamily="34" charset="0"/>
                <a:cs typeface="Calibri" panose="020F0502020204030204" pitchFamily="34" charset="0"/>
              </a:rPr>
              <a:t>Baseline - BM25 + 4 Embedding Models </a:t>
            </a:r>
            <a:r>
              <a:rPr lang="en-US" sz="2800" b="1" dirty="0">
                <a:latin typeface="Calibri" panose="020F0502020204030204" pitchFamily="34" charset="0"/>
                <a:cs typeface="Calibri" panose="020F0502020204030204" pitchFamily="34" charset="0"/>
              </a:rPr>
              <a:t>(k=500, 100)</a:t>
            </a:r>
            <a:endParaRPr lang="en-US" sz="4000" b="1" dirty="0">
              <a:latin typeface="Calibri" panose="020F0502020204030204" pitchFamily="34" charset="0"/>
              <a:cs typeface="Calibri" panose="020F0502020204030204" pitchFamily="34" charset="0"/>
            </a:endParaRPr>
          </a:p>
        </p:txBody>
      </p:sp>
      <p:sp>
        <p:nvSpPr>
          <p:cNvPr id="4" name="Date Placeholder 3">
            <a:extLst>
              <a:ext uri="{FF2B5EF4-FFF2-40B4-BE49-F238E27FC236}">
                <a16:creationId xmlns:a16="http://schemas.microsoft.com/office/drawing/2014/main" id="{1027217A-31BC-7BC1-E841-242BBFBF55C8}"/>
              </a:ext>
            </a:extLst>
          </p:cNvPr>
          <p:cNvSpPr>
            <a:spLocks noGrp="1"/>
          </p:cNvSpPr>
          <p:nvPr>
            <p:ph type="dt" sz="half" idx="10"/>
          </p:nvPr>
        </p:nvSpPr>
        <p:spPr/>
        <p:txBody>
          <a:bodyPr/>
          <a:lstStyle/>
          <a:p>
            <a:fld id="{4B9484E0-EA99-6E40-9BD0-550CD26F6E0B}" type="datetime1">
              <a:rPr lang="en-US" smtClean="0">
                <a:latin typeface="Calibri" panose="020F0502020204030204" pitchFamily="34" charset="0"/>
                <a:cs typeface="Calibri" panose="020F0502020204030204" pitchFamily="34" charset="0"/>
              </a:rPr>
              <a:t>6/3/26</a:t>
            </a:fld>
            <a:endParaRPr lang="en-US"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1C0AC4D5-8399-2BD1-FCAF-F0AA887771E4}"/>
              </a:ext>
            </a:extLst>
          </p:cNvPr>
          <p:cNvSpPr>
            <a:spLocks noGrp="1"/>
          </p:cNvSpPr>
          <p:nvPr>
            <p:ph type="sldNum" sz="quarter" idx="12"/>
          </p:nvPr>
        </p:nvSpPr>
        <p:spPr/>
        <p:txBody>
          <a:bodyPr/>
          <a:lstStyle/>
          <a:p>
            <a:fld id="{9918A6A5-4FFB-434A-A92F-4AE444D35066}" type="slidenum">
              <a:rPr lang="en-US" smtClean="0">
                <a:latin typeface="Calibri" panose="020F0502020204030204" pitchFamily="34" charset="0"/>
                <a:cs typeface="Calibri" panose="020F0502020204030204" pitchFamily="34" charset="0"/>
              </a:rPr>
              <a:t>3</a:t>
            </a:fld>
            <a:endParaRPr lang="en-US">
              <a:latin typeface="Calibri" panose="020F0502020204030204" pitchFamily="34" charset="0"/>
              <a:cs typeface="Calibri" panose="020F0502020204030204" pitchFamily="34" charset="0"/>
            </a:endParaRPr>
          </a:p>
        </p:txBody>
      </p:sp>
      <p:graphicFrame>
        <p:nvGraphicFramePr>
          <p:cNvPr id="9" name="Content Placeholder 6">
            <a:extLst>
              <a:ext uri="{FF2B5EF4-FFF2-40B4-BE49-F238E27FC236}">
                <a16:creationId xmlns:a16="http://schemas.microsoft.com/office/drawing/2014/main" id="{BC7C29DB-1FF8-586B-96A1-5F6BCA341B5C}"/>
              </a:ext>
            </a:extLst>
          </p:cNvPr>
          <p:cNvGraphicFramePr>
            <a:graphicFrameLocks/>
          </p:cNvGraphicFramePr>
          <p:nvPr>
            <p:extLst>
              <p:ext uri="{D42A27DB-BD31-4B8C-83A1-F6EECF244321}">
                <p14:modId xmlns:p14="http://schemas.microsoft.com/office/powerpoint/2010/main" val="740229207"/>
              </p:ext>
            </p:extLst>
          </p:nvPr>
        </p:nvGraphicFramePr>
        <p:xfrm>
          <a:off x="838200" y="1690688"/>
          <a:ext cx="10922418" cy="2763520"/>
        </p:xfrm>
        <a:graphic>
          <a:graphicData uri="http://schemas.openxmlformats.org/drawingml/2006/table">
            <a:tbl>
              <a:tblPr firstRow="1" bandRow="1">
                <a:tableStyleId>{C4B1156A-380E-4F78-BDF5-A606A8083BF9}</a:tableStyleId>
              </a:tblPr>
              <a:tblGrid>
                <a:gridCol w="2013816">
                  <a:extLst>
                    <a:ext uri="{9D8B030D-6E8A-4147-A177-3AD203B41FA5}">
                      <a16:colId xmlns:a16="http://schemas.microsoft.com/office/drawing/2014/main" val="2738875573"/>
                    </a:ext>
                  </a:extLst>
                </a:gridCol>
                <a:gridCol w="1237092">
                  <a:extLst>
                    <a:ext uri="{9D8B030D-6E8A-4147-A177-3AD203B41FA5}">
                      <a16:colId xmlns:a16="http://schemas.microsoft.com/office/drawing/2014/main" val="642727418"/>
                    </a:ext>
                  </a:extLst>
                </a:gridCol>
                <a:gridCol w="1176575">
                  <a:extLst>
                    <a:ext uri="{9D8B030D-6E8A-4147-A177-3AD203B41FA5}">
                      <a16:colId xmlns:a16="http://schemas.microsoft.com/office/drawing/2014/main" val="1402106019"/>
                    </a:ext>
                  </a:extLst>
                </a:gridCol>
                <a:gridCol w="979381">
                  <a:extLst>
                    <a:ext uri="{9D8B030D-6E8A-4147-A177-3AD203B41FA5}">
                      <a16:colId xmlns:a16="http://schemas.microsoft.com/office/drawing/2014/main" val="1992137792"/>
                    </a:ext>
                  </a:extLst>
                </a:gridCol>
                <a:gridCol w="1077978">
                  <a:extLst>
                    <a:ext uri="{9D8B030D-6E8A-4147-A177-3AD203B41FA5}">
                      <a16:colId xmlns:a16="http://schemas.microsoft.com/office/drawing/2014/main" val="1988334267"/>
                    </a:ext>
                  </a:extLst>
                </a:gridCol>
                <a:gridCol w="1077978">
                  <a:extLst>
                    <a:ext uri="{9D8B030D-6E8A-4147-A177-3AD203B41FA5}">
                      <a16:colId xmlns:a16="http://schemas.microsoft.com/office/drawing/2014/main" val="1396480155"/>
                    </a:ext>
                  </a:extLst>
                </a:gridCol>
                <a:gridCol w="1203642">
                  <a:extLst>
                    <a:ext uri="{9D8B030D-6E8A-4147-A177-3AD203B41FA5}">
                      <a16:colId xmlns:a16="http://schemas.microsoft.com/office/drawing/2014/main" val="4261984316"/>
                    </a:ext>
                  </a:extLst>
                </a:gridCol>
                <a:gridCol w="1077978">
                  <a:extLst>
                    <a:ext uri="{9D8B030D-6E8A-4147-A177-3AD203B41FA5}">
                      <a16:colId xmlns:a16="http://schemas.microsoft.com/office/drawing/2014/main" val="2540366851"/>
                    </a:ext>
                  </a:extLst>
                </a:gridCol>
                <a:gridCol w="1077978">
                  <a:extLst>
                    <a:ext uri="{9D8B030D-6E8A-4147-A177-3AD203B41FA5}">
                      <a16:colId xmlns:a16="http://schemas.microsoft.com/office/drawing/2014/main" val="961887914"/>
                    </a:ext>
                  </a:extLst>
                </a:gridCol>
              </a:tblGrid>
              <a:tr h="370840">
                <a:tc>
                  <a:txBody>
                    <a:bodyPr/>
                    <a:lstStyle/>
                    <a:p>
                      <a:pPr algn="ctr"/>
                      <a:r>
                        <a:rPr lang="en-US" b="1" dirty="0"/>
                        <a:t>Method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NDCG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@500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Precision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@500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Recall@500</a:t>
                      </a:r>
                    </a:p>
                  </a:txBody>
                  <a:tcPr anchor="ctr"/>
                </a:tc>
                <a:tc>
                  <a:txBody>
                    <a:bodyPr/>
                    <a:lstStyle/>
                    <a:p>
                      <a:pPr algn="ctr"/>
                      <a:r>
                        <a:rPr lang="en-US" dirty="0"/>
                        <a:t>F1</a:t>
                      </a:r>
                    </a:p>
                    <a:p>
                      <a:pPr algn="ctr"/>
                      <a:r>
                        <a:rPr lang="en-US" dirty="0"/>
                        <a:t>@500</a:t>
                      </a:r>
                    </a:p>
                  </a:txBody>
                  <a:tcPr anchor="ctr"/>
                </a:tc>
                <a:tc>
                  <a:txBody>
                    <a:bodyPr/>
                    <a:lstStyle/>
                    <a:p>
                      <a:pPr algn="ctr"/>
                      <a:r>
                        <a:rPr lang="en-US" dirty="0"/>
                        <a:t>NDCG</a:t>
                      </a:r>
                    </a:p>
                    <a:p>
                      <a:pPr algn="ctr"/>
                      <a:r>
                        <a:rPr lang="en-US" dirty="0"/>
                        <a:t>@100</a:t>
                      </a:r>
                    </a:p>
                  </a:txBody>
                  <a:tcPr anchor="ctr"/>
                </a:tc>
                <a:tc>
                  <a:txBody>
                    <a:bodyPr/>
                    <a:lstStyle/>
                    <a:p>
                      <a:pPr algn="ctr"/>
                      <a:r>
                        <a:rPr lang="en-US" dirty="0"/>
                        <a:t>Precision</a:t>
                      </a:r>
                    </a:p>
                    <a:p>
                      <a:pPr algn="ctr"/>
                      <a:r>
                        <a:rPr lang="en-US" dirty="0"/>
                        <a:t>@100</a:t>
                      </a:r>
                    </a:p>
                  </a:txBody>
                  <a:tcPr anchor="ctr"/>
                </a:tc>
                <a:tc>
                  <a:txBody>
                    <a:bodyPr/>
                    <a:lstStyle/>
                    <a:p>
                      <a:pPr algn="ctr"/>
                      <a:r>
                        <a:rPr lang="en-US" dirty="0"/>
                        <a:t>Recall</a:t>
                      </a:r>
                    </a:p>
                    <a:p>
                      <a:pPr algn="ctr"/>
                      <a:r>
                        <a:rPr lang="en-US" dirty="0"/>
                        <a:t>@100</a:t>
                      </a:r>
                    </a:p>
                  </a:txBody>
                  <a:tcPr anchor="ctr"/>
                </a:tc>
                <a:tc>
                  <a:txBody>
                    <a:bodyPr/>
                    <a:lstStyle/>
                    <a:p>
                      <a:pPr algn="ctr"/>
                      <a:r>
                        <a:rPr lang="en-US" dirty="0"/>
                        <a:t>F1</a:t>
                      </a:r>
                    </a:p>
                    <a:p>
                      <a:pPr algn="ctr"/>
                      <a:r>
                        <a:rPr lang="en-US" dirty="0"/>
                        <a:t>@100</a:t>
                      </a:r>
                    </a:p>
                  </a:txBody>
                  <a:tcPr anchor="ctr"/>
                </a:tc>
                <a:extLst>
                  <a:ext uri="{0D108BD9-81ED-4DB2-BD59-A6C34878D82A}">
                    <a16:rowId xmlns:a16="http://schemas.microsoft.com/office/drawing/2014/main" val="1622018660"/>
                  </a:ext>
                </a:extLst>
              </a:tr>
              <a:tr h="370840">
                <a:tc>
                  <a:txBody>
                    <a:bodyPr/>
                    <a:lstStyle/>
                    <a:p>
                      <a:pPr algn="l"/>
                      <a:r>
                        <a:rPr lang="en-US" b="1" dirty="0"/>
                        <a:t>BM25 </a:t>
                      </a:r>
                    </a:p>
                  </a:txBody>
                  <a:tcPr anchor="ctr"/>
                </a:tc>
                <a:tc>
                  <a:txBody>
                    <a:bodyPr/>
                    <a:lstStyle/>
                    <a:p>
                      <a:pPr algn="ctr"/>
                      <a:r>
                        <a:rPr lang="en-US" dirty="0"/>
                        <a:t>0.723 </a:t>
                      </a:r>
                      <a:endParaRPr lang="en-US" i="0" dirty="0"/>
                    </a:p>
                  </a:txBody>
                  <a:tcPr anchor="ctr"/>
                </a:tc>
                <a:tc>
                  <a:txBody>
                    <a:bodyPr/>
                    <a:lstStyle/>
                    <a:p>
                      <a:pPr algn="ctr"/>
                      <a:r>
                        <a:rPr lang="en-US" dirty="0"/>
                        <a:t>0.715</a:t>
                      </a:r>
                      <a:endParaRPr lang="en-US" i="0" dirty="0"/>
                    </a:p>
                  </a:txBody>
                  <a:tcPr anchor="ctr"/>
                </a:tc>
                <a:tc>
                  <a:txBody>
                    <a:bodyPr/>
                    <a:lstStyle/>
                    <a:p>
                      <a:pPr algn="ctr"/>
                      <a:r>
                        <a:rPr lang="en-US" dirty="0"/>
                        <a:t>0.357 </a:t>
                      </a:r>
                      <a:endParaRPr lang="en-US" i="0" dirty="0"/>
                    </a:p>
                  </a:txBody>
                  <a:tcPr anchor="ctr"/>
                </a:tc>
                <a:tc>
                  <a:txBody>
                    <a:bodyPr/>
                    <a:lstStyle/>
                    <a:p>
                      <a:pPr algn="ctr"/>
                      <a:r>
                        <a:rPr lang="en-US" dirty="0"/>
                        <a:t>0.476</a:t>
                      </a:r>
                      <a:endParaRPr lang="en-US" i="0" dirty="0"/>
                    </a:p>
                  </a:txBody>
                  <a:tcPr anchor="ctr"/>
                </a:tc>
                <a:tc>
                  <a:txBody>
                    <a:bodyPr/>
                    <a:lstStyle/>
                    <a:p>
                      <a:pPr algn="ctr"/>
                      <a:r>
                        <a:rPr lang="en-US" dirty="0"/>
                        <a:t>0.744</a:t>
                      </a:r>
                      <a:endParaRPr lang="en-US" i="0" dirty="0"/>
                    </a:p>
                  </a:txBody>
                  <a:tcPr anchor="ctr"/>
                </a:tc>
                <a:tc>
                  <a:txBody>
                    <a:bodyPr/>
                    <a:lstStyle/>
                    <a:p>
                      <a:pPr algn="ctr"/>
                      <a:r>
                        <a:rPr lang="en-US" dirty="0"/>
                        <a:t>0.723</a:t>
                      </a:r>
                      <a:endParaRPr lang="en-US" i="0" dirty="0"/>
                    </a:p>
                  </a:txBody>
                  <a:tcPr anchor="ctr"/>
                </a:tc>
                <a:tc>
                  <a:txBody>
                    <a:bodyPr/>
                    <a:lstStyle/>
                    <a:p>
                      <a:pPr algn="ctr"/>
                      <a:r>
                        <a:rPr lang="en-US" dirty="0"/>
                        <a:t>0.072</a:t>
                      </a:r>
                      <a:endParaRPr lang="en-US" i="0" dirty="0"/>
                    </a:p>
                  </a:txBody>
                  <a:tcPr anchor="ctr"/>
                </a:tc>
                <a:tc>
                  <a:txBody>
                    <a:bodyPr/>
                    <a:lstStyle/>
                    <a:p>
                      <a:pPr algn="ctr"/>
                      <a:r>
                        <a:rPr lang="en-US" dirty="0"/>
                        <a:t>0.131</a:t>
                      </a:r>
                      <a:endParaRPr lang="en-US" i="0" dirty="0"/>
                    </a:p>
                  </a:txBody>
                  <a:tcPr anchor="ctr"/>
                </a:tc>
                <a:extLst>
                  <a:ext uri="{0D108BD9-81ED-4DB2-BD59-A6C34878D82A}">
                    <a16:rowId xmlns:a16="http://schemas.microsoft.com/office/drawing/2014/main" val="1386733963"/>
                  </a:ext>
                </a:extLst>
              </a:tr>
              <a:tr h="370840">
                <a:tc>
                  <a:txBody>
                    <a:bodyPr/>
                    <a:lstStyle/>
                    <a:p>
                      <a:pPr algn="l"/>
                      <a:r>
                        <a:rPr lang="en-US" b="1" dirty="0"/>
                        <a:t>BGE</a:t>
                      </a:r>
                    </a:p>
                  </a:txBody>
                  <a:tcPr anchor="ctr"/>
                </a:tc>
                <a:tc>
                  <a:txBody>
                    <a:bodyPr/>
                    <a:lstStyle/>
                    <a:p>
                      <a:pPr algn="ctr"/>
                      <a:r>
                        <a:rPr lang="en-US" dirty="0"/>
                        <a:t>0.854</a:t>
                      </a:r>
                      <a:endParaRPr lang="en-US" i="0" dirty="0"/>
                    </a:p>
                  </a:txBody>
                  <a:tcPr anchor="ctr"/>
                </a:tc>
                <a:tc>
                  <a:txBody>
                    <a:bodyPr/>
                    <a:lstStyle/>
                    <a:p>
                      <a:pPr algn="ctr"/>
                      <a:r>
                        <a:rPr lang="en-US" dirty="0"/>
                        <a:t>0.842</a:t>
                      </a:r>
                      <a:endParaRPr lang="en-US" i="0" dirty="0"/>
                    </a:p>
                  </a:txBody>
                  <a:tcPr anchor="ctr"/>
                </a:tc>
                <a:tc>
                  <a:txBody>
                    <a:bodyPr/>
                    <a:lstStyle/>
                    <a:p>
                      <a:pPr algn="ctr"/>
                      <a:r>
                        <a:rPr lang="en-US" dirty="0"/>
                        <a:t>0.421</a:t>
                      </a:r>
                      <a:endParaRPr lang="en-US" i="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0.562</a:t>
                      </a:r>
                    </a:p>
                  </a:txBody>
                  <a:tcPr anchor="ctr"/>
                </a:tc>
                <a:tc>
                  <a:txBody>
                    <a:bodyPr/>
                    <a:lstStyle/>
                    <a:p>
                      <a:pPr algn="ctr"/>
                      <a:r>
                        <a:rPr lang="en-US" dirty="0"/>
                        <a:t>0.914</a:t>
                      </a:r>
                      <a:endParaRPr lang="en-US" i="0" dirty="0"/>
                    </a:p>
                  </a:txBody>
                  <a:tcPr anchor="ctr"/>
                </a:tc>
                <a:tc>
                  <a:txBody>
                    <a:bodyPr/>
                    <a:lstStyle/>
                    <a:p>
                      <a:pPr algn="ctr"/>
                      <a:r>
                        <a:rPr lang="en-US" dirty="0"/>
                        <a:t>0.908</a:t>
                      </a:r>
                      <a:endParaRPr lang="en-US" i="0" dirty="0"/>
                    </a:p>
                  </a:txBody>
                  <a:tcPr anchor="ctr"/>
                </a:tc>
                <a:tc>
                  <a:txBody>
                    <a:bodyPr/>
                    <a:lstStyle/>
                    <a:p>
                      <a:pPr algn="ctr"/>
                      <a:r>
                        <a:rPr lang="en-US" dirty="0"/>
                        <a:t>0.091</a:t>
                      </a:r>
                      <a:endParaRPr lang="en-US" i="0" dirty="0"/>
                    </a:p>
                  </a:txBody>
                  <a:tcPr anchor="ctr"/>
                </a:tc>
                <a:tc>
                  <a:txBody>
                    <a:bodyPr/>
                    <a:lstStyle/>
                    <a:p>
                      <a:pPr algn="ctr"/>
                      <a:r>
                        <a:rPr lang="en-US" dirty="0"/>
                        <a:t>0.165</a:t>
                      </a:r>
                      <a:endParaRPr lang="en-US" i="0" dirty="0"/>
                    </a:p>
                  </a:txBody>
                  <a:tcPr anchor="ctr"/>
                </a:tc>
                <a:extLst>
                  <a:ext uri="{0D108BD9-81ED-4DB2-BD59-A6C34878D82A}">
                    <a16:rowId xmlns:a16="http://schemas.microsoft.com/office/drawing/2014/main" val="3712828818"/>
                  </a:ext>
                </a:extLst>
              </a:tr>
              <a:tr h="370840">
                <a:tc>
                  <a:txBody>
                    <a:bodyPr/>
                    <a:lstStyle/>
                    <a:p>
                      <a:pPr algn="l"/>
                      <a:r>
                        <a:rPr lang="en-US" b="1" dirty="0" err="1">
                          <a:solidFill>
                            <a:srgbClr val="00B050"/>
                          </a:solidFill>
                        </a:rPr>
                        <a:t>MiniLM</a:t>
                      </a:r>
                      <a:endParaRPr lang="en-US" b="1" dirty="0">
                        <a:solidFill>
                          <a:srgbClr val="00B050"/>
                        </a:solidFill>
                      </a:endParaRPr>
                    </a:p>
                  </a:txBody>
                  <a:tcPr anchor="ctr"/>
                </a:tc>
                <a:tc>
                  <a:txBody>
                    <a:bodyPr/>
                    <a:lstStyle/>
                    <a:p>
                      <a:pPr algn="ctr"/>
                      <a:r>
                        <a:rPr lang="en-US" b="1" dirty="0">
                          <a:solidFill>
                            <a:srgbClr val="00B050"/>
                          </a:solidFill>
                        </a:rPr>
                        <a:t>0.872</a:t>
                      </a:r>
                      <a:endParaRPr lang="en-US" b="1" i="0" dirty="0">
                        <a:solidFill>
                          <a:srgbClr val="00B050"/>
                        </a:solidFill>
                      </a:endParaRPr>
                    </a:p>
                  </a:txBody>
                  <a:tcPr anchor="ctr"/>
                </a:tc>
                <a:tc>
                  <a:txBody>
                    <a:bodyPr/>
                    <a:lstStyle/>
                    <a:p>
                      <a:pPr algn="ctr"/>
                      <a:r>
                        <a:rPr lang="en-US" b="1" dirty="0">
                          <a:solidFill>
                            <a:srgbClr val="00B050"/>
                          </a:solidFill>
                        </a:rPr>
                        <a:t>0.858</a:t>
                      </a:r>
                      <a:endParaRPr lang="en-US" b="1" i="0" dirty="0">
                        <a:solidFill>
                          <a:srgbClr val="00B050"/>
                        </a:solidFill>
                      </a:endParaRPr>
                    </a:p>
                  </a:txBody>
                  <a:tcPr anchor="ctr"/>
                </a:tc>
                <a:tc>
                  <a:txBody>
                    <a:bodyPr/>
                    <a:lstStyle/>
                    <a:p>
                      <a:pPr algn="ctr"/>
                      <a:r>
                        <a:rPr lang="en-US" b="1" dirty="0">
                          <a:solidFill>
                            <a:srgbClr val="00B050"/>
                          </a:solidFill>
                        </a:rPr>
                        <a:t>0.429</a:t>
                      </a:r>
                      <a:endParaRPr lang="en-US" b="1" i="0" dirty="0">
                        <a:solidFill>
                          <a:srgbClr val="00B050"/>
                        </a:solidFill>
                      </a:endParaRPr>
                    </a:p>
                  </a:txBody>
                  <a:tcPr anchor="ctr"/>
                </a:tc>
                <a:tc>
                  <a:txBody>
                    <a:bodyPr/>
                    <a:lstStyle/>
                    <a:p>
                      <a:pPr algn="ctr"/>
                      <a:r>
                        <a:rPr lang="en-US" b="1" dirty="0">
                          <a:solidFill>
                            <a:srgbClr val="00B050"/>
                          </a:solidFill>
                        </a:rPr>
                        <a:t>0.572</a:t>
                      </a:r>
                      <a:endParaRPr lang="en-US" b="1" i="0" dirty="0">
                        <a:solidFill>
                          <a:srgbClr val="00B050"/>
                        </a:solidFill>
                      </a:endParaRPr>
                    </a:p>
                  </a:txBody>
                  <a:tcPr anchor="ctr"/>
                </a:tc>
                <a:tc>
                  <a:txBody>
                    <a:bodyPr/>
                    <a:lstStyle/>
                    <a:p>
                      <a:pPr algn="ctr"/>
                      <a:r>
                        <a:rPr lang="en-US" b="1" dirty="0">
                          <a:solidFill>
                            <a:srgbClr val="00B050"/>
                          </a:solidFill>
                        </a:rPr>
                        <a:t>0.945</a:t>
                      </a:r>
                      <a:endParaRPr lang="en-US" b="1" i="0" dirty="0">
                        <a:solidFill>
                          <a:srgbClr val="00B050"/>
                        </a:solidFill>
                      </a:endParaRPr>
                    </a:p>
                  </a:txBody>
                  <a:tcPr anchor="ctr"/>
                </a:tc>
                <a:tc>
                  <a:txBody>
                    <a:bodyPr/>
                    <a:lstStyle/>
                    <a:p>
                      <a:pPr algn="ctr"/>
                      <a:r>
                        <a:rPr lang="en-US" b="1" dirty="0">
                          <a:solidFill>
                            <a:srgbClr val="00B050"/>
                          </a:solidFill>
                        </a:rPr>
                        <a:t>0.938</a:t>
                      </a:r>
                      <a:endParaRPr lang="en-US" b="1" i="0" dirty="0">
                        <a:solidFill>
                          <a:srgbClr val="00B050"/>
                        </a:solidFill>
                      </a:endParaRPr>
                    </a:p>
                  </a:txBody>
                  <a:tcPr anchor="ctr"/>
                </a:tc>
                <a:tc>
                  <a:txBody>
                    <a:bodyPr/>
                    <a:lstStyle/>
                    <a:p>
                      <a:pPr algn="ctr"/>
                      <a:r>
                        <a:rPr lang="en-US" b="1" dirty="0">
                          <a:solidFill>
                            <a:srgbClr val="00B050"/>
                          </a:solidFill>
                        </a:rPr>
                        <a:t>0.094</a:t>
                      </a:r>
                      <a:endParaRPr lang="en-US" b="1" i="0" dirty="0">
                        <a:solidFill>
                          <a:srgbClr val="00B050"/>
                        </a:solidFill>
                      </a:endParaRPr>
                    </a:p>
                  </a:txBody>
                  <a:tcPr anchor="ctr"/>
                </a:tc>
                <a:tc>
                  <a:txBody>
                    <a:bodyPr/>
                    <a:lstStyle/>
                    <a:p>
                      <a:pPr algn="ctr"/>
                      <a:r>
                        <a:rPr lang="en-US" b="1" dirty="0">
                          <a:solidFill>
                            <a:srgbClr val="00B050"/>
                          </a:solidFill>
                        </a:rPr>
                        <a:t>0.171</a:t>
                      </a:r>
                      <a:endParaRPr lang="en-US" b="1" i="0" dirty="0">
                        <a:solidFill>
                          <a:srgbClr val="00B050"/>
                        </a:solidFill>
                      </a:endParaRPr>
                    </a:p>
                  </a:txBody>
                  <a:tcPr anchor="ctr"/>
                </a:tc>
                <a:extLst>
                  <a:ext uri="{0D108BD9-81ED-4DB2-BD59-A6C34878D82A}">
                    <a16:rowId xmlns:a16="http://schemas.microsoft.com/office/drawing/2014/main" val="4188287029"/>
                  </a:ext>
                </a:extLst>
              </a:tr>
              <a:tr h="370840">
                <a:tc>
                  <a:txBody>
                    <a:bodyPr/>
                    <a:lstStyle/>
                    <a:p>
                      <a:pPr algn="l"/>
                      <a:r>
                        <a:rPr lang="en-US" b="1" dirty="0"/>
                        <a:t>text-embedding-3-large</a:t>
                      </a:r>
                    </a:p>
                  </a:txBody>
                  <a:tcPr anchor="ctr"/>
                </a:tc>
                <a:tc>
                  <a:txBody>
                    <a:bodyPr/>
                    <a:lstStyle/>
                    <a:p>
                      <a:pPr algn="ctr"/>
                      <a:r>
                        <a:rPr lang="en-US" dirty="0"/>
                        <a:t>0.842</a:t>
                      </a:r>
                      <a:endParaRPr lang="en-US" i="0" dirty="0"/>
                    </a:p>
                  </a:txBody>
                  <a:tcPr anchor="ctr"/>
                </a:tc>
                <a:tc>
                  <a:txBody>
                    <a:bodyPr/>
                    <a:lstStyle/>
                    <a:p>
                      <a:pPr algn="ctr"/>
                      <a:r>
                        <a:rPr lang="en-US" dirty="0"/>
                        <a:t>0.830</a:t>
                      </a:r>
                      <a:endParaRPr lang="en-US" i="0" dirty="0"/>
                    </a:p>
                  </a:txBody>
                  <a:tcPr anchor="ctr"/>
                </a:tc>
                <a:tc>
                  <a:txBody>
                    <a:bodyPr/>
                    <a:lstStyle/>
                    <a:p>
                      <a:pPr algn="ctr"/>
                      <a:r>
                        <a:rPr lang="en-US" dirty="0"/>
                        <a:t>0.415</a:t>
                      </a:r>
                      <a:endParaRPr lang="en-US" i="0" dirty="0"/>
                    </a:p>
                  </a:txBody>
                  <a:tcPr anchor="ctr"/>
                </a:tc>
                <a:tc>
                  <a:txBody>
                    <a:bodyPr/>
                    <a:lstStyle/>
                    <a:p>
                      <a:pPr algn="ctr"/>
                      <a:r>
                        <a:rPr lang="en-US" dirty="0"/>
                        <a:t>0.553</a:t>
                      </a:r>
                      <a:endParaRPr lang="en-US" i="0" dirty="0"/>
                    </a:p>
                  </a:txBody>
                  <a:tcPr anchor="ctr"/>
                </a:tc>
                <a:tc>
                  <a:txBody>
                    <a:bodyPr/>
                    <a:lstStyle/>
                    <a:p>
                      <a:pPr algn="ctr"/>
                      <a:r>
                        <a:rPr lang="en-US" dirty="0"/>
                        <a:t>0.902</a:t>
                      </a:r>
                      <a:endParaRPr lang="en-US" i="0" dirty="0"/>
                    </a:p>
                  </a:txBody>
                  <a:tcPr anchor="ctr"/>
                </a:tc>
                <a:tc>
                  <a:txBody>
                    <a:bodyPr/>
                    <a:lstStyle/>
                    <a:p>
                      <a:pPr algn="ctr"/>
                      <a:r>
                        <a:rPr lang="en-US" dirty="0"/>
                        <a:t>0.896</a:t>
                      </a:r>
                      <a:endParaRPr lang="en-US" i="0" dirty="0"/>
                    </a:p>
                  </a:txBody>
                  <a:tcPr anchor="ctr"/>
                </a:tc>
                <a:tc>
                  <a:txBody>
                    <a:bodyPr/>
                    <a:lstStyle/>
                    <a:p>
                      <a:pPr algn="ctr"/>
                      <a:r>
                        <a:rPr lang="en-US" dirty="0"/>
                        <a:t>0.090</a:t>
                      </a:r>
                      <a:endParaRPr lang="en-US" i="0" dirty="0"/>
                    </a:p>
                  </a:txBody>
                  <a:tcPr anchor="ctr"/>
                </a:tc>
                <a:tc>
                  <a:txBody>
                    <a:bodyPr/>
                    <a:lstStyle/>
                    <a:p>
                      <a:pPr algn="ctr"/>
                      <a:r>
                        <a:rPr lang="en-US" dirty="0"/>
                        <a:t>0.163</a:t>
                      </a:r>
                      <a:endParaRPr lang="en-US" i="0" dirty="0"/>
                    </a:p>
                  </a:txBody>
                  <a:tcPr anchor="ctr"/>
                </a:tc>
                <a:extLst>
                  <a:ext uri="{0D108BD9-81ED-4DB2-BD59-A6C34878D82A}">
                    <a16:rowId xmlns:a16="http://schemas.microsoft.com/office/drawing/2014/main" val="3682947584"/>
                  </a:ext>
                </a:extLst>
              </a:tr>
              <a:tr h="370840">
                <a:tc>
                  <a:txBody>
                    <a:bodyPr/>
                    <a:lstStyle/>
                    <a:p>
                      <a:pPr algn="l"/>
                      <a:r>
                        <a:rPr lang="en-US" b="1" dirty="0"/>
                        <a:t>Nomic </a:t>
                      </a:r>
                    </a:p>
                  </a:txBody>
                  <a:tcPr anchor="ctr"/>
                </a:tc>
                <a:tc>
                  <a:txBody>
                    <a:bodyPr/>
                    <a:lstStyle/>
                    <a:p>
                      <a:pPr algn="ctr"/>
                      <a:r>
                        <a:rPr lang="en-US" dirty="0"/>
                        <a:t>0.823 </a:t>
                      </a:r>
                      <a:endParaRPr lang="en-US" i="0" dirty="0"/>
                    </a:p>
                  </a:txBody>
                  <a:tcPr anchor="ctr"/>
                </a:tc>
                <a:tc>
                  <a:txBody>
                    <a:bodyPr/>
                    <a:lstStyle/>
                    <a:p>
                      <a:pPr algn="ctr"/>
                      <a:r>
                        <a:rPr lang="en-US" dirty="0"/>
                        <a:t>0.807</a:t>
                      </a:r>
                      <a:endParaRPr lang="en-US" i="0" dirty="0"/>
                    </a:p>
                  </a:txBody>
                  <a:tcPr anchor="ctr"/>
                </a:tc>
                <a:tc>
                  <a:txBody>
                    <a:bodyPr/>
                    <a:lstStyle/>
                    <a:p>
                      <a:pPr algn="ctr"/>
                      <a:r>
                        <a:rPr lang="en-US" dirty="0"/>
                        <a:t>0.404</a:t>
                      </a:r>
                      <a:endParaRPr lang="en-US" i="0" dirty="0"/>
                    </a:p>
                  </a:txBody>
                  <a:tcPr anchor="ctr"/>
                </a:tc>
                <a:tc>
                  <a:txBody>
                    <a:bodyPr/>
                    <a:lstStyle/>
                    <a:p>
                      <a:pPr algn="ctr"/>
                      <a:r>
                        <a:rPr lang="en-US" dirty="0"/>
                        <a:t>0.538</a:t>
                      </a:r>
                      <a:endParaRPr lang="en-US" i="0" dirty="0"/>
                    </a:p>
                  </a:txBody>
                  <a:tcPr anchor="ctr"/>
                </a:tc>
                <a:tc>
                  <a:txBody>
                    <a:bodyPr/>
                    <a:lstStyle/>
                    <a:p>
                      <a:pPr algn="ctr"/>
                      <a:r>
                        <a:rPr lang="en-US" dirty="0"/>
                        <a:t>0.901</a:t>
                      </a:r>
                      <a:endParaRPr lang="en-US" i="0" dirty="0"/>
                    </a:p>
                  </a:txBody>
                  <a:tcPr anchor="ctr"/>
                </a:tc>
                <a:tc>
                  <a:txBody>
                    <a:bodyPr/>
                    <a:lstStyle/>
                    <a:p>
                      <a:pPr algn="ctr"/>
                      <a:r>
                        <a:rPr lang="en-US" dirty="0"/>
                        <a:t>0.895</a:t>
                      </a:r>
                      <a:endParaRPr lang="en-US" i="0" dirty="0"/>
                    </a:p>
                  </a:txBody>
                  <a:tcPr anchor="ctr"/>
                </a:tc>
                <a:tc>
                  <a:txBody>
                    <a:bodyPr/>
                    <a:lstStyle/>
                    <a:p>
                      <a:pPr algn="ctr"/>
                      <a:r>
                        <a:rPr lang="en-US" dirty="0"/>
                        <a:t>0.089</a:t>
                      </a:r>
                      <a:endParaRPr lang="en-US" i="0" dirty="0"/>
                    </a:p>
                  </a:txBody>
                  <a:tcPr anchor="ctr"/>
                </a:tc>
                <a:tc>
                  <a:txBody>
                    <a:bodyPr/>
                    <a:lstStyle/>
                    <a:p>
                      <a:pPr algn="ctr"/>
                      <a:r>
                        <a:rPr lang="en-US" dirty="0"/>
                        <a:t>0.163</a:t>
                      </a:r>
                      <a:endParaRPr lang="en-US" i="0" dirty="0"/>
                    </a:p>
                  </a:txBody>
                  <a:tcPr anchor="ctr"/>
                </a:tc>
                <a:extLst>
                  <a:ext uri="{0D108BD9-81ED-4DB2-BD59-A6C34878D82A}">
                    <a16:rowId xmlns:a16="http://schemas.microsoft.com/office/drawing/2014/main" val="1675035009"/>
                  </a:ext>
                </a:extLst>
              </a:tr>
            </a:tbl>
          </a:graphicData>
        </a:graphic>
      </p:graphicFrame>
      <p:sp>
        <p:nvSpPr>
          <p:cNvPr id="24" name="ProsConsBox2">
            <a:extLst>
              <a:ext uri="{FF2B5EF4-FFF2-40B4-BE49-F238E27FC236}">
                <a16:creationId xmlns:a16="http://schemas.microsoft.com/office/drawing/2014/main" id="{4747EDF4-1BFA-5916-EB2E-F69C7839F388}"/>
              </a:ext>
            </a:extLst>
          </p:cNvPr>
          <p:cNvSpPr txBox="1">
            <a:spLocks noGrp="1"/>
          </p:cNvSpPr>
          <p:nvPr/>
        </p:nvSpPr>
        <p:spPr>
          <a:xfrm>
            <a:off x="2101596" y="5430000"/>
            <a:ext cx="7988808" cy="629424"/>
          </a:xfrm>
          <a:prstGeom prst="rect">
            <a:avLst/>
          </a:prstGeom>
          <a:noFill/>
        </p:spPr>
        <p:txBody>
          <a:bodyPr wrap="square" lIns="91440" tIns="45720" rIns="91440" bIns="45720" anchor="t"/>
          <a:lstStyle/>
          <a:p>
            <a:pPr>
              <a:spcBef>
                <a:spcPts val="200"/>
              </a:spcBef>
            </a:pPr>
            <a:r>
              <a:rPr lang="en-US" sz="1200" b="0" dirty="0">
                <a:solidFill>
                  <a:srgbClr val="B91C1C"/>
                </a:solidFill>
                <a:latin typeface="Calibri" panose="020F0502020204030204" pitchFamily="34" charset="0"/>
                <a:cs typeface="Calibri" panose="020F0502020204030204" pitchFamily="34" charset="0"/>
              </a:rPr>
              <a:t>All methods below 0.23 at k=50 and k=10 under pseudo-relevance, confirms fine-tuning and reranking needed for top results</a:t>
            </a:r>
          </a:p>
          <a:p>
            <a:pPr>
              <a:spcBef>
                <a:spcPts val="200"/>
              </a:spcBef>
            </a:pPr>
            <a:r>
              <a:rPr lang="en-US" sz="1200" b="0" dirty="0">
                <a:solidFill>
                  <a:srgbClr val="B91C1C"/>
                </a:solidFill>
                <a:latin typeface="Calibri" panose="020F0502020204030204" pitchFamily="34" charset="0"/>
                <a:cs typeface="Calibri" panose="020F0502020204030204" pitchFamily="34" charset="0"/>
              </a:rPr>
              <a:t>Nomic and OpenAI show marginal gains over BM25 at small k, does not justify added complexity or API cost</a:t>
            </a:r>
          </a:p>
        </p:txBody>
      </p:sp>
    </p:spTree>
    <p:extLst>
      <p:ext uri="{BB962C8B-B14F-4D97-AF65-F5344CB8AC3E}">
        <p14:creationId xmlns:p14="http://schemas.microsoft.com/office/powerpoint/2010/main" val="2983434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2F40B-9214-376F-A2D7-36FCEB647468}"/>
              </a:ext>
            </a:extLst>
          </p:cNvPr>
          <p:cNvSpPr>
            <a:spLocks noGrp="1"/>
          </p:cNvSpPr>
          <p:nvPr>
            <p:ph type="title"/>
          </p:nvPr>
        </p:nvSpPr>
        <p:spPr/>
        <p:txBody>
          <a:bodyPr>
            <a:normAutofit/>
          </a:bodyPr>
          <a:lstStyle/>
          <a:p>
            <a:r>
              <a:rPr lang="en-US" sz="4000" b="1" dirty="0">
                <a:latin typeface="Calibri" panose="020F0502020204030204" pitchFamily="34" charset="0"/>
                <a:cs typeface="Calibri" panose="020F0502020204030204" pitchFamily="34" charset="0"/>
              </a:rPr>
              <a:t>Method 1: </a:t>
            </a:r>
            <a:r>
              <a:rPr lang="en-US" sz="4000" b="1" dirty="0" err="1">
                <a:latin typeface="Calibri" panose="020F0502020204030204" pitchFamily="34" charset="0"/>
                <a:cs typeface="Calibri" panose="020F0502020204030204" pitchFamily="34" charset="0"/>
              </a:rPr>
              <a:t>Hypthetical</a:t>
            </a:r>
            <a:r>
              <a:rPr lang="en-US" sz="4000" b="1" dirty="0">
                <a:latin typeface="Calibri" panose="020F0502020204030204" pitchFamily="34" charset="0"/>
                <a:cs typeface="Calibri" panose="020F0502020204030204" pitchFamily="34" charset="0"/>
              </a:rPr>
              <a:t> Document Embedding (</a:t>
            </a:r>
            <a:r>
              <a:rPr lang="en-US" sz="4000" b="1" dirty="0" err="1">
                <a:latin typeface="Calibri" panose="020F0502020204030204" pitchFamily="34" charset="0"/>
                <a:cs typeface="Calibri" panose="020F0502020204030204" pitchFamily="34" charset="0"/>
              </a:rPr>
              <a:t>HyDE</a:t>
            </a:r>
            <a:r>
              <a:rPr lang="en-US" sz="4000" b="1" dirty="0">
                <a:latin typeface="Calibri" panose="020F0502020204030204" pitchFamily="34" charset="0"/>
                <a:cs typeface="Calibri" panose="020F0502020204030204" pitchFamily="34" charset="0"/>
              </a:rPr>
              <a:t>) Expansion</a:t>
            </a:r>
          </a:p>
        </p:txBody>
      </p:sp>
      <p:sp>
        <p:nvSpPr>
          <p:cNvPr id="3" name="Content Placeholder 2">
            <a:extLst>
              <a:ext uri="{FF2B5EF4-FFF2-40B4-BE49-F238E27FC236}">
                <a16:creationId xmlns:a16="http://schemas.microsoft.com/office/drawing/2014/main" id="{963A9D12-6128-2DF8-F909-3B203801A294}"/>
              </a:ext>
            </a:extLst>
          </p:cNvPr>
          <p:cNvSpPr>
            <a:spLocks noGrp="1"/>
          </p:cNvSpPr>
          <p:nvPr>
            <p:ph idx="1"/>
          </p:nvPr>
        </p:nvSpPr>
        <p:spPr>
          <a:xfrm>
            <a:off x="838200" y="1691513"/>
            <a:ext cx="10896600" cy="4351338"/>
          </a:xfrm>
        </p:spPr>
        <p:txBody>
          <a:bodyPr/>
          <a:lstStyle/>
          <a:p>
            <a:pPr algn="just"/>
            <a:r>
              <a:rPr lang="en-US" dirty="0">
                <a:latin typeface="Calibri" panose="020F0502020204030204" pitchFamily="34" charset="0"/>
                <a:cs typeface="Calibri" panose="020F0502020204030204" pitchFamily="34" charset="0"/>
              </a:rPr>
              <a:t>a query expansion technique</a:t>
            </a:r>
          </a:p>
          <a:p>
            <a:pPr algn="just"/>
            <a:r>
              <a:rPr lang="en-US" dirty="0">
                <a:latin typeface="Calibri" panose="020F0502020204030204" pitchFamily="34" charset="0"/>
                <a:cs typeface="Calibri" panose="020F0502020204030204" pitchFamily="34" charset="0"/>
              </a:rPr>
              <a:t>instead of encoding the raw query directly, using LLM to generate what an ideal document would look like for that query (a "hypothetical document”) and then encode that generated text instead.</a:t>
            </a:r>
          </a:p>
          <a:p>
            <a:pPr algn="just"/>
            <a:r>
              <a:rPr lang="en-US" dirty="0">
                <a:solidFill>
                  <a:srgbClr val="FF0000"/>
                </a:solidFill>
                <a:latin typeface="Calibri" panose="020F0502020204030204" pitchFamily="34" charset="0"/>
                <a:cs typeface="Calibri" panose="020F0502020204030204" pitchFamily="34" charset="0"/>
              </a:rPr>
              <a:t>zero-shot technique that works when corpus is natural language.</a:t>
            </a:r>
          </a:p>
          <a:p>
            <a:pPr algn="just"/>
            <a:r>
              <a:rPr lang="en-US" dirty="0">
                <a:solidFill>
                  <a:srgbClr val="00B050"/>
                </a:solidFill>
                <a:latin typeface="Calibri" panose="020F0502020204030204" pitchFamily="34" charset="0"/>
                <a:cs typeface="Calibri" panose="020F0502020204030204" pitchFamily="34" charset="0"/>
              </a:rPr>
              <a:t>fix would require </a:t>
            </a:r>
            <a:r>
              <a:rPr lang="en-US" b="1" dirty="0">
                <a:solidFill>
                  <a:srgbClr val="00B050"/>
                </a:solidFill>
                <a:latin typeface="Calibri" panose="020F0502020204030204" pitchFamily="34" charset="0"/>
                <a:cs typeface="Calibri" panose="020F0502020204030204" pitchFamily="34" charset="0"/>
              </a:rPr>
              <a:t>fine-tuning the LLM on your specific corpus format</a:t>
            </a:r>
            <a:r>
              <a:rPr lang="en-US" dirty="0">
                <a:solidFill>
                  <a:srgbClr val="00B050"/>
                </a:solidFill>
                <a:latin typeface="Calibri" panose="020F0502020204030204" pitchFamily="34" charset="0"/>
                <a:cs typeface="Calibri" panose="020F0502020204030204" pitchFamily="34" charset="0"/>
              </a:rPr>
              <a:t>, which is a different and much more expensive approach.</a:t>
            </a:r>
          </a:p>
        </p:txBody>
      </p:sp>
      <p:sp>
        <p:nvSpPr>
          <p:cNvPr id="4" name="Date Placeholder 3">
            <a:extLst>
              <a:ext uri="{FF2B5EF4-FFF2-40B4-BE49-F238E27FC236}">
                <a16:creationId xmlns:a16="http://schemas.microsoft.com/office/drawing/2014/main" id="{C1930A85-892C-8F88-7CCD-A805DCA130DF}"/>
              </a:ext>
            </a:extLst>
          </p:cNvPr>
          <p:cNvSpPr>
            <a:spLocks noGrp="1"/>
          </p:cNvSpPr>
          <p:nvPr>
            <p:ph type="dt" sz="half" idx="10"/>
          </p:nvPr>
        </p:nvSpPr>
        <p:spPr/>
        <p:txBody>
          <a:bodyPr/>
          <a:lstStyle/>
          <a:p>
            <a:fld id="{4B9484E0-EA99-6E40-9BD0-550CD26F6E0B}" type="datetime1">
              <a:rPr lang="en-US" smtClean="0">
                <a:latin typeface="Calibri" panose="020F0502020204030204" pitchFamily="34" charset="0"/>
                <a:cs typeface="Calibri" panose="020F0502020204030204" pitchFamily="34" charset="0"/>
              </a:rPr>
              <a:t>6/3/26</a:t>
            </a:fld>
            <a:endParaRPr lang="en-US">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F07926B4-99BA-BCC8-E022-500839889E5F}"/>
              </a:ext>
            </a:extLst>
          </p:cNvPr>
          <p:cNvSpPr>
            <a:spLocks noGrp="1"/>
          </p:cNvSpPr>
          <p:nvPr>
            <p:ph type="sldNum" sz="quarter" idx="12"/>
          </p:nvPr>
        </p:nvSpPr>
        <p:spPr/>
        <p:txBody>
          <a:bodyPr/>
          <a:lstStyle/>
          <a:p>
            <a:fld id="{9918A6A5-4FFB-434A-A92F-4AE444D35066}" type="slidenum">
              <a:rPr lang="en-US" smtClean="0">
                <a:latin typeface="Calibri" panose="020F0502020204030204" pitchFamily="34" charset="0"/>
                <a:cs typeface="Calibri" panose="020F0502020204030204" pitchFamily="34" charset="0"/>
              </a:rPr>
              <a:t>4</a:t>
            </a:fld>
            <a:endParaRPr lang="en-US">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924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8B397-953D-1187-993A-3AB278EB8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90F1B-0413-C751-1E2C-D7D43BDF5BE9}"/>
              </a:ext>
            </a:extLst>
          </p:cNvPr>
          <p:cNvSpPr>
            <a:spLocks noGrp="1"/>
          </p:cNvSpPr>
          <p:nvPr>
            <p:ph type="title"/>
          </p:nvPr>
        </p:nvSpPr>
        <p:spPr>
          <a:xfrm>
            <a:off x="838200" y="365125"/>
            <a:ext cx="10515600" cy="1325563"/>
          </a:xfrm>
        </p:spPr>
        <p:txBody>
          <a:bodyPr>
            <a:normAutofit/>
          </a:bodyPr>
          <a:lstStyle/>
          <a:p>
            <a:r>
              <a:rPr lang="en-US" sz="4000" b="1" dirty="0">
                <a:latin typeface="Calibri" panose="020F0502020204030204" pitchFamily="34" charset="0"/>
                <a:cs typeface="Calibri" panose="020F0502020204030204" pitchFamily="34" charset="0"/>
              </a:rPr>
              <a:t>Method 1: </a:t>
            </a:r>
            <a:r>
              <a:rPr lang="en-US" sz="4000" b="1" dirty="0" err="1">
                <a:latin typeface="Calibri" panose="020F0502020204030204" pitchFamily="34" charset="0"/>
                <a:cs typeface="Calibri" panose="020F0502020204030204" pitchFamily="34" charset="0"/>
              </a:rPr>
              <a:t>HyDE</a:t>
            </a:r>
            <a:r>
              <a:rPr lang="en-US" sz="4000" b="1" dirty="0">
                <a:latin typeface="Calibri" panose="020F0502020204030204" pitchFamily="34" charset="0"/>
                <a:cs typeface="Calibri" panose="020F0502020204030204" pitchFamily="34" charset="0"/>
              </a:rPr>
              <a:t> Expansion </a:t>
            </a:r>
            <a:r>
              <a:rPr lang="en-US" sz="2800" b="1" dirty="0">
                <a:latin typeface="Calibri" panose="020F0502020204030204" pitchFamily="34" charset="0"/>
                <a:cs typeface="Calibri" panose="020F0502020204030204" pitchFamily="34" charset="0"/>
              </a:rPr>
              <a:t>(k=1000)</a:t>
            </a:r>
            <a:endParaRPr lang="en-US" sz="4000" b="1" dirty="0">
              <a:latin typeface="Calibri" panose="020F0502020204030204" pitchFamily="34" charset="0"/>
              <a:cs typeface="Calibri" panose="020F0502020204030204" pitchFamily="34" charset="0"/>
            </a:endParaRPr>
          </a:p>
        </p:txBody>
      </p:sp>
      <p:sp>
        <p:nvSpPr>
          <p:cNvPr id="4" name="Date Placeholder 3">
            <a:extLst>
              <a:ext uri="{FF2B5EF4-FFF2-40B4-BE49-F238E27FC236}">
                <a16:creationId xmlns:a16="http://schemas.microsoft.com/office/drawing/2014/main" id="{CA0932EC-9FB2-E9A3-D178-98FF0DA920E0}"/>
              </a:ext>
            </a:extLst>
          </p:cNvPr>
          <p:cNvSpPr>
            <a:spLocks noGrp="1"/>
          </p:cNvSpPr>
          <p:nvPr>
            <p:ph type="dt" sz="half" idx="10"/>
          </p:nvPr>
        </p:nvSpPr>
        <p:spPr/>
        <p:txBody>
          <a:bodyPr/>
          <a:lstStyle/>
          <a:p>
            <a:fld id="{4B9484E0-EA99-6E40-9BD0-550CD26F6E0B}" type="datetime1">
              <a:rPr lang="en-US" smtClean="0">
                <a:latin typeface="Calibri" panose="020F0502020204030204" pitchFamily="34" charset="0"/>
                <a:cs typeface="Calibri" panose="020F0502020204030204" pitchFamily="34" charset="0"/>
              </a:rPr>
              <a:t>6/3/26</a:t>
            </a:fld>
            <a:endParaRPr lang="en-US">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FEDE8909-BC8E-5291-FC28-734C6A3F017E}"/>
              </a:ext>
            </a:extLst>
          </p:cNvPr>
          <p:cNvSpPr>
            <a:spLocks noGrp="1"/>
          </p:cNvSpPr>
          <p:nvPr>
            <p:ph type="sldNum" sz="quarter" idx="12"/>
          </p:nvPr>
        </p:nvSpPr>
        <p:spPr/>
        <p:txBody>
          <a:bodyPr/>
          <a:lstStyle/>
          <a:p>
            <a:fld id="{9918A6A5-4FFB-434A-A92F-4AE444D35066}" type="slidenum">
              <a:rPr lang="en-US" smtClean="0">
                <a:latin typeface="Calibri" panose="020F0502020204030204" pitchFamily="34" charset="0"/>
                <a:cs typeface="Calibri" panose="020F0502020204030204" pitchFamily="34" charset="0"/>
              </a:rPr>
              <a:t>5</a:t>
            </a:fld>
            <a:endParaRPr lang="en-US">
              <a:latin typeface="Calibri" panose="020F0502020204030204" pitchFamily="34" charset="0"/>
              <a:cs typeface="Calibri" panose="020F0502020204030204" pitchFamily="34" charset="0"/>
            </a:endParaRPr>
          </a:p>
        </p:txBody>
      </p:sp>
      <p:graphicFrame>
        <p:nvGraphicFramePr>
          <p:cNvPr id="6" name="Content Placeholder 6">
            <a:extLst>
              <a:ext uri="{FF2B5EF4-FFF2-40B4-BE49-F238E27FC236}">
                <a16:creationId xmlns:a16="http://schemas.microsoft.com/office/drawing/2014/main" id="{1CDF3EEB-B9BE-137E-07E7-AB7DEA0965CF}"/>
              </a:ext>
            </a:extLst>
          </p:cNvPr>
          <p:cNvGraphicFramePr>
            <a:graphicFrameLocks/>
          </p:cNvGraphicFramePr>
          <p:nvPr>
            <p:extLst>
              <p:ext uri="{D42A27DB-BD31-4B8C-83A1-F6EECF244321}">
                <p14:modId xmlns:p14="http://schemas.microsoft.com/office/powerpoint/2010/main" val="409658410"/>
              </p:ext>
            </p:extLst>
          </p:nvPr>
        </p:nvGraphicFramePr>
        <p:xfrm>
          <a:off x="838200" y="1690677"/>
          <a:ext cx="10896598" cy="1752600"/>
        </p:xfrm>
        <a:graphic>
          <a:graphicData uri="http://schemas.openxmlformats.org/drawingml/2006/table">
            <a:tbl>
              <a:tblPr firstRow="1" bandRow="1">
                <a:tableStyleId>{C4B1156A-380E-4F78-BDF5-A606A8083BF9}</a:tableStyleId>
              </a:tblPr>
              <a:tblGrid>
                <a:gridCol w="3344863">
                  <a:extLst>
                    <a:ext uri="{9D8B030D-6E8A-4147-A177-3AD203B41FA5}">
                      <a16:colId xmlns:a16="http://schemas.microsoft.com/office/drawing/2014/main" val="2738875573"/>
                    </a:ext>
                  </a:extLst>
                </a:gridCol>
                <a:gridCol w="1510347">
                  <a:extLst>
                    <a:ext uri="{9D8B030D-6E8A-4147-A177-3AD203B41FA5}">
                      <a16:colId xmlns:a16="http://schemas.microsoft.com/office/drawing/2014/main" val="642727418"/>
                    </a:ext>
                  </a:extLst>
                </a:gridCol>
                <a:gridCol w="1510347">
                  <a:extLst>
                    <a:ext uri="{9D8B030D-6E8A-4147-A177-3AD203B41FA5}">
                      <a16:colId xmlns:a16="http://schemas.microsoft.com/office/drawing/2014/main" val="1402106019"/>
                    </a:ext>
                  </a:extLst>
                </a:gridCol>
                <a:gridCol w="1510347">
                  <a:extLst>
                    <a:ext uri="{9D8B030D-6E8A-4147-A177-3AD203B41FA5}">
                      <a16:colId xmlns:a16="http://schemas.microsoft.com/office/drawing/2014/main" val="1992137792"/>
                    </a:ext>
                  </a:extLst>
                </a:gridCol>
                <a:gridCol w="1510347">
                  <a:extLst>
                    <a:ext uri="{9D8B030D-6E8A-4147-A177-3AD203B41FA5}">
                      <a16:colId xmlns:a16="http://schemas.microsoft.com/office/drawing/2014/main" val="1988334267"/>
                    </a:ext>
                  </a:extLst>
                </a:gridCol>
                <a:gridCol w="1510347">
                  <a:extLst>
                    <a:ext uri="{9D8B030D-6E8A-4147-A177-3AD203B41FA5}">
                      <a16:colId xmlns:a16="http://schemas.microsoft.com/office/drawing/2014/main" val="2084311506"/>
                    </a:ext>
                  </a:extLst>
                </a:gridCol>
              </a:tblGrid>
              <a:tr h="370840">
                <a:tc>
                  <a:txBody>
                    <a:bodyPr/>
                    <a:lstStyle/>
                    <a:p>
                      <a:pPr algn="ctr"/>
                      <a:r>
                        <a:rPr lang="en-US" b="1" dirty="0"/>
                        <a:t>Method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NDCG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@1000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Precision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@1000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Recall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@1000</a:t>
                      </a:r>
                    </a:p>
                  </a:txBody>
                  <a:tcPr anchor="ctr"/>
                </a:tc>
                <a:tc>
                  <a:txBody>
                    <a:bodyPr/>
                    <a:lstStyle/>
                    <a:p>
                      <a:pPr algn="ctr"/>
                      <a:r>
                        <a:rPr lang="en-US" dirty="0"/>
                        <a:t>F1</a:t>
                      </a:r>
                    </a:p>
                    <a:p>
                      <a:pPr algn="ctr"/>
                      <a:r>
                        <a:rPr lang="en-US" dirty="0"/>
                        <a:t>@1000</a:t>
                      </a:r>
                    </a:p>
                  </a:txBody>
                  <a:tcPr anchor="ctr"/>
                </a:tc>
                <a:tc>
                  <a:txBody>
                    <a:bodyPr/>
                    <a:lstStyle/>
                    <a:p>
                      <a:pPr algn="ctr"/>
                      <a:r>
                        <a:rPr lang="en-US" dirty="0"/>
                        <a:t>Avg. Query Latency</a:t>
                      </a:r>
                    </a:p>
                  </a:txBody>
                  <a:tcPr anchor="ctr"/>
                </a:tc>
                <a:extLst>
                  <a:ext uri="{0D108BD9-81ED-4DB2-BD59-A6C34878D82A}">
                    <a16:rowId xmlns:a16="http://schemas.microsoft.com/office/drawing/2014/main" val="1622018660"/>
                  </a:ext>
                </a:extLst>
              </a:tr>
              <a:tr h="370840">
                <a:tc>
                  <a:txBody>
                    <a:bodyPr/>
                    <a:lstStyle/>
                    <a:p>
                      <a:pPr algn="l"/>
                      <a:r>
                        <a:rPr lang="en-US" b="1" dirty="0" err="1">
                          <a:solidFill>
                            <a:srgbClr val="00B050"/>
                          </a:solidFill>
                        </a:rPr>
                        <a:t>MiniLM</a:t>
                      </a:r>
                      <a:r>
                        <a:rPr lang="en-US" b="1" dirty="0">
                          <a:solidFill>
                            <a:srgbClr val="00B050"/>
                          </a:solidFill>
                        </a:rPr>
                        <a:t> </a:t>
                      </a:r>
                    </a:p>
                  </a:txBody>
                  <a:tcPr anchor="ctr"/>
                </a:tc>
                <a:tc>
                  <a:txBody>
                    <a:bodyPr/>
                    <a:lstStyle/>
                    <a:p>
                      <a:pPr algn="ctr"/>
                      <a:r>
                        <a:rPr lang="en-US" b="1" dirty="0">
                          <a:solidFill>
                            <a:srgbClr val="00B050"/>
                          </a:solidFill>
                        </a:rPr>
                        <a:t>0.767</a:t>
                      </a:r>
                      <a:endParaRPr lang="en-US" b="1" i="0" dirty="0">
                        <a:solidFill>
                          <a:srgbClr val="00B050"/>
                        </a:solidFill>
                      </a:endParaRPr>
                    </a:p>
                  </a:txBody>
                  <a:tcPr anchor="ctr"/>
                </a:tc>
                <a:tc>
                  <a:txBody>
                    <a:bodyPr/>
                    <a:lstStyle/>
                    <a:p>
                      <a:pPr algn="ctr"/>
                      <a:r>
                        <a:rPr lang="en-US" b="1" dirty="0">
                          <a:solidFill>
                            <a:srgbClr val="00B050"/>
                          </a:solidFill>
                        </a:rPr>
                        <a:t>0.741</a:t>
                      </a:r>
                      <a:endParaRPr lang="en-US" b="1" i="0" dirty="0">
                        <a:solidFill>
                          <a:srgbClr val="00B050"/>
                        </a:solidFill>
                      </a:endParaRPr>
                    </a:p>
                  </a:txBody>
                  <a:tcPr anchor="ctr"/>
                </a:tc>
                <a:tc>
                  <a:txBody>
                    <a:bodyPr/>
                    <a:lstStyle/>
                    <a:p>
                      <a:pPr algn="ctr"/>
                      <a:r>
                        <a:rPr lang="en-US" b="1" dirty="0">
                          <a:solidFill>
                            <a:srgbClr val="00B050"/>
                          </a:solidFill>
                        </a:rPr>
                        <a:t>0.741</a:t>
                      </a:r>
                      <a:endParaRPr lang="en-US" b="1" i="0" dirty="0">
                        <a:solidFill>
                          <a:srgbClr val="00B050"/>
                        </a:solidFill>
                      </a:endParaRPr>
                    </a:p>
                  </a:txBody>
                  <a:tcPr anchor="ctr"/>
                </a:tc>
                <a:tc>
                  <a:txBody>
                    <a:bodyPr/>
                    <a:lstStyle/>
                    <a:p>
                      <a:pPr algn="ctr"/>
                      <a:r>
                        <a:rPr lang="en-US" b="1" dirty="0">
                          <a:solidFill>
                            <a:srgbClr val="00B050"/>
                          </a:solidFill>
                        </a:rPr>
                        <a:t>0.741</a:t>
                      </a:r>
                      <a:endParaRPr lang="en-US" b="1" i="0" dirty="0">
                        <a:solidFill>
                          <a:srgbClr val="00B050"/>
                        </a:solidFill>
                      </a:endParaRPr>
                    </a:p>
                  </a:txBody>
                  <a:tcPr anchor="ctr"/>
                </a:tc>
                <a:tc>
                  <a:txBody>
                    <a:bodyPr/>
                    <a:lstStyle/>
                    <a:p>
                      <a:pPr algn="r"/>
                      <a:r>
                        <a:rPr lang="en-US" b="1" dirty="0">
                          <a:solidFill>
                            <a:srgbClr val="00B050"/>
                          </a:solidFill>
                        </a:rPr>
                        <a:t>17.7ms</a:t>
                      </a:r>
                    </a:p>
                  </a:txBody>
                  <a:tcPr anchor="ctr"/>
                </a:tc>
                <a:extLst>
                  <a:ext uri="{0D108BD9-81ED-4DB2-BD59-A6C34878D82A}">
                    <a16:rowId xmlns:a16="http://schemas.microsoft.com/office/drawing/2014/main" val="4188287029"/>
                  </a:ext>
                </a:extLst>
              </a:tr>
              <a:tr h="370840">
                <a:tc>
                  <a:txBody>
                    <a:bodyPr/>
                    <a:lstStyle/>
                    <a:p>
                      <a:pPr algn="l"/>
                      <a:r>
                        <a:rPr lang="en-US" b="1" dirty="0" err="1"/>
                        <a:t>HyDE</a:t>
                      </a:r>
                      <a:r>
                        <a:rPr lang="en-US" b="1" dirty="0"/>
                        <a:t> + </a:t>
                      </a:r>
                      <a:r>
                        <a:rPr lang="en-US" b="1" dirty="0" err="1"/>
                        <a:t>MiniLM</a:t>
                      </a:r>
                      <a:endParaRPr lang="en-US" b="1" dirty="0"/>
                    </a:p>
                  </a:txBody>
                  <a:tcPr anchor="ctr"/>
                </a:tc>
                <a:tc>
                  <a:txBody>
                    <a:bodyPr/>
                    <a:lstStyle/>
                    <a:p>
                      <a:pPr algn="ctr"/>
                      <a:r>
                        <a:rPr lang="en-US" dirty="0"/>
                        <a:t>0.586</a:t>
                      </a:r>
                      <a:endParaRPr lang="en-US" i="0" dirty="0"/>
                    </a:p>
                  </a:txBody>
                  <a:tcPr anchor="ctr"/>
                </a:tc>
                <a:tc>
                  <a:txBody>
                    <a:bodyPr/>
                    <a:lstStyle/>
                    <a:p>
                      <a:pPr algn="ctr"/>
                      <a:r>
                        <a:rPr lang="en-US" dirty="0"/>
                        <a:t>0.565</a:t>
                      </a:r>
                      <a:endParaRPr lang="en-US" i="0" dirty="0"/>
                    </a:p>
                  </a:txBody>
                  <a:tcPr anchor="ctr"/>
                </a:tc>
                <a:tc>
                  <a:txBody>
                    <a:bodyPr/>
                    <a:lstStyle/>
                    <a:p>
                      <a:pPr algn="ctr"/>
                      <a:r>
                        <a:rPr lang="en-US" dirty="0"/>
                        <a:t>0.565</a:t>
                      </a:r>
                      <a:endParaRPr lang="en-US" i="0" dirty="0"/>
                    </a:p>
                  </a:txBody>
                  <a:tcPr anchor="ctr"/>
                </a:tc>
                <a:tc>
                  <a:txBody>
                    <a:bodyPr/>
                    <a:lstStyle/>
                    <a:p>
                      <a:pPr algn="ctr"/>
                      <a:r>
                        <a:rPr lang="en-US" dirty="0"/>
                        <a:t>0.565</a:t>
                      </a:r>
                      <a:endParaRPr lang="en-US" i="0" dirty="0"/>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dirty="0"/>
                        <a:t>890ms</a:t>
                      </a:r>
                    </a:p>
                  </a:txBody>
                  <a:tcPr anchor="ctr"/>
                </a:tc>
                <a:extLst>
                  <a:ext uri="{0D108BD9-81ED-4DB2-BD59-A6C34878D82A}">
                    <a16:rowId xmlns:a16="http://schemas.microsoft.com/office/drawing/2014/main" val="3682947584"/>
                  </a:ext>
                </a:extLst>
              </a:tr>
              <a:tr h="370840">
                <a:tc>
                  <a:txBody>
                    <a:bodyPr/>
                    <a:lstStyle/>
                    <a:p>
                      <a:pPr algn="l"/>
                      <a:r>
                        <a:rPr lang="en-US" b="1" dirty="0" err="1"/>
                        <a:t>HyDE</a:t>
                      </a:r>
                      <a:r>
                        <a:rPr lang="en-US" b="1" dirty="0"/>
                        <a:t> + </a:t>
                      </a:r>
                      <a:r>
                        <a:rPr lang="en-US" b="1" dirty="0" err="1"/>
                        <a:t>MiniLM</a:t>
                      </a:r>
                      <a:r>
                        <a:rPr lang="en-US" b="1" dirty="0"/>
                        <a:t> + </a:t>
                      </a:r>
                      <a:r>
                        <a:rPr lang="en-US" b="1" dirty="0" err="1"/>
                        <a:t>Reranker</a:t>
                      </a:r>
                      <a:endParaRPr lang="en-US" b="1" dirty="0"/>
                    </a:p>
                  </a:txBody>
                  <a:tcPr anchor="ctr"/>
                </a:tc>
                <a:tc>
                  <a:txBody>
                    <a:bodyPr/>
                    <a:lstStyle/>
                    <a:p>
                      <a:pPr algn="ctr"/>
                      <a:r>
                        <a:rPr lang="en-US" dirty="0"/>
                        <a:t>0.590</a:t>
                      </a:r>
                      <a:endParaRPr lang="en-US" i="0" dirty="0"/>
                    </a:p>
                  </a:txBody>
                  <a:tcPr anchor="ctr"/>
                </a:tc>
                <a:tc>
                  <a:txBody>
                    <a:bodyPr/>
                    <a:lstStyle/>
                    <a:p>
                      <a:pPr algn="ctr"/>
                      <a:r>
                        <a:rPr lang="en-US" dirty="0"/>
                        <a:t>0.565</a:t>
                      </a:r>
                      <a:endParaRPr lang="en-US" i="0" dirty="0"/>
                    </a:p>
                  </a:txBody>
                  <a:tcPr anchor="ctr"/>
                </a:tc>
                <a:tc>
                  <a:txBody>
                    <a:bodyPr/>
                    <a:lstStyle/>
                    <a:p>
                      <a:pPr algn="ctr"/>
                      <a:r>
                        <a:rPr lang="en-US" dirty="0"/>
                        <a:t>0.565</a:t>
                      </a:r>
                      <a:endParaRPr lang="en-US" i="0" dirty="0"/>
                    </a:p>
                  </a:txBody>
                  <a:tcPr anchor="ctr"/>
                </a:tc>
                <a:tc>
                  <a:txBody>
                    <a:bodyPr/>
                    <a:lstStyle/>
                    <a:p>
                      <a:pPr algn="ctr"/>
                      <a:r>
                        <a:rPr lang="en-US" dirty="0"/>
                        <a:t>0.565</a:t>
                      </a:r>
                      <a:endParaRPr lang="en-US" i="0" dirty="0"/>
                    </a:p>
                  </a:txBody>
                  <a:tcPr anchor="ctr"/>
                </a:tc>
                <a:tc>
                  <a:txBody>
                    <a:bodyPr/>
                    <a:lstStyle/>
                    <a:p>
                      <a:pPr algn="r"/>
                      <a:r>
                        <a:rPr lang="en-US" dirty="0"/>
                        <a:t>1147ms</a:t>
                      </a:r>
                    </a:p>
                  </a:txBody>
                  <a:tcPr anchor="ctr"/>
                </a:tc>
                <a:extLst>
                  <a:ext uri="{0D108BD9-81ED-4DB2-BD59-A6C34878D82A}">
                    <a16:rowId xmlns:a16="http://schemas.microsoft.com/office/drawing/2014/main" val="1675035009"/>
                  </a:ext>
                </a:extLst>
              </a:tr>
            </a:tbl>
          </a:graphicData>
        </a:graphic>
      </p:graphicFrame>
    </p:spTree>
    <p:extLst>
      <p:ext uri="{BB962C8B-B14F-4D97-AF65-F5344CB8AC3E}">
        <p14:creationId xmlns:p14="http://schemas.microsoft.com/office/powerpoint/2010/main" val="48855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7B953-94E0-F488-3DDB-89ED948DE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65DC0B-0823-5060-81D4-196BDE865F2C}"/>
              </a:ext>
            </a:extLst>
          </p:cNvPr>
          <p:cNvSpPr>
            <a:spLocks noGrp="1"/>
          </p:cNvSpPr>
          <p:nvPr>
            <p:ph type="title"/>
          </p:nvPr>
        </p:nvSpPr>
        <p:spPr>
          <a:xfrm>
            <a:off x="838200" y="365125"/>
            <a:ext cx="10515600" cy="1325563"/>
          </a:xfrm>
        </p:spPr>
        <p:txBody>
          <a:bodyPr>
            <a:normAutofit/>
          </a:bodyPr>
          <a:lstStyle/>
          <a:p>
            <a:r>
              <a:rPr lang="en-US" sz="4000" b="1" dirty="0">
                <a:latin typeface="Calibri" panose="020F0502020204030204" pitchFamily="34" charset="0"/>
                <a:cs typeface="Calibri" panose="020F0502020204030204" pitchFamily="34" charset="0"/>
              </a:rPr>
              <a:t>Method 1: </a:t>
            </a:r>
            <a:r>
              <a:rPr lang="en-US" sz="4000" b="1" dirty="0" err="1">
                <a:latin typeface="Calibri" panose="020F0502020204030204" pitchFamily="34" charset="0"/>
                <a:cs typeface="Calibri" panose="020F0502020204030204" pitchFamily="34" charset="0"/>
              </a:rPr>
              <a:t>HyDE</a:t>
            </a:r>
            <a:r>
              <a:rPr lang="en-US" sz="4000" b="1" dirty="0">
                <a:latin typeface="Calibri" panose="020F0502020204030204" pitchFamily="34" charset="0"/>
                <a:cs typeface="Calibri" panose="020F0502020204030204" pitchFamily="34" charset="0"/>
              </a:rPr>
              <a:t> Expansion </a:t>
            </a:r>
            <a:r>
              <a:rPr lang="en-US" sz="2800" b="1" dirty="0">
                <a:latin typeface="Calibri" panose="020F0502020204030204" pitchFamily="34" charset="0"/>
                <a:cs typeface="Calibri" panose="020F0502020204030204" pitchFamily="34" charset="0"/>
              </a:rPr>
              <a:t>(k=500, 100)</a:t>
            </a:r>
            <a:endParaRPr lang="en-US" sz="4000" b="1" dirty="0">
              <a:latin typeface="Calibri" panose="020F0502020204030204" pitchFamily="34" charset="0"/>
              <a:cs typeface="Calibri" panose="020F0502020204030204" pitchFamily="34" charset="0"/>
            </a:endParaRPr>
          </a:p>
        </p:txBody>
      </p:sp>
      <p:sp>
        <p:nvSpPr>
          <p:cNvPr id="4" name="Date Placeholder 3">
            <a:extLst>
              <a:ext uri="{FF2B5EF4-FFF2-40B4-BE49-F238E27FC236}">
                <a16:creationId xmlns:a16="http://schemas.microsoft.com/office/drawing/2014/main" id="{5DDD4C92-04C2-E312-BDC3-1730DE161BAC}"/>
              </a:ext>
            </a:extLst>
          </p:cNvPr>
          <p:cNvSpPr>
            <a:spLocks noGrp="1"/>
          </p:cNvSpPr>
          <p:nvPr>
            <p:ph type="dt" sz="half" idx="10"/>
          </p:nvPr>
        </p:nvSpPr>
        <p:spPr/>
        <p:txBody>
          <a:bodyPr/>
          <a:lstStyle/>
          <a:p>
            <a:fld id="{4B9484E0-EA99-6E40-9BD0-550CD26F6E0B}" type="datetime1">
              <a:rPr lang="en-US" smtClean="0">
                <a:latin typeface="Calibri" panose="020F0502020204030204" pitchFamily="34" charset="0"/>
                <a:cs typeface="Calibri" panose="020F0502020204030204" pitchFamily="34" charset="0"/>
              </a:rPr>
              <a:t>6/3/26</a:t>
            </a:fld>
            <a:endParaRPr lang="en-US">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4788B40C-9EDB-6DE1-AEB6-46AA2781899E}"/>
              </a:ext>
            </a:extLst>
          </p:cNvPr>
          <p:cNvSpPr>
            <a:spLocks noGrp="1"/>
          </p:cNvSpPr>
          <p:nvPr>
            <p:ph type="sldNum" sz="quarter" idx="12"/>
          </p:nvPr>
        </p:nvSpPr>
        <p:spPr/>
        <p:txBody>
          <a:bodyPr/>
          <a:lstStyle/>
          <a:p>
            <a:fld id="{9918A6A5-4FFB-434A-A92F-4AE444D35066}" type="slidenum">
              <a:rPr lang="en-US" smtClean="0">
                <a:latin typeface="Calibri" panose="020F0502020204030204" pitchFamily="34" charset="0"/>
                <a:cs typeface="Calibri" panose="020F0502020204030204" pitchFamily="34" charset="0"/>
              </a:rPr>
              <a:t>6</a:t>
            </a:fld>
            <a:endParaRPr lang="en-US">
              <a:latin typeface="Calibri" panose="020F0502020204030204" pitchFamily="34" charset="0"/>
              <a:cs typeface="Calibri" panose="020F0502020204030204" pitchFamily="34" charset="0"/>
            </a:endParaRPr>
          </a:p>
        </p:txBody>
      </p:sp>
      <p:graphicFrame>
        <p:nvGraphicFramePr>
          <p:cNvPr id="6" name="Content Placeholder 6">
            <a:extLst>
              <a:ext uri="{FF2B5EF4-FFF2-40B4-BE49-F238E27FC236}">
                <a16:creationId xmlns:a16="http://schemas.microsoft.com/office/drawing/2014/main" id="{F7D2BDB5-35D2-CB38-7BE2-9216364CE319}"/>
              </a:ext>
            </a:extLst>
          </p:cNvPr>
          <p:cNvGraphicFramePr>
            <a:graphicFrameLocks/>
          </p:cNvGraphicFramePr>
          <p:nvPr>
            <p:extLst>
              <p:ext uri="{D42A27DB-BD31-4B8C-83A1-F6EECF244321}">
                <p14:modId xmlns:p14="http://schemas.microsoft.com/office/powerpoint/2010/main" val="800837138"/>
              </p:ext>
            </p:extLst>
          </p:nvPr>
        </p:nvGraphicFramePr>
        <p:xfrm>
          <a:off x="838200" y="1690695"/>
          <a:ext cx="10922420" cy="1752600"/>
        </p:xfrm>
        <a:graphic>
          <a:graphicData uri="http://schemas.openxmlformats.org/drawingml/2006/table">
            <a:tbl>
              <a:tblPr firstRow="1" bandRow="1">
                <a:tableStyleId>{C4B1156A-380E-4F78-BDF5-A606A8083BF9}</a:tableStyleId>
              </a:tblPr>
              <a:tblGrid>
                <a:gridCol w="3042628">
                  <a:extLst>
                    <a:ext uri="{9D8B030D-6E8A-4147-A177-3AD203B41FA5}">
                      <a16:colId xmlns:a16="http://schemas.microsoft.com/office/drawing/2014/main" val="2738875573"/>
                    </a:ext>
                  </a:extLst>
                </a:gridCol>
                <a:gridCol w="984974">
                  <a:extLst>
                    <a:ext uri="{9D8B030D-6E8A-4147-A177-3AD203B41FA5}">
                      <a16:colId xmlns:a16="http://schemas.microsoft.com/office/drawing/2014/main" val="642727418"/>
                    </a:ext>
                  </a:extLst>
                </a:gridCol>
                <a:gridCol w="1181359">
                  <a:extLst>
                    <a:ext uri="{9D8B030D-6E8A-4147-A177-3AD203B41FA5}">
                      <a16:colId xmlns:a16="http://schemas.microsoft.com/office/drawing/2014/main" val="1402106019"/>
                    </a:ext>
                  </a:extLst>
                </a:gridCol>
                <a:gridCol w="914400">
                  <a:extLst>
                    <a:ext uri="{9D8B030D-6E8A-4147-A177-3AD203B41FA5}">
                      <a16:colId xmlns:a16="http://schemas.microsoft.com/office/drawing/2014/main" val="1992137792"/>
                    </a:ext>
                  </a:extLst>
                </a:gridCol>
                <a:gridCol w="859163">
                  <a:extLst>
                    <a:ext uri="{9D8B030D-6E8A-4147-A177-3AD203B41FA5}">
                      <a16:colId xmlns:a16="http://schemas.microsoft.com/office/drawing/2014/main" val="1988334267"/>
                    </a:ext>
                  </a:extLst>
                </a:gridCol>
                <a:gridCol w="984974">
                  <a:extLst>
                    <a:ext uri="{9D8B030D-6E8A-4147-A177-3AD203B41FA5}">
                      <a16:colId xmlns:a16="http://schemas.microsoft.com/office/drawing/2014/main" val="1396480155"/>
                    </a:ext>
                  </a:extLst>
                </a:gridCol>
                <a:gridCol w="1161821">
                  <a:extLst>
                    <a:ext uri="{9D8B030D-6E8A-4147-A177-3AD203B41FA5}">
                      <a16:colId xmlns:a16="http://schemas.microsoft.com/office/drawing/2014/main" val="4261984316"/>
                    </a:ext>
                  </a:extLst>
                </a:gridCol>
                <a:gridCol w="956442">
                  <a:extLst>
                    <a:ext uri="{9D8B030D-6E8A-4147-A177-3AD203B41FA5}">
                      <a16:colId xmlns:a16="http://schemas.microsoft.com/office/drawing/2014/main" val="2540366851"/>
                    </a:ext>
                  </a:extLst>
                </a:gridCol>
                <a:gridCol w="836659">
                  <a:extLst>
                    <a:ext uri="{9D8B030D-6E8A-4147-A177-3AD203B41FA5}">
                      <a16:colId xmlns:a16="http://schemas.microsoft.com/office/drawing/2014/main" val="961887914"/>
                    </a:ext>
                  </a:extLst>
                </a:gridCol>
              </a:tblGrid>
              <a:tr h="370840">
                <a:tc>
                  <a:txBody>
                    <a:bodyPr/>
                    <a:lstStyle/>
                    <a:p>
                      <a:pPr algn="ctr"/>
                      <a:r>
                        <a:rPr lang="en-US" b="1" dirty="0"/>
                        <a:t>Method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NDCG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@500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Precision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@500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Recall@500</a:t>
                      </a:r>
                    </a:p>
                  </a:txBody>
                  <a:tcPr anchor="ctr"/>
                </a:tc>
                <a:tc>
                  <a:txBody>
                    <a:bodyPr/>
                    <a:lstStyle/>
                    <a:p>
                      <a:pPr algn="ctr"/>
                      <a:r>
                        <a:rPr lang="en-US" dirty="0"/>
                        <a:t>F1</a:t>
                      </a:r>
                    </a:p>
                    <a:p>
                      <a:pPr algn="ctr"/>
                      <a:r>
                        <a:rPr lang="en-US" dirty="0"/>
                        <a:t>@500</a:t>
                      </a:r>
                    </a:p>
                  </a:txBody>
                  <a:tcPr anchor="ctr"/>
                </a:tc>
                <a:tc>
                  <a:txBody>
                    <a:bodyPr/>
                    <a:lstStyle/>
                    <a:p>
                      <a:pPr algn="ctr"/>
                      <a:r>
                        <a:rPr lang="en-US" dirty="0"/>
                        <a:t>NDCG</a:t>
                      </a:r>
                    </a:p>
                    <a:p>
                      <a:pPr algn="ctr"/>
                      <a:r>
                        <a:rPr lang="en-US" dirty="0"/>
                        <a:t>@100</a:t>
                      </a:r>
                    </a:p>
                  </a:txBody>
                  <a:tcPr anchor="ctr"/>
                </a:tc>
                <a:tc>
                  <a:txBody>
                    <a:bodyPr/>
                    <a:lstStyle/>
                    <a:p>
                      <a:pPr algn="ctr"/>
                      <a:r>
                        <a:rPr lang="en-US" dirty="0"/>
                        <a:t>Precision</a:t>
                      </a:r>
                    </a:p>
                    <a:p>
                      <a:pPr algn="ctr"/>
                      <a:r>
                        <a:rPr lang="en-US" dirty="0"/>
                        <a:t>@100</a:t>
                      </a:r>
                    </a:p>
                  </a:txBody>
                  <a:tcPr anchor="ctr"/>
                </a:tc>
                <a:tc>
                  <a:txBody>
                    <a:bodyPr/>
                    <a:lstStyle/>
                    <a:p>
                      <a:pPr algn="ctr"/>
                      <a:r>
                        <a:rPr lang="en-US" dirty="0"/>
                        <a:t>Recall@100</a:t>
                      </a:r>
                    </a:p>
                  </a:txBody>
                  <a:tcPr anchor="ctr"/>
                </a:tc>
                <a:tc>
                  <a:txBody>
                    <a:bodyPr/>
                    <a:lstStyle/>
                    <a:p>
                      <a:pPr algn="ctr"/>
                      <a:r>
                        <a:rPr lang="en-US" dirty="0"/>
                        <a:t>F1</a:t>
                      </a:r>
                    </a:p>
                    <a:p>
                      <a:pPr algn="ctr"/>
                      <a:r>
                        <a:rPr lang="en-US" dirty="0"/>
                        <a:t>@100</a:t>
                      </a:r>
                    </a:p>
                  </a:txBody>
                  <a:tcPr anchor="ctr"/>
                </a:tc>
                <a:extLst>
                  <a:ext uri="{0D108BD9-81ED-4DB2-BD59-A6C34878D82A}">
                    <a16:rowId xmlns:a16="http://schemas.microsoft.com/office/drawing/2014/main" val="1622018660"/>
                  </a:ext>
                </a:extLst>
              </a:tr>
              <a:tr h="370840">
                <a:tc>
                  <a:txBody>
                    <a:bodyPr/>
                    <a:lstStyle/>
                    <a:p>
                      <a:pPr algn="l"/>
                      <a:r>
                        <a:rPr lang="en-US" b="1" dirty="0" err="1">
                          <a:solidFill>
                            <a:srgbClr val="00B050"/>
                          </a:solidFill>
                        </a:rPr>
                        <a:t>MiniLM</a:t>
                      </a:r>
                      <a:endParaRPr lang="en-US" b="1" dirty="0">
                        <a:solidFill>
                          <a:srgbClr val="00B050"/>
                        </a:solidFill>
                      </a:endParaRPr>
                    </a:p>
                  </a:txBody>
                  <a:tcPr anchor="ctr"/>
                </a:tc>
                <a:tc>
                  <a:txBody>
                    <a:bodyPr/>
                    <a:lstStyle/>
                    <a:p>
                      <a:pPr algn="ctr"/>
                      <a:r>
                        <a:rPr lang="en-US" b="1" dirty="0">
                          <a:solidFill>
                            <a:srgbClr val="00B050"/>
                          </a:solidFill>
                        </a:rPr>
                        <a:t>0.872</a:t>
                      </a:r>
                      <a:endParaRPr lang="en-US" b="1" i="0" dirty="0">
                        <a:solidFill>
                          <a:srgbClr val="00B050"/>
                        </a:solidFill>
                      </a:endParaRPr>
                    </a:p>
                  </a:txBody>
                  <a:tcPr anchor="ctr"/>
                </a:tc>
                <a:tc>
                  <a:txBody>
                    <a:bodyPr/>
                    <a:lstStyle/>
                    <a:p>
                      <a:pPr algn="ctr"/>
                      <a:r>
                        <a:rPr lang="en-US" b="1" dirty="0">
                          <a:solidFill>
                            <a:srgbClr val="00B050"/>
                          </a:solidFill>
                        </a:rPr>
                        <a:t>0.858</a:t>
                      </a:r>
                      <a:endParaRPr lang="en-US" b="1" i="0" dirty="0">
                        <a:solidFill>
                          <a:srgbClr val="00B050"/>
                        </a:solidFill>
                      </a:endParaRPr>
                    </a:p>
                  </a:txBody>
                  <a:tcPr anchor="ctr"/>
                </a:tc>
                <a:tc>
                  <a:txBody>
                    <a:bodyPr/>
                    <a:lstStyle/>
                    <a:p>
                      <a:pPr algn="ctr"/>
                      <a:r>
                        <a:rPr lang="en-US" b="1" dirty="0">
                          <a:solidFill>
                            <a:srgbClr val="00B050"/>
                          </a:solidFill>
                        </a:rPr>
                        <a:t>0.429</a:t>
                      </a:r>
                      <a:endParaRPr lang="en-US" b="1" i="0" dirty="0">
                        <a:solidFill>
                          <a:srgbClr val="00B050"/>
                        </a:solidFill>
                      </a:endParaRPr>
                    </a:p>
                  </a:txBody>
                  <a:tcPr anchor="ctr"/>
                </a:tc>
                <a:tc>
                  <a:txBody>
                    <a:bodyPr/>
                    <a:lstStyle/>
                    <a:p>
                      <a:pPr algn="ctr"/>
                      <a:r>
                        <a:rPr lang="en-US" b="1" dirty="0">
                          <a:solidFill>
                            <a:srgbClr val="00B050"/>
                          </a:solidFill>
                        </a:rPr>
                        <a:t>0.572</a:t>
                      </a:r>
                      <a:endParaRPr lang="en-US" b="1" i="0" dirty="0">
                        <a:solidFill>
                          <a:srgbClr val="00B050"/>
                        </a:solidFill>
                      </a:endParaRPr>
                    </a:p>
                  </a:txBody>
                  <a:tcPr anchor="ctr"/>
                </a:tc>
                <a:tc>
                  <a:txBody>
                    <a:bodyPr/>
                    <a:lstStyle/>
                    <a:p>
                      <a:pPr algn="ctr"/>
                      <a:r>
                        <a:rPr lang="en-US" b="1" dirty="0">
                          <a:solidFill>
                            <a:srgbClr val="00B050"/>
                          </a:solidFill>
                        </a:rPr>
                        <a:t>0.945</a:t>
                      </a:r>
                      <a:endParaRPr lang="en-US" b="1" i="0" dirty="0">
                        <a:solidFill>
                          <a:srgbClr val="00B050"/>
                        </a:solidFill>
                      </a:endParaRPr>
                    </a:p>
                  </a:txBody>
                  <a:tcPr anchor="ctr"/>
                </a:tc>
                <a:tc>
                  <a:txBody>
                    <a:bodyPr/>
                    <a:lstStyle/>
                    <a:p>
                      <a:pPr algn="ctr"/>
                      <a:r>
                        <a:rPr lang="en-US" b="1" dirty="0">
                          <a:solidFill>
                            <a:srgbClr val="00B050"/>
                          </a:solidFill>
                        </a:rPr>
                        <a:t>0.938</a:t>
                      </a:r>
                      <a:endParaRPr lang="en-US" b="1" i="0" dirty="0">
                        <a:solidFill>
                          <a:srgbClr val="00B050"/>
                        </a:solidFill>
                      </a:endParaRPr>
                    </a:p>
                  </a:txBody>
                  <a:tcPr anchor="ctr"/>
                </a:tc>
                <a:tc>
                  <a:txBody>
                    <a:bodyPr/>
                    <a:lstStyle/>
                    <a:p>
                      <a:pPr algn="ctr"/>
                      <a:r>
                        <a:rPr lang="en-US" b="1" dirty="0">
                          <a:solidFill>
                            <a:srgbClr val="00B050"/>
                          </a:solidFill>
                        </a:rPr>
                        <a:t>0.094</a:t>
                      </a:r>
                      <a:endParaRPr lang="en-US" b="1" i="0" dirty="0">
                        <a:solidFill>
                          <a:srgbClr val="00B050"/>
                        </a:solidFill>
                      </a:endParaRPr>
                    </a:p>
                  </a:txBody>
                  <a:tcPr anchor="ctr"/>
                </a:tc>
                <a:tc>
                  <a:txBody>
                    <a:bodyPr/>
                    <a:lstStyle/>
                    <a:p>
                      <a:pPr algn="ctr"/>
                      <a:r>
                        <a:rPr lang="en-US" b="1" dirty="0">
                          <a:solidFill>
                            <a:srgbClr val="00B050"/>
                          </a:solidFill>
                        </a:rPr>
                        <a:t>0.171</a:t>
                      </a:r>
                      <a:endParaRPr lang="en-US" b="1" i="0" dirty="0">
                        <a:solidFill>
                          <a:srgbClr val="00B050"/>
                        </a:solidFill>
                      </a:endParaRPr>
                    </a:p>
                  </a:txBody>
                  <a:tcPr anchor="ctr"/>
                </a:tc>
                <a:extLst>
                  <a:ext uri="{0D108BD9-81ED-4DB2-BD59-A6C34878D82A}">
                    <a16:rowId xmlns:a16="http://schemas.microsoft.com/office/drawing/2014/main" val="4188287029"/>
                  </a:ext>
                </a:extLst>
              </a:tr>
              <a:tr h="370840">
                <a:tc>
                  <a:txBody>
                    <a:bodyPr/>
                    <a:lstStyle/>
                    <a:p>
                      <a:pPr algn="l"/>
                      <a:r>
                        <a:rPr lang="en-US" b="1" dirty="0" err="1"/>
                        <a:t>HyDE</a:t>
                      </a:r>
                      <a:r>
                        <a:rPr lang="en-US" b="1" dirty="0"/>
                        <a:t> + </a:t>
                      </a:r>
                      <a:r>
                        <a:rPr lang="en-US" b="1" dirty="0" err="1"/>
                        <a:t>MiniLM</a:t>
                      </a:r>
                      <a:endParaRPr lang="en-US" b="1" dirty="0"/>
                    </a:p>
                  </a:txBody>
                  <a:tcPr anchor="ctr"/>
                </a:tc>
                <a:tc>
                  <a:txBody>
                    <a:bodyPr/>
                    <a:lstStyle/>
                    <a:p>
                      <a:pPr algn="ctr"/>
                      <a:r>
                        <a:rPr lang="en-US" dirty="0"/>
                        <a:t>0.668</a:t>
                      </a:r>
                      <a:endParaRPr lang="en-US" i="0" dirty="0"/>
                    </a:p>
                  </a:txBody>
                  <a:tcPr anchor="ctr"/>
                </a:tc>
                <a:tc>
                  <a:txBody>
                    <a:bodyPr/>
                    <a:lstStyle/>
                    <a:p>
                      <a:pPr algn="ctr"/>
                      <a:r>
                        <a:rPr lang="en-US" dirty="0"/>
                        <a:t>0.656</a:t>
                      </a:r>
                      <a:endParaRPr lang="en-US" i="0" dirty="0"/>
                    </a:p>
                  </a:txBody>
                  <a:tcPr anchor="ctr"/>
                </a:tc>
                <a:tc>
                  <a:txBody>
                    <a:bodyPr/>
                    <a:lstStyle/>
                    <a:p>
                      <a:pPr algn="ctr"/>
                      <a:r>
                        <a:rPr lang="en-US" dirty="0"/>
                        <a:t>0.328</a:t>
                      </a:r>
                      <a:endParaRPr lang="en-US" i="0" dirty="0"/>
                    </a:p>
                  </a:txBody>
                  <a:tcPr anchor="ctr"/>
                </a:tc>
                <a:tc>
                  <a:txBody>
                    <a:bodyPr/>
                    <a:lstStyle/>
                    <a:p>
                      <a:pPr algn="ctr"/>
                      <a:r>
                        <a:rPr lang="en-US" dirty="0"/>
                        <a:t>0.438</a:t>
                      </a:r>
                      <a:endParaRPr lang="en-US" i="0" dirty="0"/>
                    </a:p>
                  </a:txBody>
                  <a:tcPr anchor="ctr"/>
                </a:tc>
                <a:tc>
                  <a:txBody>
                    <a:bodyPr/>
                    <a:lstStyle/>
                    <a:p>
                      <a:pPr algn="ctr"/>
                      <a:r>
                        <a:rPr lang="en-US" dirty="0"/>
                        <a:t>0.729</a:t>
                      </a:r>
                      <a:endParaRPr lang="en-US" i="0" dirty="0"/>
                    </a:p>
                  </a:txBody>
                  <a:tcPr anchor="ctr"/>
                </a:tc>
                <a:tc>
                  <a:txBody>
                    <a:bodyPr/>
                    <a:lstStyle/>
                    <a:p>
                      <a:pPr algn="ctr"/>
                      <a:r>
                        <a:rPr lang="en-US" dirty="0"/>
                        <a:t>0.725</a:t>
                      </a:r>
                      <a:endParaRPr lang="en-US" i="0" dirty="0"/>
                    </a:p>
                  </a:txBody>
                  <a:tcPr anchor="ctr"/>
                </a:tc>
                <a:tc>
                  <a:txBody>
                    <a:bodyPr/>
                    <a:lstStyle/>
                    <a:p>
                      <a:pPr algn="ctr"/>
                      <a:r>
                        <a:rPr lang="en-US" dirty="0"/>
                        <a:t>0.073</a:t>
                      </a:r>
                      <a:endParaRPr lang="en-US" i="0" dirty="0"/>
                    </a:p>
                  </a:txBody>
                  <a:tcPr anchor="ctr"/>
                </a:tc>
                <a:tc>
                  <a:txBody>
                    <a:bodyPr/>
                    <a:lstStyle/>
                    <a:p>
                      <a:pPr algn="ctr"/>
                      <a:r>
                        <a:rPr lang="en-US" dirty="0"/>
                        <a:t>0.132</a:t>
                      </a:r>
                      <a:endParaRPr lang="en-US" i="0" dirty="0"/>
                    </a:p>
                  </a:txBody>
                  <a:tcPr anchor="ctr"/>
                </a:tc>
                <a:extLst>
                  <a:ext uri="{0D108BD9-81ED-4DB2-BD59-A6C34878D82A}">
                    <a16:rowId xmlns:a16="http://schemas.microsoft.com/office/drawing/2014/main" val="3682947584"/>
                  </a:ext>
                </a:extLst>
              </a:tr>
              <a:tr h="370840">
                <a:tc>
                  <a:txBody>
                    <a:bodyPr/>
                    <a:lstStyle/>
                    <a:p>
                      <a:pPr algn="l"/>
                      <a:r>
                        <a:rPr lang="en-US" b="1" dirty="0" err="1"/>
                        <a:t>HyDE</a:t>
                      </a:r>
                      <a:r>
                        <a:rPr lang="en-US" b="1" dirty="0"/>
                        <a:t> + </a:t>
                      </a:r>
                      <a:r>
                        <a:rPr lang="en-US" b="1" dirty="0" err="1"/>
                        <a:t>MiniLM</a:t>
                      </a:r>
                      <a:r>
                        <a:rPr lang="en-US" b="1" dirty="0"/>
                        <a:t> + </a:t>
                      </a:r>
                      <a:r>
                        <a:rPr lang="en-US" b="1" dirty="0" err="1"/>
                        <a:t>Reranker</a:t>
                      </a:r>
                      <a:endParaRPr lang="en-US" b="1" dirty="0"/>
                    </a:p>
                  </a:txBody>
                  <a:tcPr anchor="ctr"/>
                </a:tc>
                <a:tc>
                  <a:txBody>
                    <a:bodyPr/>
                    <a:lstStyle/>
                    <a:p>
                      <a:pPr algn="ctr"/>
                      <a:r>
                        <a:rPr lang="en-US" dirty="0"/>
                        <a:t>0.675</a:t>
                      </a:r>
                      <a:endParaRPr lang="en-US" i="0" dirty="0"/>
                    </a:p>
                  </a:txBody>
                  <a:tcPr anchor="ctr"/>
                </a:tc>
                <a:tc>
                  <a:txBody>
                    <a:bodyPr/>
                    <a:lstStyle/>
                    <a:p>
                      <a:pPr algn="ctr"/>
                      <a:r>
                        <a:rPr lang="en-US" dirty="0"/>
                        <a:t>0.656</a:t>
                      </a:r>
                      <a:endParaRPr lang="en-US" i="0" dirty="0"/>
                    </a:p>
                  </a:txBody>
                  <a:tcPr anchor="ctr"/>
                </a:tc>
                <a:tc>
                  <a:txBody>
                    <a:bodyPr/>
                    <a:lstStyle/>
                    <a:p>
                      <a:pPr algn="ctr"/>
                      <a:r>
                        <a:rPr lang="en-US" dirty="0"/>
                        <a:t>0.328</a:t>
                      </a:r>
                      <a:endParaRPr lang="en-US" i="0" dirty="0"/>
                    </a:p>
                  </a:txBody>
                  <a:tcPr anchor="ctr"/>
                </a:tc>
                <a:tc>
                  <a:txBody>
                    <a:bodyPr/>
                    <a:lstStyle/>
                    <a:p>
                      <a:pPr algn="ctr"/>
                      <a:r>
                        <a:rPr lang="en-US" dirty="0"/>
                        <a:t>0.438</a:t>
                      </a:r>
                      <a:endParaRPr lang="en-US" i="0" dirty="0"/>
                    </a:p>
                  </a:txBody>
                  <a:tcPr anchor="ctr"/>
                </a:tc>
                <a:tc>
                  <a:txBody>
                    <a:bodyPr/>
                    <a:lstStyle/>
                    <a:p>
                      <a:pPr algn="ctr"/>
                      <a:r>
                        <a:rPr lang="en-US" dirty="0"/>
                        <a:t>0.754</a:t>
                      </a:r>
                      <a:endParaRPr lang="en-US" i="0" dirty="0"/>
                    </a:p>
                  </a:txBody>
                  <a:tcPr anchor="ctr"/>
                </a:tc>
                <a:tc>
                  <a:txBody>
                    <a:bodyPr/>
                    <a:lstStyle/>
                    <a:p>
                      <a:pPr algn="ctr"/>
                      <a:r>
                        <a:rPr lang="en-US" dirty="0"/>
                        <a:t>0.725</a:t>
                      </a:r>
                      <a:endParaRPr lang="en-US" i="0" dirty="0"/>
                    </a:p>
                  </a:txBody>
                  <a:tcPr anchor="ctr"/>
                </a:tc>
                <a:tc>
                  <a:txBody>
                    <a:bodyPr/>
                    <a:lstStyle/>
                    <a:p>
                      <a:pPr algn="ctr"/>
                      <a:r>
                        <a:rPr lang="en-US" dirty="0"/>
                        <a:t>0.073</a:t>
                      </a:r>
                      <a:endParaRPr lang="en-US" i="0" dirty="0"/>
                    </a:p>
                  </a:txBody>
                  <a:tcPr anchor="ctr"/>
                </a:tc>
                <a:tc>
                  <a:txBody>
                    <a:bodyPr/>
                    <a:lstStyle/>
                    <a:p>
                      <a:pPr algn="ctr"/>
                      <a:r>
                        <a:rPr lang="en-US" dirty="0"/>
                        <a:t>0.132</a:t>
                      </a:r>
                      <a:endParaRPr lang="en-US" i="0" dirty="0"/>
                    </a:p>
                  </a:txBody>
                  <a:tcPr anchor="ctr"/>
                </a:tc>
                <a:extLst>
                  <a:ext uri="{0D108BD9-81ED-4DB2-BD59-A6C34878D82A}">
                    <a16:rowId xmlns:a16="http://schemas.microsoft.com/office/drawing/2014/main" val="1675035009"/>
                  </a:ext>
                </a:extLst>
              </a:tr>
            </a:tbl>
          </a:graphicData>
        </a:graphic>
      </p:graphicFrame>
    </p:spTree>
    <p:extLst>
      <p:ext uri="{BB962C8B-B14F-4D97-AF65-F5344CB8AC3E}">
        <p14:creationId xmlns:p14="http://schemas.microsoft.com/office/powerpoint/2010/main" val="2114998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8321E-935C-F0ED-4184-BE33050062B1}"/>
              </a:ext>
            </a:extLst>
          </p:cNvPr>
          <p:cNvSpPr>
            <a:spLocks noGrp="1"/>
          </p:cNvSpPr>
          <p:nvPr>
            <p:ph type="title"/>
          </p:nvPr>
        </p:nvSpPr>
        <p:spPr/>
        <p:txBody>
          <a:bodyPr>
            <a:normAutofit/>
          </a:bodyPr>
          <a:lstStyle/>
          <a:p>
            <a:r>
              <a:rPr lang="en-US" sz="4000" b="1" dirty="0">
                <a:latin typeface="Calibri" panose="020F0502020204030204" pitchFamily="34" charset="0"/>
                <a:cs typeface="Calibri" panose="020F0502020204030204" pitchFamily="34" charset="0"/>
              </a:rPr>
              <a:t>Method 2: Hybrid Reciprocal Rank Fusion (RRF)</a:t>
            </a:r>
          </a:p>
        </p:txBody>
      </p:sp>
      <p:sp>
        <p:nvSpPr>
          <p:cNvPr id="3" name="Content Placeholder 2">
            <a:extLst>
              <a:ext uri="{FF2B5EF4-FFF2-40B4-BE49-F238E27FC236}">
                <a16:creationId xmlns:a16="http://schemas.microsoft.com/office/drawing/2014/main" id="{73BAA16C-0B00-2A17-3319-266982E0614D}"/>
              </a:ext>
            </a:extLst>
          </p:cNvPr>
          <p:cNvSpPr>
            <a:spLocks noGrp="1"/>
          </p:cNvSpPr>
          <p:nvPr>
            <p:ph idx="1"/>
          </p:nvPr>
        </p:nvSpPr>
        <p:spPr>
          <a:xfrm>
            <a:off x="838200" y="1691513"/>
            <a:ext cx="10896600" cy="4351338"/>
          </a:xfrm>
        </p:spPr>
        <p:txBody>
          <a:bodyPr/>
          <a:lstStyle/>
          <a:p>
            <a:r>
              <a:rPr lang="en-US" dirty="0">
                <a:latin typeface="Calibri" panose="020F0502020204030204" pitchFamily="34" charset="0"/>
                <a:cs typeface="Calibri" panose="020F0502020204030204" pitchFamily="34" charset="0"/>
              </a:rPr>
              <a:t>rank aggregation method that combines multiple ranked lists into one without needing any training data or score calibration</a:t>
            </a:r>
          </a:p>
          <a:p>
            <a:r>
              <a:rPr lang="en-US" dirty="0">
                <a:latin typeface="Calibri" panose="020F0502020204030204" pitchFamily="34" charset="0"/>
                <a:cs typeface="Calibri" panose="020F0502020204030204" pitchFamily="34" charset="0"/>
              </a:rPr>
              <a:t>parameter-free </a:t>
            </a:r>
          </a:p>
          <a:p>
            <a:r>
              <a:rPr lang="en-US" dirty="0">
                <a:latin typeface="Calibri" panose="020F0502020204030204" pitchFamily="34" charset="0"/>
                <a:cs typeface="Calibri" panose="020F0502020204030204" pitchFamily="34" charset="0"/>
              </a:rPr>
              <a:t>shown to outperform individual retrievers</a:t>
            </a:r>
          </a:p>
          <a:p>
            <a:r>
              <a:rPr lang="en-US" dirty="0">
                <a:latin typeface="Calibri" panose="020F0502020204030204" pitchFamily="34" charset="0"/>
                <a:cs typeface="Calibri" panose="020F0502020204030204" pitchFamily="34" charset="0"/>
              </a:rPr>
              <a:t>ideal k=60; experimented with multiple k’s </a:t>
            </a:r>
          </a:p>
          <a:p>
            <a:r>
              <a:rPr lang="en-US" dirty="0">
                <a:solidFill>
                  <a:srgbClr val="FF0000"/>
                </a:solidFill>
                <a:latin typeface="Calibri" panose="020F0502020204030204" pitchFamily="34" charset="0"/>
                <a:cs typeface="Calibri" panose="020F0502020204030204" pitchFamily="34" charset="0"/>
              </a:rPr>
              <a:t>when one ranker (BM25 at 0.212) is significantly weaker than the other (</a:t>
            </a:r>
            <a:r>
              <a:rPr lang="en-US" dirty="0" err="1">
                <a:solidFill>
                  <a:srgbClr val="FF0000"/>
                </a:solidFill>
                <a:latin typeface="Calibri" panose="020F0502020204030204" pitchFamily="34" charset="0"/>
                <a:cs typeface="Calibri" panose="020F0502020204030204" pitchFamily="34" charset="0"/>
              </a:rPr>
              <a:t>MiniLM</a:t>
            </a:r>
            <a:r>
              <a:rPr lang="en-US" dirty="0">
                <a:solidFill>
                  <a:srgbClr val="FF0000"/>
                </a:solidFill>
                <a:latin typeface="Calibri" panose="020F0502020204030204" pitchFamily="34" charset="0"/>
                <a:cs typeface="Calibri" panose="020F0502020204030204" pitchFamily="34" charset="0"/>
              </a:rPr>
              <a:t> at 0.293), the stronger ranker dominates and RRF cannot exceed it</a:t>
            </a:r>
          </a:p>
          <a:p>
            <a:endParaRPr lang="en-US" dirty="0">
              <a:latin typeface="Calibri" panose="020F0502020204030204" pitchFamily="34" charset="0"/>
              <a:cs typeface="Calibri" panose="020F0502020204030204" pitchFamily="34" charset="0"/>
            </a:endParaRPr>
          </a:p>
        </p:txBody>
      </p:sp>
      <p:sp>
        <p:nvSpPr>
          <p:cNvPr id="4" name="Date Placeholder 3">
            <a:extLst>
              <a:ext uri="{FF2B5EF4-FFF2-40B4-BE49-F238E27FC236}">
                <a16:creationId xmlns:a16="http://schemas.microsoft.com/office/drawing/2014/main" id="{53CA24FE-6789-62A2-538D-95D696307DBC}"/>
              </a:ext>
            </a:extLst>
          </p:cNvPr>
          <p:cNvSpPr>
            <a:spLocks noGrp="1"/>
          </p:cNvSpPr>
          <p:nvPr>
            <p:ph type="dt" sz="half" idx="10"/>
          </p:nvPr>
        </p:nvSpPr>
        <p:spPr/>
        <p:txBody>
          <a:bodyPr/>
          <a:lstStyle/>
          <a:p>
            <a:fld id="{4B9484E0-EA99-6E40-9BD0-550CD26F6E0B}" type="datetime1">
              <a:rPr lang="en-US" smtClean="0">
                <a:latin typeface="Calibri" panose="020F0502020204030204" pitchFamily="34" charset="0"/>
                <a:cs typeface="Calibri" panose="020F0502020204030204" pitchFamily="34" charset="0"/>
              </a:rPr>
              <a:t>6/3/26</a:t>
            </a:fld>
            <a:endParaRPr lang="en-US">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B56E89A8-5541-30AD-39AD-6710472D3FC8}"/>
              </a:ext>
            </a:extLst>
          </p:cNvPr>
          <p:cNvSpPr>
            <a:spLocks noGrp="1"/>
          </p:cNvSpPr>
          <p:nvPr>
            <p:ph type="sldNum" sz="quarter" idx="12"/>
          </p:nvPr>
        </p:nvSpPr>
        <p:spPr/>
        <p:txBody>
          <a:bodyPr/>
          <a:lstStyle/>
          <a:p>
            <a:fld id="{9918A6A5-4FFB-434A-A92F-4AE444D35066}" type="slidenum">
              <a:rPr lang="en-US" smtClean="0">
                <a:latin typeface="Calibri" panose="020F0502020204030204" pitchFamily="34" charset="0"/>
                <a:cs typeface="Calibri" panose="020F0502020204030204" pitchFamily="34" charset="0"/>
              </a:rPr>
              <a:t>7</a:t>
            </a:fld>
            <a:endParaRPr lang="en-US">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27506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56236-F019-D607-2C8A-F6DE9FB8A4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7D41F-DA80-7BBB-8EE3-F856B4398212}"/>
              </a:ext>
            </a:extLst>
          </p:cNvPr>
          <p:cNvSpPr>
            <a:spLocks noGrp="1"/>
          </p:cNvSpPr>
          <p:nvPr>
            <p:ph type="title"/>
          </p:nvPr>
        </p:nvSpPr>
        <p:spPr>
          <a:xfrm>
            <a:off x="838200" y="365125"/>
            <a:ext cx="10515600" cy="1325563"/>
          </a:xfrm>
        </p:spPr>
        <p:txBody>
          <a:bodyPr/>
          <a:lstStyle/>
          <a:p>
            <a:r>
              <a:rPr lang="en-US" sz="4000" b="1" dirty="0"/>
              <a:t>Method 2: Hybrid RRF </a:t>
            </a:r>
            <a:r>
              <a:rPr kumimoji="0" lang="en-US" sz="2800" b="1" i="0" u="none" strike="noStrike" kern="1200" cap="none" spc="0" normalizeH="0" baseline="0" noProof="0" dirty="0">
                <a:ln>
                  <a:noFill/>
                </a:ln>
                <a:solidFill>
                  <a:prstClr val="black"/>
                </a:solidFill>
                <a:effectLst/>
                <a:uLnTx/>
                <a:uFillTx/>
                <a:latin typeface="Aptos Display" panose="02110004020202020204"/>
                <a:ea typeface="+mj-ea"/>
                <a:cs typeface="+mj-cs"/>
              </a:rPr>
              <a:t>(k=1000)</a:t>
            </a:r>
            <a:endParaRPr lang="en-US" b="1" dirty="0"/>
          </a:p>
        </p:txBody>
      </p:sp>
      <p:sp>
        <p:nvSpPr>
          <p:cNvPr id="4" name="Date Placeholder 3">
            <a:extLst>
              <a:ext uri="{FF2B5EF4-FFF2-40B4-BE49-F238E27FC236}">
                <a16:creationId xmlns:a16="http://schemas.microsoft.com/office/drawing/2014/main" id="{9A3A51F6-EDB4-23A3-B459-3810E4593896}"/>
              </a:ext>
            </a:extLst>
          </p:cNvPr>
          <p:cNvSpPr>
            <a:spLocks noGrp="1"/>
          </p:cNvSpPr>
          <p:nvPr>
            <p:ph type="dt" sz="half" idx="10"/>
          </p:nvPr>
        </p:nvSpPr>
        <p:spPr/>
        <p:txBody>
          <a:bodyPr/>
          <a:lstStyle/>
          <a:p>
            <a:fld id="{4B9484E0-EA99-6E40-9BD0-550CD26F6E0B}" type="datetime1">
              <a:rPr lang="en-US" smtClean="0"/>
              <a:t>6/3/26</a:t>
            </a:fld>
            <a:endParaRPr lang="en-US"/>
          </a:p>
        </p:txBody>
      </p:sp>
      <p:sp>
        <p:nvSpPr>
          <p:cNvPr id="5" name="Slide Number Placeholder 4">
            <a:extLst>
              <a:ext uri="{FF2B5EF4-FFF2-40B4-BE49-F238E27FC236}">
                <a16:creationId xmlns:a16="http://schemas.microsoft.com/office/drawing/2014/main" id="{CED626EB-466D-5A72-B48F-6C2F3C13F19D}"/>
              </a:ext>
            </a:extLst>
          </p:cNvPr>
          <p:cNvSpPr>
            <a:spLocks noGrp="1"/>
          </p:cNvSpPr>
          <p:nvPr>
            <p:ph type="sldNum" sz="quarter" idx="12"/>
          </p:nvPr>
        </p:nvSpPr>
        <p:spPr/>
        <p:txBody>
          <a:bodyPr/>
          <a:lstStyle/>
          <a:p>
            <a:fld id="{9918A6A5-4FFB-434A-A92F-4AE444D35066}" type="slidenum">
              <a:rPr lang="en-US" smtClean="0"/>
              <a:t>8</a:t>
            </a:fld>
            <a:endParaRPr lang="en-US"/>
          </a:p>
        </p:txBody>
      </p:sp>
      <p:graphicFrame>
        <p:nvGraphicFramePr>
          <p:cNvPr id="7" name="Content Placeholder 6">
            <a:extLst>
              <a:ext uri="{FF2B5EF4-FFF2-40B4-BE49-F238E27FC236}">
                <a16:creationId xmlns:a16="http://schemas.microsoft.com/office/drawing/2014/main" id="{F87E0CE8-2774-2FAC-050E-BEB5DD6965EF}"/>
              </a:ext>
            </a:extLst>
          </p:cNvPr>
          <p:cNvGraphicFramePr>
            <a:graphicFrameLocks/>
          </p:cNvGraphicFramePr>
          <p:nvPr>
            <p:extLst>
              <p:ext uri="{D42A27DB-BD31-4B8C-83A1-F6EECF244321}">
                <p14:modId xmlns:p14="http://schemas.microsoft.com/office/powerpoint/2010/main" val="3573686882"/>
              </p:ext>
            </p:extLst>
          </p:nvPr>
        </p:nvGraphicFramePr>
        <p:xfrm>
          <a:off x="838200" y="1680398"/>
          <a:ext cx="10896598" cy="1752600"/>
        </p:xfrm>
        <a:graphic>
          <a:graphicData uri="http://schemas.openxmlformats.org/drawingml/2006/table">
            <a:tbl>
              <a:tblPr firstRow="1" bandRow="1">
                <a:tableStyleId>{C4B1156A-380E-4F78-BDF5-A606A8083BF9}</a:tableStyleId>
              </a:tblPr>
              <a:tblGrid>
                <a:gridCol w="3344863">
                  <a:extLst>
                    <a:ext uri="{9D8B030D-6E8A-4147-A177-3AD203B41FA5}">
                      <a16:colId xmlns:a16="http://schemas.microsoft.com/office/drawing/2014/main" val="2738875573"/>
                    </a:ext>
                  </a:extLst>
                </a:gridCol>
                <a:gridCol w="1510347">
                  <a:extLst>
                    <a:ext uri="{9D8B030D-6E8A-4147-A177-3AD203B41FA5}">
                      <a16:colId xmlns:a16="http://schemas.microsoft.com/office/drawing/2014/main" val="642727418"/>
                    </a:ext>
                  </a:extLst>
                </a:gridCol>
                <a:gridCol w="1510347">
                  <a:extLst>
                    <a:ext uri="{9D8B030D-6E8A-4147-A177-3AD203B41FA5}">
                      <a16:colId xmlns:a16="http://schemas.microsoft.com/office/drawing/2014/main" val="1402106019"/>
                    </a:ext>
                  </a:extLst>
                </a:gridCol>
                <a:gridCol w="1510347">
                  <a:extLst>
                    <a:ext uri="{9D8B030D-6E8A-4147-A177-3AD203B41FA5}">
                      <a16:colId xmlns:a16="http://schemas.microsoft.com/office/drawing/2014/main" val="1992137792"/>
                    </a:ext>
                  </a:extLst>
                </a:gridCol>
                <a:gridCol w="1510347">
                  <a:extLst>
                    <a:ext uri="{9D8B030D-6E8A-4147-A177-3AD203B41FA5}">
                      <a16:colId xmlns:a16="http://schemas.microsoft.com/office/drawing/2014/main" val="1988334267"/>
                    </a:ext>
                  </a:extLst>
                </a:gridCol>
                <a:gridCol w="1510347">
                  <a:extLst>
                    <a:ext uri="{9D8B030D-6E8A-4147-A177-3AD203B41FA5}">
                      <a16:colId xmlns:a16="http://schemas.microsoft.com/office/drawing/2014/main" val="2084311506"/>
                    </a:ext>
                  </a:extLst>
                </a:gridCol>
              </a:tblGrid>
              <a:tr h="370840">
                <a:tc>
                  <a:txBody>
                    <a:bodyPr/>
                    <a:lstStyle/>
                    <a:p>
                      <a:pPr algn="ctr"/>
                      <a:r>
                        <a:rPr lang="en-US" b="1" dirty="0"/>
                        <a:t>Method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NDCG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@1000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Precision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@1000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Recall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@1000</a:t>
                      </a:r>
                    </a:p>
                  </a:txBody>
                  <a:tcPr anchor="ctr"/>
                </a:tc>
                <a:tc>
                  <a:txBody>
                    <a:bodyPr/>
                    <a:lstStyle/>
                    <a:p>
                      <a:pPr algn="ctr"/>
                      <a:r>
                        <a:rPr lang="en-US" dirty="0"/>
                        <a:t>F1</a:t>
                      </a:r>
                    </a:p>
                    <a:p>
                      <a:pPr algn="ctr"/>
                      <a:r>
                        <a:rPr lang="en-US" dirty="0"/>
                        <a:t>@1000</a:t>
                      </a:r>
                    </a:p>
                  </a:txBody>
                  <a:tcPr anchor="ctr"/>
                </a:tc>
                <a:tc>
                  <a:txBody>
                    <a:bodyPr/>
                    <a:lstStyle/>
                    <a:p>
                      <a:pPr algn="ctr"/>
                      <a:r>
                        <a:rPr lang="en-US" dirty="0"/>
                        <a:t>Avg. Query Latency</a:t>
                      </a:r>
                    </a:p>
                  </a:txBody>
                  <a:tcPr anchor="ctr"/>
                </a:tc>
                <a:extLst>
                  <a:ext uri="{0D108BD9-81ED-4DB2-BD59-A6C34878D82A}">
                    <a16:rowId xmlns:a16="http://schemas.microsoft.com/office/drawing/2014/main" val="1622018660"/>
                  </a:ext>
                </a:extLst>
              </a:tr>
              <a:tr h="370840">
                <a:tc>
                  <a:txBody>
                    <a:bodyPr/>
                    <a:lstStyle/>
                    <a:p>
                      <a:pPr algn="l"/>
                      <a:r>
                        <a:rPr lang="en-US" b="1" dirty="0" err="1">
                          <a:solidFill>
                            <a:srgbClr val="00B050"/>
                          </a:solidFill>
                        </a:rPr>
                        <a:t>MiniLM</a:t>
                      </a:r>
                      <a:r>
                        <a:rPr lang="en-US" b="1" dirty="0">
                          <a:solidFill>
                            <a:srgbClr val="00B050"/>
                          </a:solidFill>
                        </a:rPr>
                        <a:t> </a:t>
                      </a:r>
                    </a:p>
                  </a:txBody>
                  <a:tcPr anchor="ctr"/>
                </a:tc>
                <a:tc>
                  <a:txBody>
                    <a:bodyPr/>
                    <a:lstStyle/>
                    <a:p>
                      <a:pPr algn="ctr"/>
                      <a:r>
                        <a:rPr lang="en-US" b="1" dirty="0">
                          <a:solidFill>
                            <a:srgbClr val="00B050"/>
                          </a:solidFill>
                        </a:rPr>
                        <a:t>0.767</a:t>
                      </a:r>
                      <a:endParaRPr lang="en-US" b="1" i="0" dirty="0">
                        <a:solidFill>
                          <a:srgbClr val="00B050"/>
                        </a:solidFill>
                      </a:endParaRPr>
                    </a:p>
                  </a:txBody>
                  <a:tcPr anchor="ctr"/>
                </a:tc>
                <a:tc>
                  <a:txBody>
                    <a:bodyPr/>
                    <a:lstStyle/>
                    <a:p>
                      <a:pPr algn="ctr"/>
                      <a:r>
                        <a:rPr lang="en-US" b="1" dirty="0">
                          <a:solidFill>
                            <a:srgbClr val="00B050"/>
                          </a:solidFill>
                        </a:rPr>
                        <a:t>0.741</a:t>
                      </a:r>
                      <a:endParaRPr lang="en-US" b="1" i="0" dirty="0">
                        <a:solidFill>
                          <a:srgbClr val="00B050"/>
                        </a:solidFill>
                      </a:endParaRPr>
                    </a:p>
                  </a:txBody>
                  <a:tcPr anchor="ctr"/>
                </a:tc>
                <a:tc>
                  <a:txBody>
                    <a:bodyPr/>
                    <a:lstStyle/>
                    <a:p>
                      <a:pPr algn="ctr"/>
                      <a:r>
                        <a:rPr lang="en-US" b="1" dirty="0">
                          <a:solidFill>
                            <a:srgbClr val="00B050"/>
                          </a:solidFill>
                        </a:rPr>
                        <a:t>0.741</a:t>
                      </a:r>
                      <a:endParaRPr lang="en-US" b="1" i="0" dirty="0">
                        <a:solidFill>
                          <a:srgbClr val="00B050"/>
                        </a:solidFill>
                      </a:endParaRPr>
                    </a:p>
                  </a:txBody>
                  <a:tcPr anchor="ctr"/>
                </a:tc>
                <a:tc>
                  <a:txBody>
                    <a:bodyPr/>
                    <a:lstStyle/>
                    <a:p>
                      <a:pPr algn="ctr"/>
                      <a:r>
                        <a:rPr lang="en-US" b="1" dirty="0">
                          <a:solidFill>
                            <a:srgbClr val="00B050"/>
                          </a:solidFill>
                        </a:rPr>
                        <a:t>0.741</a:t>
                      </a:r>
                      <a:endParaRPr lang="en-US" b="1" i="0" dirty="0">
                        <a:solidFill>
                          <a:srgbClr val="00B050"/>
                        </a:solidFill>
                      </a:endParaRPr>
                    </a:p>
                  </a:txBody>
                  <a:tcPr anchor="ctr"/>
                </a:tc>
                <a:tc>
                  <a:txBody>
                    <a:bodyPr/>
                    <a:lstStyle/>
                    <a:p>
                      <a:pPr algn="r"/>
                      <a:r>
                        <a:rPr lang="en-US" b="1" dirty="0">
                          <a:solidFill>
                            <a:srgbClr val="00B050"/>
                          </a:solidFill>
                        </a:rPr>
                        <a:t>17.7ms</a:t>
                      </a:r>
                    </a:p>
                  </a:txBody>
                  <a:tcPr anchor="ctr"/>
                </a:tc>
                <a:extLst>
                  <a:ext uri="{0D108BD9-81ED-4DB2-BD59-A6C34878D82A}">
                    <a16:rowId xmlns:a16="http://schemas.microsoft.com/office/drawing/2014/main" val="4188287029"/>
                  </a:ext>
                </a:extLst>
              </a:tr>
              <a:tr h="370840">
                <a:tc>
                  <a:txBody>
                    <a:bodyPr/>
                    <a:lstStyle/>
                    <a:p>
                      <a:pPr algn="l"/>
                      <a:r>
                        <a:rPr lang="en-US" b="1" dirty="0"/>
                        <a:t>RRF + </a:t>
                      </a:r>
                      <a:r>
                        <a:rPr lang="en-US" b="1" dirty="0" err="1"/>
                        <a:t>MiniLM</a:t>
                      </a:r>
                      <a:endParaRPr lang="en-US" b="1" dirty="0"/>
                    </a:p>
                  </a:txBody>
                  <a:tcPr anchor="ctr"/>
                </a:tc>
                <a:tc>
                  <a:txBody>
                    <a:bodyPr/>
                    <a:lstStyle/>
                    <a:p>
                      <a:pPr algn="ctr"/>
                      <a:r>
                        <a:rPr lang="en-US" dirty="0"/>
                        <a:t>0.751</a:t>
                      </a:r>
                      <a:endParaRPr lang="en-US" i="0" dirty="0"/>
                    </a:p>
                  </a:txBody>
                  <a:tcPr anchor="ctr"/>
                </a:tc>
                <a:tc>
                  <a:txBody>
                    <a:bodyPr/>
                    <a:lstStyle/>
                    <a:p>
                      <a:pPr algn="ctr"/>
                      <a:r>
                        <a:rPr lang="en-US" dirty="0"/>
                        <a:t>0.724</a:t>
                      </a:r>
                      <a:endParaRPr lang="en-US" i="0" dirty="0"/>
                    </a:p>
                  </a:txBody>
                  <a:tcPr anchor="ctr"/>
                </a:tc>
                <a:tc>
                  <a:txBody>
                    <a:bodyPr/>
                    <a:lstStyle/>
                    <a:p>
                      <a:pPr algn="ctr"/>
                      <a:r>
                        <a:rPr lang="en-US" dirty="0"/>
                        <a:t>0.724</a:t>
                      </a:r>
                      <a:endParaRPr lang="en-US" i="0" dirty="0"/>
                    </a:p>
                  </a:txBody>
                  <a:tcPr anchor="ctr"/>
                </a:tc>
                <a:tc>
                  <a:txBody>
                    <a:bodyPr/>
                    <a:lstStyle/>
                    <a:p>
                      <a:pPr algn="ctr"/>
                      <a:r>
                        <a:rPr lang="en-US" dirty="0"/>
                        <a:t>0.724</a:t>
                      </a:r>
                      <a:endParaRPr lang="en-US" i="0" dirty="0"/>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dirty="0"/>
                        <a:t>105.1ms</a:t>
                      </a:r>
                    </a:p>
                  </a:txBody>
                  <a:tcPr anchor="ctr"/>
                </a:tc>
                <a:extLst>
                  <a:ext uri="{0D108BD9-81ED-4DB2-BD59-A6C34878D82A}">
                    <a16:rowId xmlns:a16="http://schemas.microsoft.com/office/drawing/2014/main" val="3682947584"/>
                  </a:ext>
                </a:extLst>
              </a:tr>
              <a:tr h="370840">
                <a:tc>
                  <a:txBody>
                    <a:bodyPr/>
                    <a:lstStyle/>
                    <a:p>
                      <a:pPr algn="l"/>
                      <a:r>
                        <a:rPr lang="en-US" b="1" dirty="0"/>
                        <a:t>RRF + </a:t>
                      </a:r>
                      <a:r>
                        <a:rPr lang="en-US" b="1" dirty="0" err="1"/>
                        <a:t>MiniLM</a:t>
                      </a:r>
                      <a:r>
                        <a:rPr lang="en-US" b="1" dirty="0"/>
                        <a:t> + </a:t>
                      </a:r>
                      <a:r>
                        <a:rPr lang="en-US" b="1" dirty="0" err="1"/>
                        <a:t>Reranker</a:t>
                      </a:r>
                      <a:endParaRPr lang="en-US" b="1" dirty="0"/>
                    </a:p>
                  </a:txBody>
                  <a:tcPr anchor="ctr"/>
                </a:tc>
                <a:tc>
                  <a:txBody>
                    <a:bodyPr/>
                    <a:lstStyle/>
                    <a:p>
                      <a:pPr algn="ctr"/>
                      <a:r>
                        <a:rPr lang="en-US" dirty="0"/>
                        <a:t>0.752</a:t>
                      </a:r>
                      <a:endParaRPr lang="en-US" i="0" dirty="0"/>
                    </a:p>
                  </a:txBody>
                  <a:tcPr anchor="ctr"/>
                </a:tc>
                <a:tc>
                  <a:txBody>
                    <a:bodyPr/>
                    <a:lstStyle/>
                    <a:p>
                      <a:pPr algn="ctr"/>
                      <a:r>
                        <a:rPr lang="en-US" dirty="0"/>
                        <a:t>0.724</a:t>
                      </a:r>
                      <a:endParaRPr lang="en-US" i="0" dirty="0"/>
                    </a:p>
                  </a:txBody>
                  <a:tcPr anchor="ctr"/>
                </a:tc>
                <a:tc>
                  <a:txBody>
                    <a:bodyPr/>
                    <a:lstStyle/>
                    <a:p>
                      <a:pPr algn="ctr"/>
                      <a:r>
                        <a:rPr lang="en-US" dirty="0"/>
                        <a:t>0.724</a:t>
                      </a:r>
                      <a:endParaRPr lang="en-US" i="0" dirty="0"/>
                    </a:p>
                  </a:txBody>
                  <a:tcPr anchor="ctr"/>
                </a:tc>
                <a:tc>
                  <a:txBody>
                    <a:bodyPr/>
                    <a:lstStyle/>
                    <a:p>
                      <a:pPr algn="ctr"/>
                      <a:r>
                        <a:rPr lang="en-US" dirty="0"/>
                        <a:t>0.724</a:t>
                      </a:r>
                      <a:endParaRPr lang="en-US" i="0" dirty="0"/>
                    </a:p>
                  </a:txBody>
                  <a:tcPr anchor="ctr"/>
                </a:tc>
                <a:tc>
                  <a:txBody>
                    <a:bodyPr/>
                    <a:lstStyle/>
                    <a:p>
                      <a:pPr algn="r"/>
                      <a:r>
                        <a:rPr lang="en-US" dirty="0"/>
                        <a:t>351ms</a:t>
                      </a:r>
                    </a:p>
                  </a:txBody>
                  <a:tcPr anchor="ctr"/>
                </a:tc>
                <a:extLst>
                  <a:ext uri="{0D108BD9-81ED-4DB2-BD59-A6C34878D82A}">
                    <a16:rowId xmlns:a16="http://schemas.microsoft.com/office/drawing/2014/main" val="1675035009"/>
                  </a:ext>
                </a:extLst>
              </a:tr>
            </a:tbl>
          </a:graphicData>
        </a:graphic>
      </p:graphicFrame>
    </p:spTree>
    <p:extLst>
      <p:ext uri="{BB962C8B-B14F-4D97-AF65-F5344CB8AC3E}">
        <p14:creationId xmlns:p14="http://schemas.microsoft.com/office/powerpoint/2010/main" val="1806760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9B38D-7ECF-8D03-14B9-6CC4F9D68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9C15F-2DBC-EC5E-B5F5-29E53BD2C7BF}"/>
              </a:ext>
            </a:extLst>
          </p:cNvPr>
          <p:cNvSpPr>
            <a:spLocks noGrp="1"/>
          </p:cNvSpPr>
          <p:nvPr>
            <p:ph type="title"/>
          </p:nvPr>
        </p:nvSpPr>
        <p:spPr>
          <a:xfrm>
            <a:off x="838200" y="365125"/>
            <a:ext cx="10515600" cy="1325563"/>
          </a:xfrm>
        </p:spPr>
        <p:txBody>
          <a:bodyPr/>
          <a:lstStyle/>
          <a:p>
            <a:r>
              <a:rPr lang="en-US" sz="4000" b="1" dirty="0"/>
              <a:t>Method 2: Hybrid RRF </a:t>
            </a:r>
            <a:r>
              <a:rPr kumimoji="0" lang="en-US" sz="2800" b="1" i="0" u="none" strike="noStrike" kern="1200" cap="none" spc="0" normalizeH="0" baseline="0" noProof="0" dirty="0">
                <a:ln>
                  <a:noFill/>
                </a:ln>
                <a:solidFill>
                  <a:prstClr val="black"/>
                </a:solidFill>
                <a:effectLst/>
                <a:uLnTx/>
                <a:uFillTx/>
                <a:latin typeface="Aptos Display" panose="02110004020202020204"/>
                <a:ea typeface="+mj-ea"/>
                <a:cs typeface="+mj-cs"/>
              </a:rPr>
              <a:t>(k=500, 100)</a:t>
            </a:r>
            <a:endParaRPr lang="en-US" b="1" dirty="0"/>
          </a:p>
        </p:txBody>
      </p:sp>
      <p:sp>
        <p:nvSpPr>
          <p:cNvPr id="4" name="Date Placeholder 3">
            <a:extLst>
              <a:ext uri="{FF2B5EF4-FFF2-40B4-BE49-F238E27FC236}">
                <a16:creationId xmlns:a16="http://schemas.microsoft.com/office/drawing/2014/main" id="{7AA7DD0E-7353-8E88-EB4E-A432BB80FEBD}"/>
              </a:ext>
            </a:extLst>
          </p:cNvPr>
          <p:cNvSpPr>
            <a:spLocks noGrp="1"/>
          </p:cNvSpPr>
          <p:nvPr>
            <p:ph type="dt" sz="half" idx="10"/>
          </p:nvPr>
        </p:nvSpPr>
        <p:spPr/>
        <p:txBody>
          <a:bodyPr/>
          <a:lstStyle/>
          <a:p>
            <a:fld id="{4B9484E0-EA99-6E40-9BD0-550CD26F6E0B}" type="datetime1">
              <a:rPr lang="en-US" smtClean="0"/>
              <a:t>6/3/26</a:t>
            </a:fld>
            <a:endParaRPr lang="en-US"/>
          </a:p>
        </p:txBody>
      </p:sp>
      <p:sp>
        <p:nvSpPr>
          <p:cNvPr id="5" name="Slide Number Placeholder 4">
            <a:extLst>
              <a:ext uri="{FF2B5EF4-FFF2-40B4-BE49-F238E27FC236}">
                <a16:creationId xmlns:a16="http://schemas.microsoft.com/office/drawing/2014/main" id="{0C939490-B1D3-5039-82CE-F267750723EA}"/>
              </a:ext>
            </a:extLst>
          </p:cNvPr>
          <p:cNvSpPr>
            <a:spLocks noGrp="1"/>
          </p:cNvSpPr>
          <p:nvPr>
            <p:ph type="sldNum" sz="quarter" idx="12"/>
          </p:nvPr>
        </p:nvSpPr>
        <p:spPr/>
        <p:txBody>
          <a:bodyPr/>
          <a:lstStyle/>
          <a:p>
            <a:fld id="{9918A6A5-4FFB-434A-A92F-4AE444D35066}" type="slidenum">
              <a:rPr lang="en-US" smtClean="0"/>
              <a:t>9</a:t>
            </a:fld>
            <a:endParaRPr lang="en-US"/>
          </a:p>
        </p:txBody>
      </p:sp>
      <p:graphicFrame>
        <p:nvGraphicFramePr>
          <p:cNvPr id="6" name="Content Placeholder 6">
            <a:extLst>
              <a:ext uri="{FF2B5EF4-FFF2-40B4-BE49-F238E27FC236}">
                <a16:creationId xmlns:a16="http://schemas.microsoft.com/office/drawing/2014/main" id="{B47CB79F-D6CB-D635-E9F4-EBC5779938B3}"/>
              </a:ext>
            </a:extLst>
          </p:cNvPr>
          <p:cNvGraphicFramePr>
            <a:graphicFrameLocks noGrp="1"/>
          </p:cNvGraphicFramePr>
          <p:nvPr>
            <p:ph idx="1"/>
            <p:extLst>
              <p:ext uri="{D42A27DB-BD31-4B8C-83A1-F6EECF244321}">
                <p14:modId xmlns:p14="http://schemas.microsoft.com/office/powerpoint/2010/main" val="2825701192"/>
              </p:ext>
            </p:extLst>
          </p:nvPr>
        </p:nvGraphicFramePr>
        <p:xfrm>
          <a:off x="838200" y="1678485"/>
          <a:ext cx="10896600" cy="1752600"/>
        </p:xfrm>
        <a:graphic>
          <a:graphicData uri="http://schemas.openxmlformats.org/drawingml/2006/table">
            <a:tbl>
              <a:tblPr firstRow="1" bandRow="1">
                <a:tableStyleId>{C4B1156A-380E-4F78-BDF5-A606A8083BF9}</a:tableStyleId>
              </a:tblPr>
              <a:tblGrid>
                <a:gridCol w="3035435">
                  <a:extLst>
                    <a:ext uri="{9D8B030D-6E8A-4147-A177-3AD203B41FA5}">
                      <a16:colId xmlns:a16="http://schemas.microsoft.com/office/drawing/2014/main" val="2738875573"/>
                    </a:ext>
                  </a:extLst>
                </a:gridCol>
                <a:gridCol w="982646">
                  <a:extLst>
                    <a:ext uri="{9D8B030D-6E8A-4147-A177-3AD203B41FA5}">
                      <a16:colId xmlns:a16="http://schemas.microsoft.com/office/drawing/2014/main" val="642727418"/>
                    </a:ext>
                  </a:extLst>
                </a:gridCol>
                <a:gridCol w="1178566">
                  <a:extLst>
                    <a:ext uri="{9D8B030D-6E8A-4147-A177-3AD203B41FA5}">
                      <a16:colId xmlns:a16="http://schemas.microsoft.com/office/drawing/2014/main" val="1402106019"/>
                    </a:ext>
                  </a:extLst>
                </a:gridCol>
                <a:gridCol w="912238">
                  <a:extLst>
                    <a:ext uri="{9D8B030D-6E8A-4147-A177-3AD203B41FA5}">
                      <a16:colId xmlns:a16="http://schemas.microsoft.com/office/drawing/2014/main" val="1992137792"/>
                    </a:ext>
                  </a:extLst>
                </a:gridCol>
                <a:gridCol w="857132">
                  <a:extLst>
                    <a:ext uri="{9D8B030D-6E8A-4147-A177-3AD203B41FA5}">
                      <a16:colId xmlns:a16="http://schemas.microsoft.com/office/drawing/2014/main" val="1988334267"/>
                    </a:ext>
                  </a:extLst>
                </a:gridCol>
                <a:gridCol w="982646">
                  <a:extLst>
                    <a:ext uri="{9D8B030D-6E8A-4147-A177-3AD203B41FA5}">
                      <a16:colId xmlns:a16="http://schemas.microsoft.com/office/drawing/2014/main" val="1396480155"/>
                    </a:ext>
                  </a:extLst>
                </a:gridCol>
                <a:gridCol w="1159075">
                  <a:extLst>
                    <a:ext uri="{9D8B030D-6E8A-4147-A177-3AD203B41FA5}">
                      <a16:colId xmlns:a16="http://schemas.microsoft.com/office/drawing/2014/main" val="4261984316"/>
                    </a:ext>
                  </a:extLst>
                </a:gridCol>
                <a:gridCol w="954181">
                  <a:extLst>
                    <a:ext uri="{9D8B030D-6E8A-4147-A177-3AD203B41FA5}">
                      <a16:colId xmlns:a16="http://schemas.microsoft.com/office/drawing/2014/main" val="2540366851"/>
                    </a:ext>
                  </a:extLst>
                </a:gridCol>
                <a:gridCol w="834681">
                  <a:extLst>
                    <a:ext uri="{9D8B030D-6E8A-4147-A177-3AD203B41FA5}">
                      <a16:colId xmlns:a16="http://schemas.microsoft.com/office/drawing/2014/main" val="961887914"/>
                    </a:ext>
                  </a:extLst>
                </a:gridCol>
              </a:tblGrid>
              <a:tr h="370840">
                <a:tc>
                  <a:txBody>
                    <a:bodyPr/>
                    <a:lstStyle/>
                    <a:p>
                      <a:pPr algn="ctr"/>
                      <a:r>
                        <a:rPr lang="en-US" b="1" dirty="0"/>
                        <a:t>Method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NDCG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@500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Precision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@500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Recall@500</a:t>
                      </a:r>
                    </a:p>
                  </a:txBody>
                  <a:tcPr anchor="ctr"/>
                </a:tc>
                <a:tc>
                  <a:txBody>
                    <a:bodyPr/>
                    <a:lstStyle/>
                    <a:p>
                      <a:pPr algn="ctr"/>
                      <a:r>
                        <a:rPr lang="en-US" dirty="0"/>
                        <a:t>F1</a:t>
                      </a:r>
                    </a:p>
                    <a:p>
                      <a:pPr algn="ctr"/>
                      <a:r>
                        <a:rPr lang="en-US" dirty="0"/>
                        <a:t>@500</a:t>
                      </a:r>
                    </a:p>
                  </a:txBody>
                  <a:tcPr anchor="ctr"/>
                </a:tc>
                <a:tc>
                  <a:txBody>
                    <a:bodyPr/>
                    <a:lstStyle/>
                    <a:p>
                      <a:pPr algn="ctr"/>
                      <a:r>
                        <a:rPr lang="en-US" dirty="0"/>
                        <a:t>NDCG</a:t>
                      </a:r>
                    </a:p>
                    <a:p>
                      <a:pPr algn="ctr"/>
                      <a:r>
                        <a:rPr lang="en-US" dirty="0"/>
                        <a:t>@100</a:t>
                      </a:r>
                    </a:p>
                  </a:txBody>
                  <a:tcPr anchor="ctr"/>
                </a:tc>
                <a:tc>
                  <a:txBody>
                    <a:bodyPr/>
                    <a:lstStyle/>
                    <a:p>
                      <a:pPr algn="ctr"/>
                      <a:r>
                        <a:rPr lang="en-US" dirty="0"/>
                        <a:t>Precision</a:t>
                      </a:r>
                    </a:p>
                    <a:p>
                      <a:pPr algn="ctr"/>
                      <a:r>
                        <a:rPr lang="en-US" dirty="0"/>
                        <a:t>@100</a:t>
                      </a:r>
                    </a:p>
                  </a:txBody>
                  <a:tcPr anchor="ctr"/>
                </a:tc>
                <a:tc>
                  <a:txBody>
                    <a:bodyPr/>
                    <a:lstStyle/>
                    <a:p>
                      <a:pPr algn="ctr"/>
                      <a:r>
                        <a:rPr lang="en-US" dirty="0"/>
                        <a:t>Recall@100</a:t>
                      </a:r>
                    </a:p>
                  </a:txBody>
                  <a:tcPr anchor="ctr"/>
                </a:tc>
                <a:tc>
                  <a:txBody>
                    <a:bodyPr/>
                    <a:lstStyle/>
                    <a:p>
                      <a:pPr algn="ctr"/>
                      <a:r>
                        <a:rPr lang="en-US" dirty="0"/>
                        <a:t>F1</a:t>
                      </a:r>
                    </a:p>
                    <a:p>
                      <a:pPr algn="ctr"/>
                      <a:r>
                        <a:rPr lang="en-US" dirty="0"/>
                        <a:t>@100</a:t>
                      </a:r>
                    </a:p>
                  </a:txBody>
                  <a:tcPr anchor="ctr"/>
                </a:tc>
                <a:extLst>
                  <a:ext uri="{0D108BD9-81ED-4DB2-BD59-A6C34878D82A}">
                    <a16:rowId xmlns:a16="http://schemas.microsoft.com/office/drawing/2014/main" val="1622018660"/>
                  </a:ext>
                </a:extLst>
              </a:tr>
              <a:tr h="370840">
                <a:tc>
                  <a:txBody>
                    <a:bodyPr/>
                    <a:lstStyle/>
                    <a:p>
                      <a:pPr algn="l"/>
                      <a:r>
                        <a:rPr lang="en-US" b="1" dirty="0" err="1">
                          <a:solidFill>
                            <a:srgbClr val="00B050"/>
                          </a:solidFill>
                        </a:rPr>
                        <a:t>MiniLM</a:t>
                      </a:r>
                      <a:endParaRPr lang="en-US" b="1" dirty="0">
                        <a:solidFill>
                          <a:srgbClr val="00B050"/>
                        </a:solidFill>
                      </a:endParaRPr>
                    </a:p>
                  </a:txBody>
                  <a:tcPr anchor="ctr"/>
                </a:tc>
                <a:tc>
                  <a:txBody>
                    <a:bodyPr/>
                    <a:lstStyle/>
                    <a:p>
                      <a:pPr algn="ctr"/>
                      <a:r>
                        <a:rPr lang="en-US" b="1" dirty="0">
                          <a:solidFill>
                            <a:srgbClr val="00B050"/>
                          </a:solidFill>
                        </a:rPr>
                        <a:t>0.872</a:t>
                      </a:r>
                      <a:endParaRPr lang="en-US" b="1" i="0" dirty="0">
                        <a:solidFill>
                          <a:srgbClr val="00B050"/>
                        </a:solidFill>
                      </a:endParaRPr>
                    </a:p>
                  </a:txBody>
                  <a:tcPr anchor="ctr"/>
                </a:tc>
                <a:tc>
                  <a:txBody>
                    <a:bodyPr/>
                    <a:lstStyle/>
                    <a:p>
                      <a:pPr algn="ctr"/>
                      <a:r>
                        <a:rPr lang="en-US" b="1" dirty="0">
                          <a:solidFill>
                            <a:srgbClr val="00B050"/>
                          </a:solidFill>
                        </a:rPr>
                        <a:t>0.858</a:t>
                      </a:r>
                      <a:endParaRPr lang="en-US" b="1" i="0" dirty="0">
                        <a:solidFill>
                          <a:srgbClr val="00B050"/>
                        </a:solidFill>
                      </a:endParaRPr>
                    </a:p>
                  </a:txBody>
                  <a:tcPr anchor="ctr"/>
                </a:tc>
                <a:tc>
                  <a:txBody>
                    <a:bodyPr/>
                    <a:lstStyle/>
                    <a:p>
                      <a:pPr algn="ctr"/>
                      <a:r>
                        <a:rPr lang="en-US" b="1" dirty="0">
                          <a:solidFill>
                            <a:srgbClr val="00B050"/>
                          </a:solidFill>
                        </a:rPr>
                        <a:t>0.429</a:t>
                      </a:r>
                      <a:endParaRPr lang="en-US" b="1" i="0" dirty="0">
                        <a:solidFill>
                          <a:srgbClr val="00B050"/>
                        </a:solidFill>
                      </a:endParaRPr>
                    </a:p>
                  </a:txBody>
                  <a:tcPr anchor="ctr"/>
                </a:tc>
                <a:tc>
                  <a:txBody>
                    <a:bodyPr/>
                    <a:lstStyle/>
                    <a:p>
                      <a:pPr algn="ctr"/>
                      <a:r>
                        <a:rPr lang="en-US" b="1" dirty="0">
                          <a:solidFill>
                            <a:srgbClr val="00B050"/>
                          </a:solidFill>
                        </a:rPr>
                        <a:t>0.572</a:t>
                      </a:r>
                      <a:endParaRPr lang="en-US" b="1" i="0" dirty="0">
                        <a:solidFill>
                          <a:srgbClr val="00B050"/>
                        </a:solidFill>
                      </a:endParaRPr>
                    </a:p>
                  </a:txBody>
                  <a:tcPr anchor="ctr"/>
                </a:tc>
                <a:tc>
                  <a:txBody>
                    <a:bodyPr/>
                    <a:lstStyle/>
                    <a:p>
                      <a:pPr algn="ctr"/>
                      <a:r>
                        <a:rPr lang="en-US" b="1" dirty="0">
                          <a:solidFill>
                            <a:srgbClr val="00B050"/>
                          </a:solidFill>
                        </a:rPr>
                        <a:t>0.945</a:t>
                      </a:r>
                      <a:endParaRPr lang="en-US" b="1" i="0" dirty="0">
                        <a:solidFill>
                          <a:srgbClr val="00B050"/>
                        </a:solidFill>
                      </a:endParaRPr>
                    </a:p>
                  </a:txBody>
                  <a:tcPr anchor="ctr"/>
                </a:tc>
                <a:tc>
                  <a:txBody>
                    <a:bodyPr/>
                    <a:lstStyle/>
                    <a:p>
                      <a:pPr algn="ctr"/>
                      <a:r>
                        <a:rPr lang="en-US" b="1" dirty="0">
                          <a:solidFill>
                            <a:srgbClr val="00B050"/>
                          </a:solidFill>
                        </a:rPr>
                        <a:t>0.938</a:t>
                      </a:r>
                      <a:endParaRPr lang="en-US" b="1" i="0" dirty="0">
                        <a:solidFill>
                          <a:srgbClr val="00B050"/>
                        </a:solidFill>
                      </a:endParaRPr>
                    </a:p>
                  </a:txBody>
                  <a:tcPr anchor="ctr"/>
                </a:tc>
                <a:tc>
                  <a:txBody>
                    <a:bodyPr/>
                    <a:lstStyle/>
                    <a:p>
                      <a:pPr algn="ctr"/>
                      <a:r>
                        <a:rPr lang="en-US" b="1" dirty="0">
                          <a:solidFill>
                            <a:srgbClr val="00B050"/>
                          </a:solidFill>
                        </a:rPr>
                        <a:t>0.094</a:t>
                      </a:r>
                      <a:endParaRPr lang="en-US" b="1" i="0" dirty="0">
                        <a:solidFill>
                          <a:srgbClr val="00B050"/>
                        </a:solidFill>
                      </a:endParaRPr>
                    </a:p>
                  </a:txBody>
                  <a:tcPr anchor="ctr"/>
                </a:tc>
                <a:tc>
                  <a:txBody>
                    <a:bodyPr/>
                    <a:lstStyle/>
                    <a:p>
                      <a:pPr algn="ctr"/>
                      <a:r>
                        <a:rPr lang="en-US" b="1" dirty="0">
                          <a:solidFill>
                            <a:srgbClr val="00B050"/>
                          </a:solidFill>
                        </a:rPr>
                        <a:t>0.171</a:t>
                      </a:r>
                      <a:endParaRPr lang="en-US" b="1" i="0" dirty="0">
                        <a:solidFill>
                          <a:srgbClr val="00B050"/>
                        </a:solidFill>
                      </a:endParaRPr>
                    </a:p>
                  </a:txBody>
                  <a:tcPr anchor="ctr"/>
                </a:tc>
                <a:extLst>
                  <a:ext uri="{0D108BD9-81ED-4DB2-BD59-A6C34878D82A}">
                    <a16:rowId xmlns:a16="http://schemas.microsoft.com/office/drawing/2014/main" val="4188287029"/>
                  </a:ext>
                </a:extLst>
              </a:tr>
              <a:tr h="370840">
                <a:tc>
                  <a:txBody>
                    <a:bodyPr/>
                    <a:lstStyle/>
                    <a:p>
                      <a:pPr algn="l"/>
                      <a:r>
                        <a:rPr lang="en-US" b="1" dirty="0"/>
                        <a:t>RRF + </a:t>
                      </a:r>
                      <a:r>
                        <a:rPr lang="en-US" b="1" dirty="0" err="1"/>
                        <a:t>MiniLM</a:t>
                      </a:r>
                      <a:endParaRPr lang="en-US" b="1" dirty="0"/>
                    </a:p>
                  </a:txBody>
                  <a:tcPr anchor="ctr"/>
                </a:tc>
                <a:tc>
                  <a:txBody>
                    <a:bodyPr/>
                    <a:lstStyle/>
                    <a:p>
                      <a:pPr algn="ctr"/>
                      <a:r>
                        <a:rPr lang="en-US" dirty="0"/>
                        <a:t>0.865</a:t>
                      </a:r>
                      <a:endParaRPr lang="en-US" i="0" dirty="0"/>
                    </a:p>
                  </a:txBody>
                  <a:tcPr anchor="ctr"/>
                </a:tc>
                <a:tc>
                  <a:txBody>
                    <a:bodyPr/>
                    <a:lstStyle/>
                    <a:p>
                      <a:pPr algn="ctr"/>
                      <a:r>
                        <a:rPr lang="en-US" dirty="0"/>
                        <a:t>0.852</a:t>
                      </a:r>
                      <a:endParaRPr lang="en-US" i="0" dirty="0"/>
                    </a:p>
                  </a:txBody>
                  <a:tcPr anchor="ctr"/>
                </a:tc>
                <a:tc>
                  <a:txBody>
                    <a:bodyPr/>
                    <a:lstStyle/>
                    <a:p>
                      <a:pPr algn="ctr"/>
                      <a:r>
                        <a:rPr lang="en-US" dirty="0"/>
                        <a:t>0.426</a:t>
                      </a:r>
                      <a:endParaRPr lang="en-US" i="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0.568</a:t>
                      </a:r>
                      <a:endParaRPr lang="en-US" i="0" dirty="0"/>
                    </a:p>
                  </a:txBody>
                  <a:tcPr anchor="ctr"/>
                </a:tc>
                <a:tc>
                  <a:txBody>
                    <a:bodyPr/>
                    <a:lstStyle/>
                    <a:p>
                      <a:pPr algn="ctr"/>
                      <a:r>
                        <a:rPr lang="en-US" dirty="0"/>
                        <a:t>0.932</a:t>
                      </a:r>
                      <a:endParaRPr lang="en-US" i="0" dirty="0"/>
                    </a:p>
                  </a:txBody>
                  <a:tcPr anchor="ctr"/>
                </a:tc>
                <a:tc>
                  <a:txBody>
                    <a:bodyPr/>
                    <a:lstStyle/>
                    <a:p>
                      <a:pPr algn="ctr"/>
                      <a:r>
                        <a:rPr lang="en-US" dirty="0"/>
                        <a:t>0.928</a:t>
                      </a:r>
                      <a:endParaRPr lang="en-US" i="0" dirty="0"/>
                    </a:p>
                  </a:txBody>
                  <a:tcPr anchor="ctr"/>
                </a:tc>
                <a:tc>
                  <a:txBody>
                    <a:bodyPr/>
                    <a:lstStyle/>
                    <a:p>
                      <a:pPr algn="ctr"/>
                      <a:r>
                        <a:rPr lang="en-US" dirty="0"/>
                        <a:t>0.093</a:t>
                      </a:r>
                      <a:endParaRPr lang="en-US" i="0" dirty="0"/>
                    </a:p>
                  </a:txBody>
                  <a:tcPr anchor="ctr"/>
                </a:tc>
                <a:tc>
                  <a:txBody>
                    <a:bodyPr/>
                    <a:lstStyle/>
                    <a:p>
                      <a:pPr algn="ctr"/>
                      <a:r>
                        <a:rPr lang="en-US" dirty="0"/>
                        <a:t>0.169</a:t>
                      </a:r>
                      <a:endParaRPr lang="en-US" i="0" dirty="0"/>
                    </a:p>
                  </a:txBody>
                  <a:tcPr anchor="ctr"/>
                </a:tc>
                <a:extLst>
                  <a:ext uri="{0D108BD9-81ED-4DB2-BD59-A6C34878D82A}">
                    <a16:rowId xmlns:a16="http://schemas.microsoft.com/office/drawing/2014/main" val="3682947584"/>
                  </a:ext>
                </a:extLst>
              </a:tr>
              <a:tr h="370840">
                <a:tc>
                  <a:txBody>
                    <a:bodyPr/>
                    <a:lstStyle/>
                    <a:p>
                      <a:pPr algn="l"/>
                      <a:r>
                        <a:rPr lang="en-US" b="1" dirty="0"/>
                        <a:t>RRF + </a:t>
                      </a:r>
                      <a:r>
                        <a:rPr lang="en-US" b="1" dirty="0" err="1"/>
                        <a:t>MiniLM</a:t>
                      </a:r>
                      <a:r>
                        <a:rPr lang="en-US" b="1" dirty="0"/>
                        <a:t> + </a:t>
                      </a:r>
                      <a:r>
                        <a:rPr lang="en-US" b="1" dirty="0" err="1"/>
                        <a:t>Reranker</a:t>
                      </a:r>
                      <a:endParaRPr lang="en-US" b="1" dirty="0"/>
                    </a:p>
                  </a:txBody>
                  <a:tcPr anchor="ctr"/>
                </a:tc>
                <a:tc>
                  <a:txBody>
                    <a:bodyPr/>
                    <a:lstStyle/>
                    <a:p>
                      <a:pPr algn="ctr"/>
                      <a:r>
                        <a:rPr lang="en-US" dirty="0"/>
                        <a:t>0.866</a:t>
                      </a:r>
                      <a:endParaRPr lang="en-US" i="0" dirty="0"/>
                    </a:p>
                  </a:txBody>
                  <a:tcPr anchor="ctr"/>
                </a:tc>
                <a:tc>
                  <a:txBody>
                    <a:bodyPr/>
                    <a:lstStyle/>
                    <a:p>
                      <a:pPr algn="ctr"/>
                      <a:r>
                        <a:rPr lang="en-US" dirty="0"/>
                        <a:t>0.852</a:t>
                      </a:r>
                      <a:endParaRPr lang="en-US" i="0" dirty="0"/>
                    </a:p>
                  </a:txBody>
                  <a:tcPr anchor="ctr"/>
                </a:tc>
                <a:tc>
                  <a:txBody>
                    <a:bodyPr/>
                    <a:lstStyle/>
                    <a:p>
                      <a:pPr algn="ctr"/>
                      <a:r>
                        <a:rPr lang="en-US" dirty="0"/>
                        <a:t>0.426</a:t>
                      </a:r>
                      <a:endParaRPr lang="en-US" i="0" dirty="0"/>
                    </a:p>
                  </a:txBody>
                  <a:tcPr anchor="ctr"/>
                </a:tc>
                <a:tc>
                  <a:txBody>
                    <a:bodyPr/>
                    <a:lstStyle/>
                    <a:p>
                      <a:pPr algn="ctr"/>
                      <a:r>
                        <a:rPr lang="en-US" dirty="0"/>
                        <a:t>0.568</a:t>
                      </a:r>
                      <a:endParaRPr lang="en-US" i="0" dirty="0"/>
                    </a:p>
                  </a:txBody>
                  <a:tcPr anchor="ctr"/>
                </a:tc>
                <a:tc>
                  <a:txBody>
                    <a:bodyPr/>
                    <a:lstStyle/>
                    <a:p>
                      <a:pPr algn="ctr"/>
                      <a:r>
                        <a:rPr lang="en-US" dirty="0"/>
                        <a:t>0.936</a:t>
                      </a:r>
                      <a:endParaRPr lang="en-US" i="0" dirty="0"/>
                    </a:p>
                  </a:txBody>
                  <a:tcPr anchor="ctr"/>
                </a:tc>
                <a:tc>
                  <a:txBody>
                    <a:bodyPr/>
                    <a:lstStyle/>
                    <a:p>
                      <a:pPr algn="ctr"/>
                      <a:r>
                        <a:rPr lang="en-US" dirty="0"/>
                        <a:t>0.928</a:t>
                      </a:r>
                      <a:endParaRPr lang="en-US" i="0" dirty="0"/>
                    </a:p>
                  </a:txBody>
                  <a:tcPr anchor="ctr"/>
                </a:tc>
                <a:tc>
                  <a:txBody>
                    <a:bodyPr/>
                    <a:lstStyle/>
                    <a:p>
                      <a:pPr algn="ctr"/>
                      <a:r>
                        <a:rPr lang="en-US" dirty="0"/>
                        <a:t>0.093</a:t>
                      </a:r>
                      <a:endParaRPr lang="en-US" i="0" dirty="0"/>
                    </a:p>
                  </a:txBody>
                  <a:tcPr anchor="ctr"/>
                </a:tc>
                <a:tc>
                  <a:txBody>
                    <a:bodyPr/>
                    <a:lstStyle/>
                    <a:p>
                      <a:pPr algn="ctr"/>
                      <a:r>
                        <a:rPr lang="en-US" dirty="0"/>
                        <a:t>0.169</a:t>
                      </a:r>
                      <a:endParaRPr lang="en-US" i="0" dirty="0"/>
                    </a:p>
                  </a:txBody>
                  <a:tcPr anchor="ctr"/>
                </a:tc>
                <a:extLst>
                  <a:ext uri="{0D108BD9-81ED-4DB2-BD59-A6C34878D82A}">
                    <a16:rowId xmlns:a16="http://schemas.microsoft.com/office/drawing/2014/main" val="1675035009"/>
                  </a:ext>
                </a:extLst>
              </a:tr>
            </a:tbl>
          </a:graphicData>
        </a:graphic>
      </p:graphicFrame>
    </p:spTree>
    <p:extLst>
      <p:ext uri="{BB962C8B-B14F-4D97-AF65-F5344CB8AC3E}">
        <p14:creationId xmlns:p14="http://schemas.microsoft.com/office/powerpoint/2010/main" val="3134163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C373A-551E-7F56-1514-84769D88D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727FB-1683-27D7-010C-CED88FA6AC1C}"/>
              </a:ext>
            </a:extLst>
          </p:cNvPr>
          <p:cNvSpPr>
            <a:spLocks noGrp="1"/>
          </p:cNvSpPr>
          <p:nvPr>
            <p:ph type="title"/>
          </p:nvPr>
        </p:nvSpPr>
        <p:spPr/>
        <p:txBody>
          <a:bodyPr>
            <a:normAutofit/>
          </a:bodyPr>
          <a:lstStyle/>
          <a:p>
            <a:r>
              <a:rPr lang="en-US" sz="4000" b="1" dirty="0">
                <a:latin typeface="Calibri" panose="020F0502020204030204" pitchFamily="34" charset="0"/>
                <a:cs typeface="Calibri" panose="020F0502020204030204" pitchFamily="34" charset="0"/>
              </a:rPr>
              <a:t>API Evaluation - </a:t>
            </a:r>
            <a:r>
              <a:rPr lang="en-US" sz="4000" b="1" dirty="0" err="1">
                <a:latin typeface="Calibri" panose="020F0502020204030204" pitchFamily="34" charset="0"/>
                <a:cs typeface="Calibri" panose="020F0502020204030204" pitchFamily="34" charset="0"/>
              </a:rPr>
              <a:t>MiniLM</a:t>
            </a:r>
            <a:r>
              <a:rPr lang="en-US" sz="4000" b="1" dirty="0">
                <a:latin typeface="Calibri" panose="020F0502020204030204" pitchFamily="34" charset="0"/>
                <a:cs typeface="Calibri" panose="020F0502020204030204" pitchFamily="34" charset="0"/>
              </a:rPr>
              <a:t> Pipeline vs. </a:t>
            </a:r>
            <a:r>
              <a:rPr lang="en-US" sz="4000" b="1" dirty="0" err="1">
                <a:latin typeface="Calibri" panose="020F0502020204030204" pitchFamily="34" charset="0"/>
                <a:cs typeface="Calibri" panose="020F0502020204030204" pitchFamily="34" charset="0"/>
              </a:rPr>
              <a:t>Istari.ai</a:t>
            </a:r>
            <a:r>
              <a:rPr lang="en-US" sz="4000" b="1" dirty="0">
                <a:latin typeface="Calibri" panose="020F0502020204030204" pitchFamily="34" charset="0"/>
                <a:cs typeface="Calibri" panose="020F0502020204030204" pitchFamily="34" charset="0"/>
              </a:rPr>
              <a:t> Production</a:t>
            </a:r>
          </a:p>
        </p:txBody>
      </p:sp>
      <p:sp>
        <p:nvSpPr>
          <p:cNvPr id="7" name="Rectangle 2">
            <a:extLst>
              <a:ext uri="{FF2B5EF4-FFF2-40B4-BE49-F238E27FC236}">
                <a16:creationId xmlns:a16="http://schemas.microsoft.com/office/drawing/2014/main" id="{38134744-E6D8-377B-8112-A3FFF9EC0909}"/>
              </a:ext>
            </a:extLst>
          </p:cNvPr>
          <p:cNvSpPr>
            <a:spLocks noGrp="1" noChangeArrowheads="1"/>
          </p:cNvSpPr>
          <p:nvPr>
            <p:ph idx="1"/>
          </p:nvPr>
        </p:nvSpPr>
        <p:spPr bwMode="auto">
          <a:xfrm>
            <a:off x="848667" y="1693346"/>
            <a:ext cx="10886133" cy="4464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spcAft>
                <a:spcPct val="0"/>
              </a:spcAft>
            </a:pPr>
            <a:r>
              <a:rPr lang="en-US" altLang="en-US" sz="2400" dirty="0">
                <a:latin typeface="Calibri" panose="020F0502020204030204" pitchFamily="34" charset="0"/>
                <a:cs typeface="Calibri" panose="020F0502020204030204" pitchFamily="34" charset="0"/>
              </a:rPr>
              <a:t>101 queries × 1000 results per query </a:t>
            </a:r>
          </a:p>
          <a:p>
            <a:pPr marR="0" lvl="0" fontAlgn="base">
              <a:spcAft>
                <a:spcPct val="0"/>
              </a:spcAft>
              <a:buClrTx/>
              <a:buSzTx/>
              <a:tabLst/>
            </a:pPr>
            <a:r>
              <a:rPr lang="en-US" altLang="en-US" sz="2400" dirty="0">
                <a:latin typeface="Calibri" panose="020F0502020204030204" pitchFamily="34" charset="0"/>
                <a:cs typeface="Calibri" panose="020F0502020204030204" pitchFamily="34" charset="0"/>
              </a:rPr>
              <a:t>Ground truth: </a:t>
            </a:r>
            <a:r>
              <a:rPr lang="en-US" altLang="en-US" sz="2400" dirty="0" err="1">
                <a:latin typeface="Calibri" panose="020F0502020204030204" pitchFamily="34" charset="0"/>
                <a:cs typeface="Calibri" panose="020F0502020204030204" pitchFamily="34" charset="0"/>
              </a:rPr>
              <a:t>goi_search_results.json</a:t>
            </a:r>
            <a:r>
              <a:rPr lang="en-US" altLang="en-US" sz="2400" dirty="0">
                <a:latin typeface="Calibri" panose="020F0502020204030204" pitchFamily="34" charset="0"/>
                <a:cs typeface="Calibri" panose="020F0502020204030204" pitchFamily="34" charset="0"/>
              </a:rPr>
              <a:t> (evaluation set)</a:t>
            </a:r>
          </a:p>
          <a:p>
            <a:r>
              <a:rPr lang="en-US" sz="2400" b="1" dirty="0">
                <a:latin typeface="Calibri" panose="020F0502020204030204" pitchFamily="34" charset="0"/>
                <a:cs typeface="Calibri" panose="020F0502020204030204" pitchFamily="34" charset="0"/>
              </a:rPr>
              <a:t>How metrics are computed:</a:t>
            </a:r>
            <a:endParaRPr lang="en-US" sz="2400" dirty="0">
              <a:latin typeface="Calibri" panose="020F0502020204030204" pitchFamily="34" charset="0"/>
              <a:cs typeface="Calibri" panose="020F0502020204030204" pitchFamily="34" charset="0"/>
            </a:endParaRPr>
          </a:p>
          <a:p>
            <a:pPr lvl="1"/>
            <a:r>
              <a:rPr lang="en-US" sz="2200" b="1" dirty="0">
                <a:latin typeface="Calibri" panose="020F0502020204030204" pitchFamily="34" charset="0"/>
                <a:cs typeface="Calibri" panose="020F0502020204030204" pitchFamily="34" charset="0"/>
              </a:rPr>
              <a:t>NDCG:</a:t>
            </a:r>
            <a:r>
              <a:rPr lang="en-US" sz="2200" dirty="0">
                <a:latin typeface="Calibri" panose="020F0502020204030204" pitchFamily="34" charset="0"/>
                <a:cs typeface="Calibri" panose="020F0502020204030204" pitchFamily="34" charset="0"/>
              </a:rPr>
              <a:t> graded relevance using actual GT similarity scores (0.69–0.86). A company scoring 0.81 contributes more than one scoring 0.71. No threshold needed, uses the full score.</a:t>
            </a:r>
          </a:p>
          <a:p>
            <a:pPr lvl="1"/>
            <a:r>
              <a:rPr lang="en-US" sz="2200" b="1" dirty="0">
                <a:latin typeface="Calibri" panose="020F0502020204030204" pitchFamily="34" charset="0"/>
                <a:cs typeface="Calibri" panose="020F0502020204030204" pitchFamily="34" charset="0"/>
              </a:rPr>
              <a:t>Precision / Recall / F1:</a:t>
            </a:r>
            <a:r>
              <a:rPr lang="en-US" sz="2200" dirty="0">
                <a:latin typeface="Calibri" panose="020F0502020204030204" pitchFamily="34" charset="0"/>
                <a:cs typeface="Calibri" panose="020F0502020204030204" pitchFamily="34" charset="0"/>
              </a:rPr>
              <a:t> binary relevance at threshold=0.75. A company is considered relevant if its GT similarity score ≥ 0.75. At this threshold 72.8% of GT companies pass, giving a meaningful split.</a:t>
            </a:r>
          </a:p>
          <a:p>
            <a:pPr lvl="1"/>
            <a:r>
              <a:rPr lang="en-US" sz="2200" b="1" dirty="0" err="1">
                <a:latin typeface="Calibri" panose="020F0502020204030204" pitchFamily="34" charset="0"/>
                <a:cs typeface="Calibri" panose="020F0502020204030204" pitchFamily="34" charset="0"/>
              </a:rPr>
              <a:t>Overlap@k</a:t>
            </a:r>
            <a:r>
              <a:rPr lang="en-US" sz="2200" b="1" dirty="0">
                <a:latin typeface="Calibri" panose="020F0502020204030204" pitchFamily="34" charset="0"/>
                <a:cs typeface="Calibri" panose="020F0502020204030204" pitchFamily="34" charset="0"/>
              </a:rPr>
              <a:t>:</a:t>
            </a:r>
            <a:r>
              <a:rPr lang="en-US" sz="2200" dirty="0">
                <a:latin typeface="Calibri" panose="020F0502020204030204" pitchFamily="34" charset="0"/>
                <a:cs typeface="Calibri" panose="020F0502020204030204" pitchFamily="34" charset="0"/>
              </a:rPr>
              <a:t> how many of our top-k domains appear exactly in GT top-k. </a:t>
            </a:r>
          </a:p>
          <a:p>
            <a:r>
              <a:rPr lang="en-US" sz="2400" dirty="0" err="1">
                <a:latin typeface="Calibri" panose="020F0502020204030204" pitchFamily="34" charset="0"/>
                <a:cs typeface="Calibri" panose="020F0502020204030204" pitchFamily="34" charset="0"/>
              </a:rPr>
              <a:t>Istari</a:t>
            </a:r>
            <a:r>
              <a:rPr lang="en-US" sz="2400" dirty="0">
                <a:latin typeface="Calibri" panose="020F0502020204030204" pitchFamily="34" charset="0"/>
                <a:cs typeface="Calibri" panose="020F0502020204030204" pitchFamily="34" charset="0"/>
              </a:rPr>
              <a:t> BM25 naturally scores near zero against this ground truth because the GT was generated by semantic search.</a:t>
            </a:r>
          </a:p>
        </p:txBody>
      </p:sp>
      <p:sp>
        <p:nvSpPr>
          <p:cNvPr id="4" name="Date Placeholder 3">
            <a:extLst>
              <a:ext uri="{FF2B5EF4-FFF2-40B4-BE49-F238E27FC236}">
                <a16:creationId xmlns:a16="http://schemas.microsoft.com/office/drawing/2014/main" id="{FA72AC97-F109-3BC2-F402-D4F7903E0F5C}"/>
              </a:ext>
            </a:extLst>
          </p:cNvPr>
          <p:cNvSpPr>
            <a:spLocks noGrp="1"/>
          </p:cNvSpPr>
          <p:nvPr>
            <p:ph type="dt" sz="half" idx="10"/>
          </p:nvPr>
        </p:nvSpPr>
        <p:spPr/>
        <p:txBody>
          <a:bodyPr/>
          <a:lstStyle/>
          <a:p>
            <a:fld id="{4B9484E0-EA99-6E40-9BD0-550CD26F6E0B}" type="datetime1">
              <a:rPr lang="en-US" smtClean="0">
                <a:latin typeface="Calibri" panose="020F0502020204030204" pitchFamily="34" charset="0"/>
                <a:cs typeface="Calibri" panose="020F0502020204030204" pitchFamily="34" charset="0"/>
              </a:rPr>
              <a:t>6/3/26</a:t>
            </a:fld>
            <a:endParaRPr lang="en-US">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07A5EA6-EBB3-F4BC-1BCA-66001BF7AC5A}"/>
              </a:ext>
            </a:extLst>
          </p:cNvPr>
          <p:cNvSpPr>
            <a:spLocks noGrp="1"/>
          </p:cNvSpPr>
          <p:nvPr>
            <p:ph type="sldNum" sz="quarter" idx="12"/>
          </p:nvPr>
        </p:nvSpPr>
        <p:spPr/>
        <p:txBody>
          <a:bodyPr/>
          <a:lstStyle/>
          <a:p>
            <a:fld id="{9918A6A5-4FFB-434A-A92F-4AE444D35066}" type="slidenum">
              <a:rPr lang="en-US" smtClean="0">
                <a:latin typeface="Calibri" panose="020F0502020204030204" pitchFamily="34" charset="0"/>
                <a:cs typeface="Calibri" panose="020F0502020204030204" pitchFamily="34" charset="0"/>
              </a:rPr>
              <a:t>10</a:t>
            </a:fld>
            <a:endParaRPr lang="en-US">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25067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F64D7-323D-C442-B4B1-FCF30E034E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629CF-C042-B59F-4C53-A2C577752A33}"/>
              </a:ext>
            </a:extLst>
          </p:cNvPr>
          <p:cNvSpPr>
            <a:spLocks noGrp="1"/>
          </p:cNvSpPr>
          <p:nvPr>
            <p:ph type="title"/>
          </p:nvPr>
        </p:nvSpPr>
        <p:spPr/>
        <p:txBody>
          <a:bodyPr>
            <a:normAutofit/>
          </a:bodyPr>
          <a:lstStyle/>
          <a:p>
            <a:r>
              <a:rPr lang="en-US" sz="4000" b="1" dirty="0">
                <a:latin typeface="Calibri" panose="020F0502020204030204" pitchFamily="34" charset="0"/>
                <a:cs typeface="Calibri" panose="020F0502020204030204" pitchFamily="34" charset="0"/>
              </a:rPr>
              <a:t>API Evaluation - </a:t>
            </a:r>
            <a:r>
              <a:rPr lang="en-US" sz="4000" b="1" dirty="0" err="1">
                <a:latin typeface="Calibri" panose="020F0502020204030204" pitchFamily="34" charset="0"/>
                <a:cs typeface="Calibri" panose="020F0502020204030204" pitchFamily="34" charset="0"/>
              </a:rPr>
              <a:t>MiniLM</a:t>
            </a:r>
            <a:r>
              <a:rPr lang="en-US" sz="4000" b="1" dirty="0">
                <a:latin typeface="Calibri" panose="020F0502020204030204" pitchFamily="34" charset="0"/>
                <a:cs typeface="Calibri" panose="020F0502020204030204" pitchFamily="34" charset="0"/>
              </a:rPr>
              <a:t> Pipeline vs. </a:t>
            </a:r>
            <a:r>
              <a:rPr lang="en-US" sz="4000" b="1" dirty="0" err="1">
                <a:latin typeface="Calibri" panose="020F0502020204030204" pitchFamily="34" charset="0"/>
                <a:cs typeface="Calibri" panose="020F0502020204030204" pitchFamily="34" charset="0"/>
              </a:rPr>
              <a:t>Istari.ai</a:t>
            </a:r>
            <a:r>
              <a:rPr lang="en-US" sz="4000" b="1" dirty="0">
                <a:latin typeface="Calibri" panose="020F0502020204030204" pitchFamily="34" charset="0"/>
                <a:cs typeface="Calibri" panose="020F0502020204030204" pitchFamily="34" charset="0"/>
              </a:rPr>
              <a:t> Production</a:t>
            </a:r>
            <a:r>
              <a:rPr kumimoji="0" lang="en-US" sz="2800" b="1" i="0" u="none" strike="noStrike" kern="1200" cap="none" spc="0" normalizeH="0" baseline="0" noProof="0" dirty="0">
                <a:ln>
                  <a:noFill/>
                </a:ln>
                <a:effectLst/>
                <a:uLnTx/>
                <a:uFillTx/>
                <a:latin typeface="Calibri" panose="020F0502020204030204" pitchFamily="34" charset="0"/>
                <a:cs typeface="Calibri" panose="020F0502020204030204" pitchFamily="34" charset="0"/>
              </a:rPr>
              <a:t> (k=1000)</a:t>
            </a:r>
            <a:endParaRPr lang="en-US" sz="4000" b="1" dirty="0">
              <a:latin typeface="Calibri" panose="020F0502020204030204" pitchFamily="34" charset="0"/>
              <a:cs typeface="Calibri" panose="020F0502020204030204" pitchFamily="34" charset="0"/>
            </a:endParaRPr>
          </a:p>
        </p:txBody>
      </p:sp>
      <p:sp>
        <p:nvSpPr>
          <p:cNvPr id="4" name="Date Placeholder 3">
            <a:extLst>
              <a:ext uri="{FF2B5EF4-FFF2-40B4-BE49-F238E27FC236}">
                <a16:creationId xmlns:a16="http://schemas.microsoft.com/office/drawing/2014/main" id="{9294BEB7-8CAB-B49A-E5F8-E881ABE91D03}"/>
              </a:ext>
            </a:extLst>
          </p:cNvPr>
          <p:cNvSpPr>
            <a:spLocks noGrp="1"/>
          </p:cNvSpPr>
          <p:nvPr>
            <p:ph type="dt" sz="half" idx="10"/>
          </p:nvPr>
        </p:nvSpPr>
        <p:spPr/>
        <p:txBody>
          <a:bodyPr/>
          <a:lstStyle/>
          <a:p>
            <a:fld id="{4B9484E0-EA99-6E40-9BD0-550CD26F6E0B}" type="datetime1">
              <a:rPr lang="en-US" smtClean="0">
                <a:solidFill>
                  <a:schemeClr val="tx1"/>
                </a:solidFill>
                <a:latin typeface="Calibri" panose="020F0502020204030204" pitchFamily="34" charset="0"/>
                <a:cs typeface="Calibri" panose="020F0502020204030204" pitchFamily="34" charset="0"/>
              </a:rPr>
              <a:t>6/3/26</a:t>
            </a:fld>
            <a:endParaRPr lang="en-US">
              <a:solidFill>
                <a:schemeClr val="tx1"/>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746C8DE0-BF1B-9D2D-04B1-7FBA28671F10}"/>
              </a:ext>
            </a:extLst>
          </p:cNvPr>
          <p:cNvSpPr>
            <a:spLocks noGrp="1"/>
          </p:cNvSpPr>
          <p:nvPr>
            <p:ph type="sldNum" sz="quarter" idx="12"/>
          </p:nvPr>
        </p:nvSpPr>
        <p:spPr/>
        <p:txBody>
          <a:bodyPr/>
          <a:lstStyle/>
          <a:p>
            <a:fld id="{9918A6A5-4FFB-434A-A92F-4AE444D35066}" type="slidenum">
              <a:rPr lang="en-US" smtClean="0">
                <a:solidFill>
                  <a:schemeClr val="tx1"/>
                </a:solidFill>
                <a:latin typeface="Calibri" panose="020F0502020204030204" pitchFamily="34" charset="0"/>
                <a:cs typeface="Calibri" panose="020F0502020204030204" pitchFamily="34" charset="0"/>
              </a:rPr>
              <a:t>11</a:t>
            </a:fld>
            <a:endParaRPr lang="en-US">
              <a:solidFill>
                <a:schemeClr val="tx1"/>
              </a:solidFill>
              <a:latin typeface="Calibri" panose="020F0502020204030204" pitchFamily="34" charset="0"/>
              <a:cs typeface="Calibri" panose="020F0502020204030204" pitchFamily="34" charset="0"/>
            </a:endParaRPr>
          </a:p>
        </p:txBody>
      </p:sp>
      <p:graphicFrame>
        <p:nvGraphicFramePr>
          <p:cNvPr id="6" name="Content Placeholder 6">
            <a:extLst>
              <a:ext uri="{FF2B5EF4-FFF2-40B4-BE49-F238E27FC236}">
                <a16:creationId xmlns:a16="http://schemas.microsoft.com/office/drawing/2014/main" id="{270D1667-251A-796B-9A92-FEE4D6AF91AD}"/>
              </a:ext>
            </a:extLst>
          </p:cNvPr>
          <p:cNvGraphicFramePr>
            <a:graphicFrameLocks noGrp="1"/>
          </p:cNvGraphicFramePr>
          <p:nvPr>
            <p:ph idx="1"/>
            <p:extLst>
              <p:ext uri="{D42A27DB-BD31-4B8C-83A1-F6EECF244321}">
                <p14:modId xmlns:p14="http://schemas.microsoft.com/office/powerpoint/2010/main" val="1621528984"/>
              </p:ext>
            </p:extLst>
          </p:nvPr>
        </p:nvGraphicFramePr>
        <p:xfrm>
          <a:off x="838200" y="1679321"/>
          <a:ext cx="10896596" cy="1752600"/>
        </p:xfrm>
        <a:graphic>
          <a:graphicData uri="http://schemas.openxmlformats.org/drawingml/2006/table">
            <a:tbl>
              <a:tblPr firstRow="1" bandRow="1">
                <a:tableStyleId>{C4B1156A-380E-4F78-BDF5-A606A8083BF9}</a:tableStyleId>
              </a:tblPr>
              <a:tblGrid>
                <a:gridCol w="2937680">
                  <a:extLst>
                    <a:ext uri="{9D8B030D-6E8A-4147-A177-3AD203B41FA5}">
                      <a16:colId xmlns:a16="http://schemas.microsoft.com/office/drawing/2014/main" val="2738875573"/>
                    </a:ext>
                  </a:extLst>
                </a:gridCol>
                <a:gridCol w="1326486">
                  <a:extLst>
                    <a:ext uri="{9D8B030D-6E8A-4147-A177-3AD203B41FA5}">
                      <a16:colId xmlns:a16="http://schemas.microsoft.com/office/drawing/2014/main" val="642727418"/>
                    </a:ext>
                  </a:extLst>
                </a:gridCol>
                <a:gridCol w="1326486">
                  <a:extLst>
                    <a:ext uri="{9D8B030D-6E8A-4147-A177-3AD203B41FA5}">
                      <a16:colId xmlns:a16="http://schemas.microsoft.com/office/drawing/2014/main" val="1402106019"/>
                    </a:ext>
                  </a:extLst>
                </a:gridCol>
                <a:gridCol w="1326486">
                  <a:extLst>
                    <a:ext uri="{9D8B030D-6E8A-4147-A177-3AD203B41FA5}">
                      <a16:colId xmlns:a16="http://schemas.microsoft.com/office/drawing/2014/main" val="1992137792"/>
                    </a:ext>
                  </a:extLst>
                </a:gridCol>
                <a:gridCol w="1108246">
                  <a:extLst>
                    <a:ext uri="{9D8B030D-6E8A-4147-A177-3AD203B41FA5}">
                      <a16:colId xmlns:a16="http://schemas.microsoft.com/office/drawing/2014/main" val="1988334267"/>
                    </a:ext>
                  </a:extLst>
                </a:gridCol>
                <a:gridCol w="1024128">
                  <a:extLst>
                    <a:ext uri="{9D8B030D-6E8A-4147-A177-3AD203B41FA5}">
                      <a16:colId xmlns:a16="http://schemas.microsoft.com/office/drawing/2014/main" val="1084790140"/>
                    </a:ext>
                  </a:extLst>
                </a:gridCol>
                <a:gridCol w="1847084">
                  <a:extLst>
                    <a:ext uri="{9D8B030D-6E8A-4147-A177-3AD203B41FA5}">
                      <a16:colId xmlns:a16="http://schemas.microsoft.com/office/drawing/2014/main" val="80483717"/>
                    </a:ext>
                  </a:extLst>
                </a:gridCol>
              </a:tblGrid>
              <a:tr h="370840">
                <a:tc>
                  <a:txBody>
                    <a:bodyPr/>
                    <a:lstStyle/>
                    <a:p>
                      <a:pPr algn="ctr"/>
                      <a:r>
                        <a:rPr lang="en-US" b="1" dirty="0">
                          <a:solidFill>
                            <a:schemeClr val="tx1"/>
                          </a:solidFill>
                          <a:latin typeface="Calibri" panose="020F0502020204030204" pitchFamily="34" charset="0"/>
                          <a:cs typeface="Calibri" panose="020F0502020204030204" pitchFamily="34" charset="0"/>
                        </a:rPr>
                        <a:t>Method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Calibri" panose="020F0502020204030204" pitchFamily="34" charset="0"/>
                          <a:cs typeface="Calibri" panose="020F0502020204030204" pitchFamily="34" charset="0"/>
                        </a:rPr>
                        <a:t>NDCG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Calibri" panose="020F0502020204030204" pitchFamily="34" charset="0"/>
                          <a:cs typeface="Calibri" panose="020F0502020204030204" pitchFamily="34" charset="0"/>
                        </a:rPr>
                        <a:t>@1000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Calibri" panose="020F0502020204030204" pitchFamily="34" charset="0"/>
                          <a:cs typeface="Calibri" panose="020F0502020204030204" pitchFamily="34" charset="0"/>
                        </a:rPr>
                        <a:t>Precision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Calibri" panose="020F0502020204030204" pitchFamily="34" charset="0"/>
                          <a:cs typeface="Calibri" panose="020F0502020204030204" pitchFamily="34" charset="0"/>
                        </a:rPr>
                        <a:t>@1000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Calibri" panose="020F0502020204030204" pitchFamily="34" charset="0"/>
                          <a:cs typeface="Calibri" panose="020F0502020204030204" pitchFamily="34" charset="0"/>
                        </a:rPr>
                        <a:t>Recall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Calibri" panose="020F0502020204030204" pitchFamily="34" charset="0"/>
                          <a:cs typeface="Calibri" panose="020F0502020204030204" pitchFamily="34" charset="0"/>
                        </a:rPr>
                        <a:t>@1000</a:t>
                      </a:r>
                    </a:p>
                  </a:txBody>
                  <a:tcPr anchor="ctr"/>
                </a:tc>
                <a:tc>
                  <a:txBody>
                    <a:bodyPr/>
                    <a:lstStyle/>
                    <a:p>
                      <a:pPr algn="ctr"/>
                      <a:r>
                        <a:rPr lang="en-US" dirty="0">
                          <a:solidFill>
                            <a:schemeClr val="tx1"/>
                          </a:solidFill>
                          <a:latin typeface="Calibri" panose="020F0502020204030204" pitchFamily="34" charset="0"/>
                          <a:cs typeface="Calibri" panose="020F0502020204030204" pitchFamily="34" charset="0"/>
                        </a:rPr>
                        <a:t>F1</a:t>
                      </a:r>
                    </a:p>
                    <a:p>
                      <a:pPr algn="ctr"/>
                      <a:r>
                        <a:rPr lang="en-US" dirty="0">
                          <a:solidFill>
                            <a:schemeClr val="tx1"/>
                          </a:solidFill>
                          <a:latin typeface="Calibri" panose="020F0502020204030204" pitchFamily="34" charset="0"/>
                          <a:cs typeface="Calibri" panose="020F0502020204030204" pitchFamily="34" charset="0"/>
                        </a:rPr>
                        <a:t>@1000</a:t>
                      </a:r>
                    </a:p>
                  </a:txBody>
                  <a:tcPr anchor="ctr"/>
                </a:tc>
                <a:tc>
                  <a:txBody>
                    <a:bodyPr/>
                    <a:lstStyle/>
                    <a:p>
                      <a:pPr algn="ctr"/>
                      <a:r>
                        <a:rPr lang="en-US" dirty="0">
                          <a:solidFill>
                            <a:schemeClr val="tx1"/>
                          </a:solidFill>
                          <a:latin typeface="Calibri" panose="020F0502020204030204" pitchFamily="34" charset="0"/>
                          <a:cs typeface="Calibri" panose="020F0502020204030204" pitchFamily="34" charset="0"/>
                        </a:rPr>
                        <a:t>Overlap with GT</a:t>
                      </a:r>
                    </a:p>
                  </a:txBody>
                  <a:tcPr anchor="ctr"/>
                </a:tc>
                <a:tc>
                  <a:txBody>
                    <a:bodyPr/>
                    <a:lstStyle/>
                    <a:p>
                      <a:pPr algn="ctr"/>
                      <a:r>
                        <a:rPr lang="en-US" dirty="0">
                          <a:solidFill>
                            <a:schemeClr val="tx1"/>
                          </a:solidFill>
                          <a:latin typeface="Calibri" panose="020F0502020204030204" pitchFamily="34" charset="0"/>
                          <a:cs typeface="Calibri" panose="020F0502020204030204" pitchFamily="34" charset="0"/>
                        </a:rPr>
                        <a:t>Avg. Query Latency</a:t>
                      </a:r>
                    </a:p>
                  </a:txBody>
                  <a:tcPr anchor="ctr"/>
                </a:tc>
                <a:extLst>
                  <a:ext uri="{0D108BD9-81ED-4DB2-BD59-A6C34878D82A}">
                    <a16:rowId xmlns:a16="http://schemas.microsoft.com/office/drawing/2014/main" val="1622018660"/>
                  </a:ext>
                </a:extLst>
              </a:tr>
              <a:tr h="370840">
                <a:tc>
                  <a:txBody>
                    <a:bodyPr/>
                    <a:lstStyle/>
                    <a:p>
                      <a:pPr algn="l"/>
                      <a:r>
                        <a:rPr lang="en-US" b="1" dirty="0" err="1">
                          <a:solidFill>
                            <a:schemeClr val="tx1"/>
                          </a:solidFill>
                          <a:latin typeface="Calibri" panose="020F0502020204030204" pitchFamily="34" charset="0"/>
                          <a:cs typeface="Calibri" panose="020F0502020204030204" pitchFamily="34" charset="0"/>
                        </a:rPr>
                        <a:t>Istari</a:t>
                      </a:r>
                      <a:r>
                        <a:rPr lang="en-US" b="1" dirty="0">
                          <a:solidFill>
                            <a:schemeClr val="tx1"/>
                          </a:solidFill>
                          <a:latin typeface="Calibri" panose="020F0502020204030204" pitchFamily="34" charset="0"/>
                          <a:cs typeface="Calibri" panose="020F0502020204030204" pitchFamily="34" charset="0"/>
                        </a:rPr>
                        <a:t> BM25</a:t>
                      </a:r>
                    </a:p>
                  </a:txBody>
                  <a:tcPr anchor="ctr"/>
                </a:tc>
                <a:tc>
                  <a:txBody>
                    <a:bodyPr/>
                    <a:lstStyle/>
                    <a:p>
                      <a:pPr algn="ctr"/>
                      <a:r>
                        <a:rPr lang="en-US" b="0" i="0" dirty="0">
                          <a:solidFill>
                            <a:schemeClr val="tx1"/>
                          </a:solidFill>
                          <a:latin typeface="Calibri" panose="020F0502020204030204" pitchFamily="34" charset="0"/>
                          <a:cs typeface="Calibri" panose="020F0502020204030204" pitchFamily="34" charset="0"/>
                        </a:rPr>
                        <a:t>0.071</a:t>
                      </a:r>
                    </a:p>
                  </a:txBody>
                  <a:tcPr anchor="ctr"/>
                </a:tc>
                <a:tc>
                  <a:txBody>
                    <a:bodyPr/>
                    <a:lstStyle/>
                    <a:p>
                      <a:pPr algn="ctr"/>
                      <a:r>
                        <a:rPr lang="en-US" b="0" i="0" dirty="0">
                          <a:solidFill>
                            <a:schemeClr val="tx1"/>
                          </a:solidFill>
                          <a:latin typeface="Calibri" panose="020F0502020204030204" pitchFamily="34" charset="0"/>
                          <a:cs typeface="Calibri" panose="020F0502020204030204" pitchFamily="34" charset="0"/>
                        </a:rPr>
                        <a:t>0.048</a:t>
                      </a:r>
                    </a:p>
                  </a:txBody>
                  <a:tcPr anchor="ctr"/>
                </a:tc>
                <a:tc>
                  <a:txBody>
                    <a:bodyPr/>
                    <a:lstStyle/>
                    <a:p>
                      <a:pPr algn="ctr"/>
                      <a:r>
                        <a:rPr lang="en-US" b="0" i="0" dirty="0">
                          <a:solidFill>
                            <a:schemeClr val="tx1"/>
                          </a:solidFill>
                          <a:latin typeface="Calibri" panose="020F0502020204030204" pitchFamily="34" charset="0"/>
                          <a:cs typeface="Calibri" panose="020F0502020204030204" pitchFamily="34" charset="0"/>
                        </a:rPr>
                        <a:t>0.109</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0" i="0" dirty="0">
                          <a:solidFill>
                            <a:schemeClr val="tx1"/>
                          </a:solidFill>
                          <a:latin typeface="Calibri" panose="020F0502020204030204" pitchFamily="34" charset="0"/>
                          <a:cs typeface="Calibri" panose="020F0502020204030204" pitchFamily="34" charset="0"/>
                        </a:rPr>
                        <a:t>0.054</a:t>
                      </a:r>
                    </a:p>
                  </a:txBody>
                  <a:tcPr anchor="ctr"/>
                </a:tc>
                <a:tc>
                  <a:txBody>
                    <a:bodyPr/>
                    <a:lstStyle/>
                    <a:p>
                      <a:pPr algn="r"/>
                      <a:r>
                        <a:rPr lang="en-US" b="0" dirty="0">
                          <a:solidFill>
                            <a:schemeClr val="tx1"/>
                          </a:solidFill>
                          <a:latin typeface="Calibri" panose="020F0502020204030204" pitchFamily="34" charset="0"/>
                          <a:cs typeface="Calibri" panose="020F0502020204030204" pitchFamily="34" charset="0"/>
                        </a:rPr>
                        <a:t>34.3</a:t>
                      </a:r>
                    </a:p>
                  </a:txBody>
                  <a:tcPr anchor="ctr"/>
                </a:tc>
                <a:tc>
                  <a:txBody>
                    <a:bodyPr/>
                    <a:lstStyle/>
                    <a:p>
                      <a:pPr algn="r"/>
                      <a:r>
                        <a:rPr lang="en-US" b="0" dirty="0">
                          <a:solidFill>
                            <a:schemeClr val="tx1"/>
                          </a:solidFill>
                          <a:latin typeface="Calibri" panose="020F0502020204030204" pitchFamily="34" charset="0"/>
                          <a:cs typeface="Calibri" panose="020F0502020204030204" pitchFamily="34" charset="0"/>
                        </a:rPr>
                        <a:t>2828ms/query</a:t>
                      </a:r>
                    </a:p>
                  </a:txBody>
                  <a:tcPr anchor="ctr"/>
                </a:tc>
                <a:extLst>
                  <a:ext uri="{0D108BD9-81ED-4DB2-BD59-A6C34878D82A}">
                    <a16:rowId xmlns:a16="http://schemas.microsoft.com/office/drawing/2014/main" val="4188287029"/>
                  </a:ext>
                </a:extLst>
              </a:tr>
              <a:tr h="370840">
                <a:tc>
                  <a:txBody>
                    <a:bodyPr/>
                    <a:lstStyle/>
                    <a:p>
                      <a:pPr algn="l"/>
                      <a:r>
                        <a:rPr lang="en-US" b="1" dirty="0" err="1">
                          <a:solidFill>
                            <a:schemeClr val="tx1"/>
                          </a:solidFill>
                          <a:latin typeface="Calibri" panose="020F0502020204030204" pitchFamily="34" charset="0"/>
                          <a:cs typeface="Calibri" panose="020F0502020204030204" pitchFamily="34" charset="0"/>
                        </a:rPr>
                        <a:t>Istari</a:t>
                      </a:r>
                      <a:r>
                        <a:rPr lang="en-US" b="1" dirty="0">
                          <a:solidFill>
                            <a:schemeClr val="tx1"/>
                          </a:solidFill>
                          <a:latin typeface="Calibri" panose="020F0502020204030204" pitchFamily="34" charset="0"/>
                          <a:cs typeface="Calibri" panose="020F0502020204030204" pitchFamily="34" charset="0"/>
                        </a:rPr>
                        <a:t> BM25 + Filter</a:t>
                      </a: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0.072</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0.049</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0.109</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0.055</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Calibri" panose="020F0502020204030204" pitchFamily="34" charset="0"/>
                          <a:ea typeface="+mn-ea"/>
                          <a:cs typeface="Calibri" panose="020F0502020204030204" pitchFamily="34" charset="0"/>
                        </a:rPr>
                        <a:t>34.6</a:t>
                      </a:r>
                      <a:endParaRPr lang="en-US" dirty="0">
                        <a:solidFill>
                          <a:schemeClr val="tx1"/>
                        </a:solidFill>
                        <a:latin typeface="Calibri" panose="020F0502020204030204" pitchFamily="34" charset="0"/>
                        <a:cs typeface="Calibri" panose="020F0502020204030204" pitchFamily="34" charset="0"/>
                      </a:endParaRP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Calibri" panose="020F0502020204030204" pitchFamily="34" charset="0"/>
                          <a:cs typeface="Calibri" panose="020F0502020204030204" pitchFamily="34" charset="0"/>
                        </a:rPr>
                        <a:t>2450ms/query</a:t>
                      </a:r>
                    </a:p>
                  </a:txBody>
                  <a:tcPr anchor="ctr"/>
                </a:tc>
                <a:extLst>
                  <a:ext uri="{0D108BD9-81ED-4DB2-BD59-A6C34878D82A}">
                    <a16:rowId xmlns:a16="http://schemas.microsoft.com/office/drawing/2014/main" val="3682947584"/>
                  </a:ext>
                </a:extLst>
              </a:tr>
              <a:tr h="370840">
                <a:tc>
                  <a:txBody>
                    <a:bodyPr/>
                    <a:lstStyle/>
                    <a:p>
                      <a:pPr algn="l"/>
                      <a:r>
                        <a:rPr lang="en-US" b="1" dirty="0" err="1">
                          <a:solidFill>
                            <a:srgbClr val="00B050"/>
                          </a:solidFill>
                          <a:latin typeface="Calibri" panose="020F0502020204030204" pitchFamily="34" charset="0"/>
                          <a:cs typeface="Calibri" panose="020F0502020204030204" pitchFamily="34" charset="0"/>
                        </a:rPr>
                        <a:t>MiniLM</a:t>
                      </a:r>
                      <a:r>
                        <a:rPr lang="en-US" b="1" dirty="0">
                          <a:solidFill>
                            <a:srgbClr val="00B050"/>
                          </a:solidFill>
                          <a:latin typeface="Calibri" panose="020F0502020204030204" pitchFamily="34" charset="0"/>
                          <a:cs typeface="Calibri" panose="020F0502020204030204" pitchFamily="34" charset="0"/>
                        </a:rPr>
                        <a:t> (best until now)</a:t>
                      </a:r>
                    </a:p>
                  </a:txBody>
                  <a:tcPr anchor="ctr"/>
                </a:tc>
                <a:tc>
                  <a:txBody>
                    <a:bodyPr/>
                    <a:lstStyle/>
                    <a:p>
                      <a:pPr algn="ctr"/>
                      <a:r>
                        <a:rPr lang="en-US" sz="1800" b="1" i="0" kern="1200" dirty="0">
                          <a:solidFill>
                            <a:srgbClr val="00B050"/>
                          </a:solidFill>
                          <a:effectLst/>
                          <a:latin typeface="Calibri" panose="020F0502020204030204" pitchFamily="34" charset="0"/>
                          <a:ea typeface="+mn-ea"/>
                          <a:cs typeface="Calibri" panose="020F0502020204030204" pitchFamily="34" charset="0"/>
                        </a:rPr>
                        <a:t>0.766</a:t>
                      </a:r>
                      <a:endParaRPr lang="en-US" b="1" i="0" dirty="0">
                        <a:solidFill>
                          <a:srgbClr val="00B050"/>
                        </a:solidFill>
                        <a:latin typeface="Calibri" panose="020F0502020204030204" pitchFamily="34" charset="0"/>
                        <a:cs typeface="Calibri" panose="020F0502020204030204" pitchFamily="34" charset="0"/>
                      </a:endParaRPr>
                    </a:p>
                  </a:txBody>
                  <a:tcPr anchor="ctr"/>
                </a:tc>
                <a:tc>
                  <a:txBody>
                    <a:bodyPr/>
                    <a:lstStyle/>
                    <a:p>
                      <a:pPr algn="ctr"/>
                      <a:r>
                        <a:rPr lang="en-US" sz="1800" b="1" i="0" kern="1200" dirty="0">
                          <a:solidFill>
                            <a:srgbClr val="00B050"/>
                          </a:solidFill>
                          <a:effectLst/>
                          <a:latin typeface="Calibri" panose="020F0502020204030204" pitchFamily="34" charset="0"/>
                          <a:ea typeface="+mn-ea"/>
                          <a:cs typeface="Calibri" panose="020F0502020204030204" pitchFamily="34" charset="0"/>
                        </a:rPr>
                        <a:t>0.565</a:t>
                      </a:r>
                      <a:endParaRPr lang="en-US" b="1" i="0" dirty="0">
                        <a:solidFill>
                          <a:srgbClr val="00B050"/>
                        </a:solidFill>
                        <a:latin typeface="Calibri" panose="020F0502020204030204" pitchFamily="34" charset="0"/>
                        <a:cs typeface="Calibri" panose="020F0502020204030204" pitchFamily="34" charset="0"/>
                      </a:endParaRPr>
                    </a:p>
                  </a:txBody>
                  <a:tcPr anchor="ctr"/>
                </a:tc>
                <a:tc>
                  <a:txBody>
                    <a:bodyPr/>
                    <a:lstStyle/>
                    <a:p>
                      <a:pPr algn="ctr"/>
                      <a:r>
                        <a:rPr lang="en-US" sz="1800" b="1" i="0" kern="1200" dirty="0">
                          <a:solidFill>
                            <a:srgbClr val="00B050"/>
                          </a:solidFill>
                          <a:effectLst/>
                          <a:latin typeface="Calibri" panose="020F0502020204030204" pitchFamily="34" charset="0"/>
                          <a:ea typeface="+mn-ea"/>
                          <a:cs typeface="Calibri" panose="020F0502020204030204" pitchFamily="34" charset="0"/>
                        </a:rPr>
                        <a:t>0.794</a:t>
                      </a:r>
                      <a:endParaRPr lang="en-US" b="1" i="0" dirty="0">
                        <a:solidFill>
                          <a:srgbClr val="00B050"/>
                        </a:solidFill>
                        <a:latin typeface="Calibri" panose="020F0502020204030204" pitchFamily="34" charset="0"/>
                        <a:cs typeface="Calibri" panose="020F0502020204030204" pitchFamily="34" charset="0"/>
                      </a:endParaRPr>
                    </a:p>
                  </a:txBody>
                  <a:tcPr anchor="ctr"/>
                </a:tc>
                <a:tc>
                  <a:txBody>
                    <a:bodyPr/>
                    <a:lstStyle/>
                    <a:p>
                      <a:pPr algn="ctr"/>
                      <a:r>
                        <a:rPr lang="en-US" sz="1800" b="1" i="0" kern="1200" dirty="0">
                          <a:solidFill>
                            <a:srgbClr val="00B050"/>
                          </a:solidFill>
                          <a:effectLst/>
                          <a:latin typeface="Calibri" panose="020F0502020204030204" pitchFamily="34" charset="0"/>
                          <a:ea typeface="+mn-ea"/>
                          <a:cs typeface="Calibri" panose="020F0502020204030204" pitchFamily="34" charset="0"/>
                        </a:rPr>
                        <a:t>0.598</a:t>
                      </a:r>
                      <a:endParaRPr lang="en-US" b="1" i="0" dirty="0">
                        <a:solidFill>
                          <a:srgbClr val="00B050"/>
                        </a:solidFill>
                        <a:latin typeface="Calibri" panose="020F0502020204030204" pitchFamily="34" charset="0"/>
                        <a:cs typeface="Calibri" panose="020F0502020204030204" pitchFamily="34" charset="0"/>
                      </a:endParaRPr>
                    </a:p>
                  </a:txBody>
                  <a:tcPr anchor="ctr"/>
                </a:tc>
                <a:tc>
                  <a:txBody>
                    <a:bodyPr/>
                    <a:lstStyle/>
                    <a:p>
                      <a:pPr algn="r"/>
                      <a:r>
                        <a:rPr lang="en-US" b="1" dirty="0">
                          <a:solidFill>
                            <a:srgbClr val="00B050"/>
                          </a:solidFill>
                          <a:latin typeface="Calibri" panose="020F0502020204030204" pitchFamily="34" charset="0"/>
                          <a:cs typeface="Calibri" panose="020F0502020204030204" pitchFamily="34" charset="0"/>
                        </a:rPr>
                        <a:t>740.7</a:t>
                      </a:r>
                    </a:p>
                  </a:txBody>
                  <a:tcPr anchor="ctr"/>
                </a:tc>
                <a:tc>
                  <a:txBody>
                    <a:bodyPr/>
                    <a:lstStyle/>
                    <a:p>
                      <a:pPr algn="r"/>
                      <a:r>
                        <a:rPr lang="en-US" sz="1800" b="1" kern="1200" dirty="0">
                          <a:solidFill>
                            <a:srgbClr val="00B050"/>
                          </a:solidFill>
                          <a:latin typeface="Calibri" panose="020F0502020204030204" pitchFamily="34" charset="0"/>
                          <a:ea typeface="+mn-ea"/>
                          <a:cs typeface="Calibri" panose="020F0502020204030204" pitchFamily="34" charset="0"/>
                        </a:rPr>
                        <a:t>~26.6ms/query</a:t>
                      </a:r>
                    </a:p>
                  </a:txBody>
                  <a:tcPr anchor="ctr"/>
                </a:tc>
                <a:extLst>
                  <a:ext uri="{0D108BD9-81ED-4DB2-BD59-A6C34878D82A}">
                    <a16:rowId xmlns:a16="http://schemas.microsoft.com/office/drawing/2014/main" val="1675035009"/>
                  </a:ext>
                </a:extLst>
              </a:tr>
            </a:tbl>
          </a:graphicData>
        </a:graphic>
      </p:graphicFrame>
      <p:sp>
        <p:nvSpPr>
          <p:cNvPr id="9" name="TextBox 8">
            <a:extLst>
              <a:ext uri="{FF2B5EF4-FFF2-40B4-BE49-F238E27FC236}">
                <a16:creationId xmlns:a16="http://schemas.microsoft.com/office/drawing/2014/main" id="{E3AE19E6-5884-1A3D-3426-74C090A4797D}"/>
              </a:ext>
            </a:extLst>
          </p:cNvPr>
          <p:cNvSpPr txBox="1"/>
          <p:nvPr/>
        </p:nvSpPr>
        <p:spPr>
          <a:xfrm>
            <a:off x="838200" y="4615117"/>
            <a:ext cx="10896598" cy="1200329"/>
          </a:xfrm>
          <a:prstGeom prst="rect">
            <a:avLst/>
          </a:prstGeom>
          <a:noFill/>
        </p:spPr>
        <p:txBody>
          <a:bodyPr wrap="square" rtlCol="0">
            <a:spAutoFit/>
          </a:bodyPr>
          <a:lstStyle/>
          <a:p>
            <a:pPr marL="285750" indent="-285750" algn="just">
              <a:buFont typeface="Arial" panose="020B0604020202020204" pitchFamily="34" charset="0"/>
              <a:buChar char="•"/>
            </a:pPr>
            <a:r>
              <a:rPr lang="en-US" b="1" dirty="0" err="1">
                <a:solidFill>
                  <a:srgbClr val="FF0000"/>
                </a:solidFill>
                <a:latin typeface="Calibri" panose="020F0502020204030204" pitchFamily="34" charset="0"/>
                <a:cs typeface="Calibri" panose="020F0502020204030204" pitchFamily="34" charset="0"/>
              </a:rPr>
              <a:t>Istari</a:t>
            </a:r>
            <a:r>
              <a:rPr lang="en-US" b="1" dirty="0">
                <a:solidFill>
                  <a:srgbClr val="FF0000"/>
                </a:solidFill>
                <a:latin typeface="Calibri" panose="020F0502020204030204" pitchFamily="34" charset="0"/>
                <a:cs typeface="Calibri" panose="020F0502020204030204" pitchFamily="34" charset="0"/>
              </a:rPr>
              <a:t> API latency of ~2.8 seconds per query is dominated by network round-trip time, not retrieval computation ; local BM25 runs in 103ms. </a:t>
            </a:r>
          </a:p>
          <a:p>
            <a:pPr marL="285750" indent="-285750" algn="just">
              <a:buFont typeface="Arial" panose="020B0604020202020204" pitchFamily="34" charset="0"/>
              <a:buChar char="•"/>
            </a:pPr>
            <a:r>
              <a:rPr lang="en-US" b="1" dirty="0" err="1">
                <a:solidFill>
                  <a:srgbClr val="FF0000"/>
                </a:solidFill>
                <a:latin typeface="Calibri" panose="020F0502020204030204" pitchFamily="34" charset="0"/>
                <a:cs typeface="Calibri" panose="020F0502020204030204" pitchFamily="34" charset="0"/>
              </a:rPr>
              <a:t>MiniLM</a:t>
            </a:r>
            <a:r>
              <a:rPr lang="en-US" b="1" dirty="0">
                <a:solidFill>
                  <a:srgbClr val="FF0000"/>
                </a:solidFill>
                <a:latin typeface="Calibri" panose="020F0502020204030204" pitchFamily="34" charset="0"/>
                <a:cs typeface="Calibri" panose="020F0502020204030204" pitchFamily="34" charset="0"/>
              </a:rPr>
              <a:t> runs entirely locally at 26.6ms, making latency comparison between the two systems a measure of infrastructure difference rather than algorithmic efficiency.</a:t>
            </a:r>
          </a:p>
        </p:txBody>
      </p:sp>
    </p:spTree>
    <p:extLst>
      <p:ext uri="{BB962C8B-B14F-4D97-AF65-F5344CB8AC3E}">
        <p14:creationId xmlns:p14="http://schemas.microsoft.com/office/powerpoint/2010/main" val="276869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93016-1087-F289-6C3F-6F5BB5C52B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50293-8C3D-5B59-46BC-78764E56CD11}"/>
              </a:ext>
            </a:extLst>
          </p:cNvPr>
          <p:cNvSpPr>
            <a:spLocks noGrp="1"/>
          </p:cNvSpPr>
          <p:nvPr>
            <p:ph type="title"/>
          </p:nvPr>
        </p:nvSpPr>
        <p:spPr/>
        <p:txBody>
          <a:bodyPr>
            <a:normAutofit/>
          </a:bodyPr>
          <a:lstStyle/>
          <a:p>
            <a:r>
              <a:rPr lang="en-US" sz="4000" b="1" dirty="0">
                <a:latin typeface="Calibri" panose="020F0502020204030204" pitchFamily="34" charset="0"/>
                <a:cs typeface="Calibri" panose="020F0502020204030204" pitchFamily="34" charset="0"/>
              </a:rPr>
              <a:t>API Evaluation - </a:t>
            </a:r>
            <a:r>
              <a:rPr lang="en-US" sz="4000" b="1" dirty="0" err="1">
                <a:latin typeface="Calibri" panose="020F0502020204030204" pitchFamily="34" charset="0"/>
                <a:cs typeface="Calibri" panose="020F0502020204030204" pitchFamily="34" charset="0"/>
              </a:rPr>
              <a:t>MiniLM</a:t>
            </a:r>
            <a:r>
              <a:rPr lang="en-US" sz="4000" b="1" dirty="0">
                <a:latin typeface="Calibri" panose="020F0502020204030204" pitchFamily="34" charset="0"/>
                <a:cs typeface="Calibri" panose="020F0502020204030204" pitchFamily="34" charset="0"/>
              </a:rPr>
              <a:t> Pipeline vs. </a:t>
            </a:r>
            <a:r>
              <a:rPr lang="en-US" sz="4000" b="1" dirty="0" err="1">
                <a:latin typeface="Calibri" panose="020F0502020204030204" pitchFamily="34" charset="0"/>
                <a:cs typeface="Calibri" panose="020F0502020204030204" pitchFamily="34" charset="0"/>
              </a:rPr>
              <a:t>Istari.ai</a:t>
            </a:r>
            <a:r>
              <a:rPr lang="en-US" sz="4000" b="1" dirty="0">
                <a:latin typeface="Calibri" panose="020F0502020204030204" pitchFamily="34" charset="0"/>
                <a:cs typeface="Calibri" panose="020F0502020204030204" pitchFamily="34" charset="0"/>
              </a:rPr>
              <a:t> Production </a:t>
            </a:r>
            <a:r>
              <a:rPr kumimoji="0" lang="en-US" sz="2800" b="1" i="0" u="none" strike="noStrike" kern="1200" cap="none" spc="0" normalizeH="0" baseline="0" noProof="0" dirty="0">
                <a:ln>
                  <a:noFill/>
                </a:ln>
                <a:solidFill>
                  <a:prstClr val="black"/>
                </a:solidFill>
                <a:effectLst/>
                <a:uLnTx/>
                <a:uFillTx/>
                <a:latin typeface="Aptos Display" panose="02110004020202020204"/>
                <a:ea typeface="+mj-ea"/>
                <a:cs typeface="+mj-cs"/>
              </a:rPr>
              <a:t>(k=500, 100)</a:t>
            </a:r>
            <a:endParaRPr lang="en-US" sz="4000" b="1" dirty="0">
              <a:latin typeface="Calibri" panose="020F0502020204030204" pitchFamily="34" charset="0"/>
              <a:cs typeface="Calibri" panose="020F0502020204030204" pitchFamily="34" charset="0"/>
            </a:endParaRPr>
          </a:p>
        </p:txBody>
      </p:sp>
      <p:sp>
        <p:nvSpPr>
          <p:cNvPr id="4" name="Date Placeholder 3">
            <a:extLst>
              <a:ext uri="{FF2B5EF4-FFF2-40B4-BE49-F238E27FC236}">
                <a16:creationId xmlns:a16="http://schemas.microsoft.com/office/drawing/2014/main" id="{2D18EFF9-6C03-5411-9EF3-B460A92318F1}"/>
              </a:ext>
            </a:extLst>
          </p:cNvPr>
          <p:cNvSpPr>
            <a:spLocks noGrp="1"/>
          </p:cNvSpPr>
          <p:nvPr>
            <p:ph type="dt" sz="half" idx="10"/>
          </p:nvPr>
        </p:nvSpPr>
        <p:spPr/>
        <p:txBody>
          <a:bodyPr/>
          <a:lstStyle/>
          <a:p>
            <a:fld id="{4B9484E0-EA99-6E40-9BD0-550CD26F6E0B}" type="datetime1">
              <a:rPr lang="en-US" smtClean="0">
                <a:latin typeface="Calibri" panose="020F0502020204030204" pitchFamily="34" charset="0"/>
                <a:cs typeface="Calibri" panose="020F0502020204030204" pitchFamily="34" charset="0"/>
              </a:rPr>
              <a:t>6/3/26</a:t>
            </a:fld>
            <a:endParaRPr lang="en-US">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F43DEA90-C620-FBAD-C737-2547013FBFE7}"/>
              </a:ext>
            </a:extLst>
          </p:cNvPr>
          <p:cNvSpPr>
            <a:spLocks noGrp="1"/>
          </p:cNvSpPr>
          <p:nvPr>
            <p:ph type="sldNum" sz="quarter" idx="12"/>
          </p:nvPr>
        </p:nvSpPr>
        <p:spPr/>
        <p:txBody>
          <a:bodyPr/>
          <a:lstStyle/>
          <a:p>
            <a:fld id="{9918A6A5-4FFB-434A-A92F-4AE444D35066}" type="slidenum">
              <a:rPr lang="en-US" smtClean="0">
                <a:latin typeface="Calibri" panose="020F0502020204030204" pitchFamily="34" charset="0"/>
                <a:cs typeface="Calibri" panose="020F0502020204030204" pitchFamily="34" charset="0"/>
              </a:rPr>
              <a:t>12</a:t>
            </a:fld>
            <a:endParaRPr lang="en-US">
              <a:latin typeface="Calibri" panose="020F0502020204030204" pitchFamily="34" charset="0"/>
              <a:cs typeface="Calibri" panose="020F0502020204030204" pitchFamily="34" charset="0"/>
            </a:endParaRPr>
          </a:p>
        </p:txBody>
      </p:sp>
      <p:graphicFrame>
        <p:nvGraphicFramePr>
          <p:cNvPr id="7" name="Content Placeholder 6">
            <a:extLst>
              <a:ext uri="{FF2B5EF4-FFF2-40B4-BE49-F238E27FC236}">
                <a16:creationId xmlns:a16="http://schemas.microsoft.com/office/drawing/2014/main" id="{EA513730-687E-722C-8F14-C957FE507F5A}"/>
              </a:ext>
            </a:extLst>
          </p:cNvPr>
          <p:cNvGraphicFramePr>
            <a:graphicFrameLocks noGrp="1"/>
          </p:cNvGraphicFramePr>
          <p:nvPr>
            <p:ph idx="1"/>
            <p:extLst>
              <p:ext uri="{D42A27DB-BD31-4B8C-83A1-F6EECF244321}">
                <p14:modId xmlns:p14="http://schemas.microsoft.com/office/powerpoint/2010/main" val="1871386554"/>
              </p:ext>
            </p:extLst>
          </p:nvPr>
        </p:nvGraphicFramePr>
        <p:xfrm>
          <a:off x="838200" y="1825625"/>
          <a:ext cx="10896600" cy="1752600"/>
        </p:xfrm>
        <a:graphic>
          <a:graphicData uri="http://schemas.openxmlformats.org/drawingml/2006/table">
            <a:tbl>
              <a:tblPr firstRow="1" bandRow="1">
                <a:tableStyleId>{C4B1156A-380E-4F78-BDF5-A606A8083BF9}</a:tableStyleId>
              </a:tblPr>
              <a:tblGrid>
                <a:gridCol w="4227954">
                  <a:extLst>
                    <a:ext uri="{9D8B030D-6E8A-4147-A177-3AD203B41FA5}">
                      <a16:colId xmlns:a16="http://schemas.microsoft.com/office/drawing/2014/main" val="2738875573"/>
                    </a:ext>
                  </a:extLst>
                </a:gridCol>
                <a:gridCol w="1368695">
                  <a:extLst>
                    <a:ext uri="{9D8B030D-6E8A-4147-A177-3AD203B41FA5}">
                      <a16:colId xmlns:a16="http://schemas.microsoft.com/office/drawing/2014/main" val="642727418"/>
                    </a:ext>
                  </a:extLst>
                </a:gridCol>
                <a:gridCol w="1641584">
                  <a:extLst>
                    <a:ext uri="{9D8B030D-6E8A-4147-A177-3AD203B41FA5}">
                      <a16:colId xmlns:a16="http://schemas.microsoft.com/office/drawing/2014/main" val="1402106019"/>
                    </a:ext>
                  </a:extLst>
                </a:gridCol>
                <a:gridCol w="1270625">
                  <a:extLst>
                    <a:ext uri="{9D8B030D-6E8A-4147-A177-3AD203B41FA5}">
                      <a16:colId xmlns:a16="http://schemas.microsoft.com/office/drawing/2014/main" val="1992137792"/>
                    </a:ext>
                  </a:extLst>
                </a:gridCol>
                <a:gridCol w="1193871">
                  <a:extLst>
                    <a:ext uri="{9D8B030D-6E8A-4147-A177-3AD203B41FA5}">
                      <a16:colId xmlns:a16="http://schemas.microsoft.com/office/drawing/2014/main" val="1988334267"/>
                    </a:ext>
                  </a:extLst>
                </a:gridCol>
                <a:gridCol w="1193871">
                  <a:extLst>
                    <a:ext uri="{9D8B030D-6E8A-4147-A177-3AD203B41FA5}">
                      <a16:colId xmlns:a16="http://schemas.microsoft.com/office/drawing/2014/main" val="3314266798"/>
                    </a:ext>
                  </a:extLst>
                </a:gridCol>
              </a:tblGrid>
              <a:tr h="370840">
                <a:tc>
                  <a:txBody>
                    <a:bodyPr/>
                    <a:lstStyle/>
                    <a:p>
                      <a:pPr algn="ctr"/>
                      <a:r>
                        <a:rPr lang="en-US" b="1" dirty="0">
                          <a:solidFill>
                            <a:schemeClr val="tx1"/>
                          </a:solidFill>
                          <a:latin typeface="Calibri" panose="020F0502020204030204" pitchFamily="34" charset="0"/>
                          <a:cs typeface="Calibri" panose="020F0502020204030204" pitchFamily="34" charset="0"/>
                        </a:rPr>
                        <a:t>Method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Calibri" panose="020F0502020204030204" pitchFamily="34" charset="0"/>
                          <a:cs typeface="Calibri" panose="020F0502020204030204" pitchFamily="34" charset="0"/>
                        </a:rPr>
                        <a:t>NDCG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Calibri" panose="020F0502020204030204" pitchFamily="34" charset="0"/>
                          <a:cs typeface="Calibri" panose="020F0502020204030204" pitchFamily="34" charset="0"/>
                        </a:rPr>
                        <a:t>@500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Calibri" panose="020F0502020204030204" pitchFamily="34" charset="0"/>
                          <a:cs typeface="Calibri" panose="020F0502020204030204" pitchFamily="34" charset="0"/>
                        </a:rPr>
                        <a:t>Precision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Calibri" panose="020F0502020204030204" pitchFamily="34" charset="0"/>
                          <a:cs typeface="Calibri" panose="020F0502020204030204" pitchFamily="34" charset="0"/>
                        </a:rPr>
                        <a:t>@500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Calibri" panose="020F0502020204030204" pitchFamily="34" charset="0"/>
                          <a:cs typeface="Calibri" panose="020F0502020204030204" pitchFamily="34" charset="0"/>
                        </a:rPr>
                        <a:t>Recall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Calibri" panose="020F0502020204030204" pitchFamily="34" charset="0"/>
                          <a:cs typeface="Calibri" panose="020F0502020204030204" pitchFamily="34" charset="0"/>
                        </a:rPr>
                        <a:t>@500</a:t>
                      </a:r>
                    </a:p>
                  </a:txBody>
                  <a:tcPr anchor="ctr"/>
                </a:tc>
                <a:tc>
                  <a:txBody>
                    <a:bodyPr/>
                    <a:lstStyle/>
                    <a:p>
                      <a:pPr algn="ctr"/>
                      <a:r>
                        <a:rPr lang="en-US" dirty="0">
                          <a:solidFill>
                            <a:schemeClr val="tx1"/>
                          </a:solidFill>
                          <a:latin typeface="Calibri" panose="020F0502020204030204" pitchFamily="34" charset="0"/>
                          <a:cs typeface="Calibri" panose="020F0502020204030204" pitchFamily="34" charset="0"/>
                        </a:rPr>
                        <a:t>F1</a:t>
                      </a:r>
                    </a:p>
                    <a:p>
                      <a:pPr algn="ctr"/>
                      <a:r>
                        <a:rPr lang="en-US" dirty="0">
                          <a:solidFill>
                            <a:schemeClr val="tx1"/>
                          </a:solidFill>
                          <a:latin typeface="Calibri" panose="020F0502020204030204" pitchFamily="34" charset="0"/>
                          <a:cs typeface="Calibri" panose="020F0502020204030204" pitchFamily="34" charset="0"/>
                        </a:rPr>
                        <a:t>@500</a:t>
                      </a:r>
                    </a:p>
                  </a:txBody>
                  <a:tcPr anchor="ctr"/>
                </a:tc>
                <a:tc>
                  <a:txBody>
                    <a:bodyPr/>
                    <a:lstStyle/>
                    <a:p>
                      <a:pPr algn="ctr"/>
                      <a:r>
                        <a:rPr lang="en-US" dirty="0">
                          <a:solidFill>
                            <a:schemeClr val="tx1"/>
                          </a:solidFill>
                          <a:latin typeface="Calibri" panose="020F0502020204030204" pitchFamily="34" charset="0"/>
                          <a:cs typeface="Calibri" panose="020F0502020204030204" pitchFamily="34" charset="0"/>
                        </a:rPr>
                        <a:t>Overlap with GT</a:t>
                      </a:r>
                    </a:p>
                  </a:txBody>
                  <a:tcPr anchor="ctr"/>
                </a:tc>
                <a:extLst>
                  <a:ext uri="{0D108BD9-81ED-4DB2-BD59-A6C34878D82A}">
                    <a16:rowId xmlns:a16="http://schemas.microsoft.com/office/drawing/2014/main" val="1622018660"/>
                  </a:ext>
                </a:extLst>
              </a:tr>
              <a:tr h="370840">
                <a:tc>
                  <a:txBody>
                    <a:bodyPr/>
                    <a:lstStyle/>
                    <a:p>
                      <a:pPr algn="l"/>
                      <a:r>
                        <a:rPr lang="en-US" b="1" dirty="0" err="1">
                          <a:solidFill>
                            <a:schemeClr val="tx1"/>
                          </a:solidFill>
                          <a:latin typeface="Calibri" panose="020F0502020204030204" pitchFamily="34" charset="0"/>
                          <a:cs typeface="Calibri" panose="020F0502020204030204" pitchFamily="34" charset="0"/>
                        </a:rPr>
                        <a:t>Istari</a:t>
                      </a:r>
                      <a:r>
                        <a:rPr lang="en-US" b="1" dirty="0">
                          <a:solidFill>
                            <a:schemeClr val="tx1"/>
                          </a:solidFill>
                          <a:latin typeface="Calibri" panose="020F0502020204030204" pitchFamily="34" charset="0"/>
                          <a:cs typeface="Calibri" panose="020F0502020204030204" pitchFamily="34" charset="0"/>
                        </a:rPr>
                        <a:t> BM25</a:t>
                      </a: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0.072</a:t>
                      </a:r>
                      <a:endParaRPr lang="en-US" b="1"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0.048</a:t>
                      </a:r>
                      <a:endParaRPr lang="en-US" b="1"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0.054</a:t>
                      </a:r>
                      <a:endParaRPr lang="en-US" b="1"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0.039</a:t>
                      </a:r>
                      <a:endParaRPr lang="en-US" b="1"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20.7</a:t>
                      </a:r>
                      <a:endParaRPr lang="en-US" b="1" i="0" dirty="0">
                        <a:solidFill>
                          <a:schemeClr val="tx1"/>
                        </a:solidFill>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188287029"/>
                  </a:ext>
                </a:extLst>
              </a:tr>
              <a:tr h="370840">
                <a:tc>
                  <a:txBody>
                    <a:bodyPr/>
                    <a:lstStyle/>
                    <a:p>
                      <a:pPr algn="l"/>
                      <a:r>
                        <a:rPr lang="en-US" b="1" dirty="0" err="1">
                          <a:solidFill>
                            <a:schemeClr val="tx1"/>
                          </a:solidFill>
                          <a:latin typeface="Calibri" panose="020F0502020204030204" pitchFamily="34" charset="0"/>
                          <a:cs typeface="Calibri" panose="020F0502020204030204" pitchFamily="34" charset="0"/>
                        </a:rPr>
                        <a:t>Istari</a:t>
                      </a:r>
                      <a:r>
                        <a:rPr lang="en-US" b="1" dirty="0">
                          <a:solidFill>
                            <a:schemeClr val="tx1"/>
                          </a:solidFill>
                          <a:latin typeface="Calibri" panose="020F0502020204030204" pitchFamily="34" charset="0"/>
                          <a:cs typeface="Calibri" panose="020F0502020204030204" pitchFamily="34" charset="0"/>
                        </a:rPr>
                        <a:t> BM25 + Filter</a:t>
                      </a: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0.072</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0.049</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0.055</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Calibri" panose="020F0502020204030204" pitchFamily="34" charset="0"/>
                          <a:ea typeface="+mn-ea"/>
                          <a:cs typeface="Calibri" panose="020F0502020204030204" pitchFamily="34" charset="0"/>
                        </a:rPr>
                        <a:t>0.040</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Calibri" panose="020F0502020204030204" pitchFamily="34" charset="0"/>
                          <a:ea typeface="+mn-ea"/>
                          <a:cs typeface="Calibri" panose="020F0502020204030204" pitchFamily="34" charset="0"/>
                        </a:rPr>
                        <a:t>21.0</a:t>
                      </a:r>
                      <a:endParaRPr lang="en-US" i="0" dirty="0">
                        <a:solidFill>
                          <a:schemeClr val="tx1"/>
                        </a:solidFill>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682947584"/>
                  </a:ext>
                </a:extLst>
              </a:tr>
              <a:tr h="370840">
                <a:tc>
                  <a:txBody>
                    <a:bodyPr/>
                    <a:lstStyle/>
                    <a:p>
                      <a:pPr algn="l"/>
                      <a:r>
                        <a:rPr lang="en-US" b="1" dirty="0" err="1">
                          <a:solidFill>
                            <a:schemeClr val="tx1"/>
                          </a:solidFill>
                          <a:latin typeface="Calibri" panose="020F0502020204030204" pitchFamily="34" charset="0"/>
                          <a:cs typeface="Calibri" panose="020F0502020204030204" pitchFamily="34" charset="0"/>
                        </a:rPr>
                        <a:t>MiniLM</a:t>
                      </a:r>
                      <a:r>
                        <a:rPr lang="en-US" b="1" dirty="0">
                          <a:solidFill>
                            <a:schemeClr val="tx1"/>
                          </a:solidFill>
                          <a:latin typeface="Calibri" panose="020F0502020204030204" pitchFamily="34" charset="0"/>
                          <a:cs typeface="Calibri" panose="020F0502020204030204" pitchFamily="34" charset="0"/>
                        </a:rPr>
                        <a:t> (best until now)</a:t>
                      </a: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0.862</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0.658</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0.499</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0.487</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243.6</a:t>
                      </a:r>
                      <a:endParaRPr lang="en-US" i="0" dirty="0">
                        <a:solidFill>
                          <a:schemeClr val="tx1"/>
                        </a:solidFill>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675035009"/>
                  </a:ext>
                </a:extLst>
              </a:tr>
            </a:tbl>
          </a:graphicData>
        </a:graphic>
      </p:graphicFrame>
      <p:graphicFrame>
        <p:nvGraphicFramePr>
          <p:cNvPr id="8" name="Content Placeholder 6">
            <a:extLst>
              <a:ext uri="{FF2B5EF4-FFF2-40B4-BE49-F238E27FC236}">
                <a16:creationId xmlns:a16="http://schemas.microsoft.com/office/drawing/2014/main" id="{8EB482CD-785B-BF98-86ED-80ACB0BDCA37}"/>
              </a:ext>
            </a:extLst>
          </p:cNvPr>
          <p:cNvGraphicFramePr>
            <a:graphicFrameLocks/>
          </p:cNvGraphicFramePr>
          <p:nvPr>
            <p:extLst>
              <p:ext uri="{D42A27DB-BD31-4B8C-83A1-F6EECF244321}">
                <p14:modId xmlns:p14="http://schemas.microsoft.com/office/powerpoint/2010/main" val="3880572209"/>
              </p:ext>
            </p:extLst>
          </p:nvPr>
        </p:nvGraphicFramePr>
        <p:xfrm>
          <a:off x="838200" y="3914402"/>
          <a:ext cx="10896599" cy="1752600"/>
        </p:xfrm>
        <a:graphic>
          <a:graphicData uri="http://schemas.openxmlformats.org/drawingml/2006/table">
            <a:tbl>
              <a:tblPr firstRow="1" bandRow="1">
                <a:tableStyleId>{C4B1156A-380E-4F78-BDF5-A606A8083BF9}</a:tableStyleId>
              </a:tblPr>
              <a:tblGrid>
                <a:gridCol w="4240123">
                  <a:extLst>
                    <a:ext uri="{9D8B030D-6E8A-4147-A177-3AD203B41FA5}">
                      <a16:colId xmlns:a16="http://schemas.microsoft.com/office/drawing/2014/main" val="2738875573"/>
                    </a:ext>
                  </a:extLst>
                </a:gridCol>
                <a:gridCol w="1372633">
                  <a:extLst>
                    <a:ext uri="{9D8B030D-6E8A-4147-A177-3AD203B41FA5}">
                      <a16:colId xmlns:a16="http://schemas.microsoft.com/office/drawing/2014/main" val="1396480155"/>
                    </a:ext>
                  </a:extLst>
                </a:gridCol>
                <a:gridCol w="1619083">
                  <a:extLst>
                    <a:ext uri="{9D8B030D-6E8A-4147-A177-3AD203B41FA5}">
                      <a16:colId xmlns:a16="http://schemas.microsoft.com/office/drawing/2014/main" val="4261984316"/>
                    </a:ext>
                  </a:extLst>
                </a:gridCol>
                <a:gridCol w="1332872">
                  <a:extLst>
                    <a:ext uri="{9D8B030D-6E8A-4147-A177-3AD203B41FA5}">
                      <a16:colId xmlns:a16="http://schemas.microsoft.com/office/drawing/2014/main" val="2540366851"/>
                    </a:ext>
                  </a:extLst>
                </a:gridCol>
                <a:gridCol w="1165944">
                  <a:extLst>
                    <a:ext uri="{9D8B030D-6E8A-4147-A177-3AD203B41FA5}">
                      <a16:colId xmlns:a16="http://schemas.microsoft.com/office/drawing/2014/main" val="961887914"/>
                    </a:ext>
                  </a:extLst>
                </a:gridCol>
                <a:gridCol w="1165944">
                  <a:extLst>
                    <a:ext uri="{9D8B030D-6E8A-4147-A177-3AD203B41FA5}">
                      <a16:colId xmlns:a16="http://schemas.microsoft.com/office/drawing/2014/main" val="1584068291"/>
                    </a:ext>
                  </a:extLst>
                </a:gridCol>
              </a:tblGrid>
              <a:tr h="370840">
                <a:tc>
                  <a:txBody>
                    <a:bodyPr/>
                    <a:lstStyle/>
                    <a:p>
                      <a:pPr algn="ctr"/>
                      <a:r>
                        <a:rPr lang="en-US" b="1" dirty="0">
                          <a:solidFill>
                            <a:schemeClr val="tx1"/>
                          </a:solidFill>
                          <a:latin typeface="Calibri" panose="020F0502020204030204" pitchFamily="34" charset="0"/>
                          <a:cs typeface="Calibri" panose="020F0502020204030204" pitchFamily="34" charset="0"/>
                        </a:rPr>
                        <a:t>Method</a:t>
                      </a:r>
                    </a:p>
                  </a:txBody>
                  <a:tcPr anchor="ctr"/>
                </a:tc>
                <a:tc>
                  <a:txBody>
                    <a:bodyPr/>
                    <a:lstStyle/>
                    <a:p>
                      <a:pPr algn="ctr"/>
                      <a:r>
                        <a:rPr lang="en-US" dirty="0">
                          <a:solidFill>
                            <a:schemeClr val="tx1"/>
                          </a:solidFill>
                          <a:latin typeface="Calibri" panose="020F0502020204030204" pitchFamily="34" charset="0"/>
                          <a:cs typeface="Calibri" panose="020F0502020204030204" pitchFamily="34" charset="0"/>
                        </a:rPr>
                        <a:t>NDCG</a:t>
                      </a:r>
                    </a:p>
                    <a:p>
                      <a:pPr algn="ctr"/>
                      <a:r>
                        <a:rPr lang="en-US" dirty="0">
                          <a:solidFill>
                            <a:schemeClr val="tx1"/>
                          </a:solidFill>
                          <a:latin typeface="Calibri" panose="020F0502020204030204" pitchFamily="34" charset="0"/>
                          <a:cs typeface="Calibri" panose="020F0502020204030204" pitchFamily="34" charset="0"/>
                        </a:rPr>
                        <a:t>@100</a:t>
                      </a:r>
                    </a:p>
                  </a:txBody>
                  <a:tcPr anchor="ctr"/>
                </a:tc>
                <a:tc>
                  <a:txBody>
                    <a:bodyPr/>
                    <a:lstStyle/>
                    <a:p>
                      <a:pPr algn="ctr"/>
                      <a:r>
                        <a:rPr lang="en-US" dirty="0">
                          <a:solidFill>
                            <a:schemeClr val="tx1"/>
                          </a:solidFill>
                          <a:latin typeface="Calibri" panose="020F0502020204030204" pitchFamily="34" charset="0"/>
                          <a:cs typeface="Calibri" panose="020F0502020204030204" pitchFamily="34" charset="0"/>
                        </a:rPr>
                        <a:t>Precision</a:t>
                      </a:r>
                    </a:p>
                    <a:p>
                      <a:pPr algn="ctr"/>
                      <a:r>
                        <a:rPr lang="en-US" dirty="0">
                          <a:solidFill>
                            <a:schemeClr val="tx1"/>
                          </a:solidFill>
                          <a:latin typeface="Calibri" panose="020F0502020204030204" pitchFamily="34" charset="0"/>
                          <a:cs typeface="Calibri" panose="020F0502020204030204" pitchFamily="34" charset="0"/>
                        </a:rPr>
                        <a:t>@100</a:t>
                      </a:r>
                    </a:p>
                  </a:txBody>
                  <a:tcPr anchor="ctr"/>
                </a:tc>
                <a:tc>
                  <a:txBody>
                    <a:bodyPr/>
                    <a:lstStyle/>
                    <a:p>
                      <a:pPr algn="ctr"/>
                      <a:r>
                        <a:rPr lang="en-US" dirty="0">
                          <a:solidFill>
                            <a:schemeClr val="tx1"/>
                          </a:solidFill>
                          <a:latin typeface="Calibri" panose="020F0502020204030204" pitchFamily="34" charset="0"/>
                          <a:cs typeface="Calibri" panose="020F0502020204030204" pitchFamily="34" charset="0"/>
                        </a:rPr>
                        <a:t>Recall</a:t>
                      </a:r>
                    </a:p>
                    <a:p>
                      <a:pPr algn="ctr"/>
                      <a:r>
                        <a:rPr lang="en-US" dirty="0">
                          <a:solidFill>
                            <a:schemeClr val="tx1"/>
                          </a:solidFill>
                          <a:latin typeface="Calibri" panose="020F0502020204030204" pitchFamily="34" charset="0"/>
                          <a:cs typeface="Calibri" panose="020F0502020204030204" pitchFamily="34" charset="0"/>
                        </a:rPr>
                        <a:t>@100</a:t>
                      </a:r>
                    </a:p>
                  </a:txBody>
                  <a:tcPr anchor="ctr"/>
                </a:tc>
                <a:tc>
                  <a:txBody>
                    <a:bodyPr/>
                    <a:lstStyle/>
                    <a:p>
                      <a:pPr algn="ctr"/>
                      <a:r>
                        <a:rPr lang="en-US" dirty="0">
                          <a:solidFill>
                            <a:schemeClr val="tx1"/>
                          </a:solidFill>
                          <a:latin typeface="Calibri" panose="020F0502020204030204" pitchFamily="34" charset="0"/>
                          <a:cs typeface="Calibri" panose="020F0502020204030204" pitchFamily="34" charset="0"/>
                        </a:rPr>
                        <a:t>F1</a:t>
                      </a:r>
                    </a:p>
                    <a:p>
                      <a:pPr algn="ctr"/>
                      <a:r>
                        <a:rPr lang="en-US" dirty="0">
                          <a:solidFill>
                            <a:schemeClr val="tx1"/>
                          </a:solidFill>
                          <a:latin typeface="Calibri" panose="020F0502020204030204" pitchFamily="34" charset="0"/>
                          <a:cs typeface="Calibri" panose="020F0502020204030204" pitchFamily="34" charset="0"/>
                        </a:rPr>
                        <a:t>@100</a:t>
                      </a:r>
                    </a:p>
                  </a:txBody>
                  <a:tcPr anchor="ctr"/>
                </a:tc>
                <a:tc>
                  <a:txBody>
                    <a:bodyPr/>
                    <a:lstStyle/>
                    <a:p>
                      <a:pPr algn="ctr"/>
                      <a:r>
                        <a:rPr lang="en-US" dirty="0">
                          <a:solidFill>
                            <a:schemeClr val="tx1"/>
                          </a:solidFill>
                          <a:latin typeface="Calibri" panose="020F0502020204030204" pitchFamily="34" charset="0"/>
                          <a:cs typeface="Calibri" panose="020F0502020204030204" pitchFamily="34" charset="0"/>
                        </a:rPr>
                        <a:t>Overlap with GT</a:t>
                      </a:r>
                    </a:p>
                  </a:txBody>
                  <a:tcPr anchor="ctr"/>
                </a:tc>
                <a:extLst>
                  <a:ext uri="{0D108BD9-81ED-4DB2-BD59-A6C34878D82A}">
                    <a16:rowId xmlns:a16="http://schemas.microsoft.com/office/drawing/2014/main" val="1622018660"/>
                  </a:ext>
                </a:extLst>
              </a:tr>
              <a:tr h="370840">
                <a:tc>
                  <a:txBody>
                    <a:bodyPr/>
                    <a:lstStyle/>
                    <a:p>
                      <a:pPr algn="l"/>
                      <a:r>
                        <a:rPr lang="en-US" b="1" dirty="0" err="1">
                          <a:solidFill>
                            <a:schemeClr val="tx1"/>
                          </a:solidFill>
                          <a:latin typeface="Calibri" panose="020F0502020204030204" pitchFamily="34" charset="0"/>
                          <a:cs typeface="Calibri" panose="020F0502020204030204" pitchFamily="34" charset="0"/>
                        </a:rPr>
                        <a:t>Istari</a:t>
                      </a:r>
                      <a:r>
                        <a:rPr lang="en-US" b="1" dirty="0">
                          <a:solidFill>
                            <a:schemeClr val="tx1"/>
                          </a:solidFill>
                          <a:latin typeface="Calibri" panose="020F0502020204030204" pitchFamily="34" charset="0"/>
                          <a:cs typeface="Calibri" panose="020F0502020204030204" pitchFamily="34" charset="0"/>
                        </a:rPr>
                        <a:t> BM25</a:t>
                      </a: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0.090</a:t>
                      </a:r>
                      <a:endParaRPr lang="en-US" b="1"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0.060</a:t>
                      </a:r>
                      <a:endParaRPr lang="en-US" b="1"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0.017</a:t>
                      </a:r>
                      <a:endParaRPr lang="en-US" b="1"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0.019</a:t>
                      </a:r>
                      <a:endParaRPr lang="en-US" b="1"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b="0" i="0" dirty="0">
                          <a:solidFill>
                            <a:schemeClr val="tx1"/>
                          </a:solidFill>
                          <a:latin typeface="Calibri" panose="020F0502020204030204" pitchFamily="34" charset="0"/>
                          <a:cs typeface="Calibri" panose="020F0502020204030204" pitchFamily="34" charset="0"/>
                        </a:rPr>
                        <a:t>1.8</a:t>
                      </a:r>
                    </a:p>
                  </a:txBody>
                  <a:tcPr anchor="ctr"/>
                </a:tc>
                <a:extLst>
                  <a:ext uri="{0D108BD9-81ED-4DB2-BD59-A6C34878D82A}">
                    <a16:rowId xmlns:a16="http://schemas.microsoft.com/office/drawing/2014/main" val="4188287029"/>
                  </a:ext>
                </a:extLst>
              </a:tr>
              <a:tr h="370840">
                <a:tc>
                  <a:txBody>
                    <a:bodyPr/>
                    <a:lstStyle/>
                    <a:p>
                      <a:pPr algn="l"/>
                      <a:r>
                        <a:rPr lang="en-US" b="1" dirty="0" err="1">
                          <a:solidFill>
                            <a:schemeClr val="tx1"/>
                          </a:solidFill>
                          <a:latin typeface="Calibri" panose="020F0502020204030204" pitchFamily="34" charset="0"/>
                          <a:cs typeface="Calibri" panose="020F0502020204030204" pitchFamily="34" charset="0"/>
                        </a:rPr>
                        <a:t>Istari</a:t>
                      </a:r>
                      <a:r>
                        <a:rPr lang="en-US" b="1" dirty="0">
                          <a:solidFill>
                            <a:schemeClr val="tx1"/>
                          </a:solidFill>
                          <a:latin typeface="Calibri" panose="020F0502020204030204" pitchFamily="34" charset="0"/>
                          <a:cs typeface="Calibri" panose="020F0502020204030204" pitchFamily="34" charset="0"/>
                        </a:rPr>
                        <a:t> BM25 + Filter</a:t>
                      </a: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0.090</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0.060</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0.017</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0.019</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i="0" dirty="0">
                          <a:solidFill>
                            <a:schemeClr val="tx1"/>
                          </a:solidFill>
                          <a:latin typeface="Calibri" panose="020F0502020204030204" pitchFamily="34" charset="0"/>
                          <a:cs typeface="Calibri" panose="020F0502020204030204" pitchFamily="34" charset="0"/>
                        </a:rPr>
                        <a:t>1.8</a:t>
                      </a:r>
                    </a:p>
                  </a:txBody>
                  <a:tcPr anchor="ctr"/>
                </a:tc>
                <a:extLst>
                  <a:ext uri="{0D108BD9-81ED-4DB2-BD59-A6C34878D82A}">
                    <a16:rowId xmlns:a16="http://schemas.microsoft.com/office/drawing/2014/main" val="3682947584"/>
                  </a:ext>
                </a:extLst>
              </a:tr>
              <a:tr h="370840">
                <a:tc>
                  <a:txBody>
                    <a:bodyPr/>
                    <a:lstStyle/>
                    <a:p>
                      <a:pPr algn="l"/>
                      <a:r>
                        <a:rPr lang="en-US" b="1" dirty="0" err="1">
                          <a:solidFill>
                            <a:schemeClr val="tx1"/>
                          </a:solidFill>
                          <a:latin typeface="Calibri" panose="020F0502020204030204" pitchFamily="34" charset="0"/>
                          <a:cs typeface="Calibri" panose="020F0502020204030204" pitchFamily="34" charset="0"/>
                        </a:rPr>
                        <a:t>MiniLM</a:t>
                      </a:r>
                      <a:r>
                        <a:rPr lang="en-US" b="1" dirty="0">
                          <a:solidFill>
                            <a:schemeClr val="tx1"/>
                          </a:solidFill>
                          <a:latin typeface="Calibri" panose="020F0502020204030204" pitchFamily="34" charset="0"/>
                          <a:cs typeface="Calibri" panose="020F0502020204030204" pitchFamily="34" charset="0"/>
                        </a:rPr>
                        <a:t> (best until now)</a:t>
                      </a: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0.919</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0.731</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0.136</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0.181</a:t>
                      </a:r>
                      <a:endParaRPr lang="en-US" i="0" dirty="0">
                        <a:solidFill>
                          <a:schemeClr val="tx1"/>
                        </a:solidFill>
                        <a:latin typeface="Calibri" panose="020F0502020204030204" pitchFamily="34" charset="0"/>
                        <a:cs typeface="Calibri" panose="020F0502020204030204" pitchFamily="34" charset="0"/>
                      </a:endParaRPr>
                    </a:p>
                  </a:txBody>
                  <a:tcPr anchor="ctr"/>
                </a:tc>
                <a:tc>
                  <a:txBody>
                    <a:bodyPr/>
                    <a:lstStyle/>
                    <a:p>
                      <a:pPr algn="ctr"/>
                      <a:r>
                        <a:rPr lang="en-US" sz="1800" b="0" i="0" kern="1200" dirty="0">
                          <a:solidFill>
                            <a:schemeClr val="tx1"/>
                          </a:solidFill>
                          <a:effectLst/>
                          <a:latin typeface="Calibri" panose="020F0502020204030204" pitchFamily="34" charset="0"/>
                          <a:ea typeface="+mn-ea"/>
                          <a:cs typeface="Calibri" panose="020F0502020204030204" pitchFamily="34" charset="0"/>
                        </a:rPr>
                        <a:t>17.9</a:t>
                      </a:r>
                      <a:endParaRPr lang="en-US" i="0" dirty="0">
                        <a:solidFill>
                          <a:schemeClr val="tx1"/>
                        </a:solidFill>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675035009"/>
                  </a:ext>
                </a:extLst>
              </a:tr>
            </a:tbl>
          </a:graphicData>
        </a:graphic>
      </p:graphicFrame>
    </p:spTree>
    <p:extLst>
      <p:ext uri="{BB962C8B-B14F-4D97-AF65-F5344CB8AC3E}">
        <p14:creationId xmlns:p14="http://schemas.microsoft.com/office/powerpoint/2010/main" val="2969627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F780B-5E29-7667-C8AF-5F90AB4C37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9676C-9475-090E-C5B6-A559435CAFC7}"/>
              </a:ext>
            </a:extLst>
          </p:cNvPr>
          <p:cNvSpPr>
            <a:spLocks noGrp="1"/>
          </p:cNvSpPr>
          <p:nvPr>
            <p:ph type="title"/>
          </p:nvPr>
        </p:nvSpPr>
        <p:spPr/>
        <p:txBody>
          <a:bodyPr>
            <a:normAutofit/>
          </a:bodyPr>
          <a:lstStyle/>
          <a:p>
            <a:r>
              <a:rPr lang="en-US" sz="4000" b="1" dirty="0">
                <a:latin typeface="Calibri" panose="020F0502020204030204" pitchFamily="34" charset="0"/>
                <a:cs typeface="Calibri" panose="020F0502020204030204" pitchFamily="34" charset="0"/>
              </a:rPr>
              <a:t>API Evaluation - </a:t>
            </a:r>
            <a:r>
              <a:rPr lang="en-US" sz="4000" b="1" dirty="0" err="1">
                <a:latin typeface="Calibri" panose="020F0502020204030204" pitchFamily="34" charset="0"/>
                <a:cs typeface="Calibri" panose="020F0502020204030204" pitchFamily="34" charset="0"/>
              </a:rPr>
              <a:t>MiniLM</a:t>
            </a:r>
            <a:r>
              <a:rPr lang="en-US" sz="4000" b="1" dirty="0">
                <a:latin typeface="Calibri" panose="020F0502020204030204" pitchFamily="34" charset="0"/>
                <a:cs typeface="Calibri" panose="020F0502020204030204" pitchFamily="34" charset="0"/>
              </a:rPr>
              <a:t> Pipeline vs. </a:t>
            </a:r>
            <a:r>
              <a:rPr lang="en-US" sz="4000" b="1" dirty="0" err="1">
                <a:latin typeface="Calibri" panose="020F0502020204030204" pitchFamily="34" charset="0"/>
                <a:cs typeface="Calibri" panose="020F0502020204030204" pitchFamily="34" charset="0"/>
              </a:rPr>
              <a:t>Istari.ai</a:t>
            </a:r>
            <a:r>
              <a:rPr lang="en-US" sz="4000" b="1" dirty="0">
                <a:latin typeface="Calibri" panose="020F0502020204030204" pitchFamily="34" charset="0"/>
                <a:cs typeface="Calibri" panose="020F0502020204030204" pitchFamily="34" charset="0"/>
              </a:rPr>
              <a:t> Production</a:t>
            </a:r>
          </a:p>
        </p:txBody>
      </p:sp>
      <p:sp>
        <p:nvSpPr>
          <p:cNvPr id="7" name="Rectangle 2">
            <a:extLst>
              <a:ext uri="{FF2B5EF4-FFF2-40B4-BE49-F238E27FC236}">
                <a16:creationId xmlns:a16="http://schemas.microsoft.com/office/drawing/2014/main" id="{1FA2BCDD-935F-878F-61A1-A7B794712D14}"/>
              </a:ext>
            </a:extLst>
          </p:cNvPr>
          <p:cNvSpPr>
            <a:spLocks noGrp="1" noChangeArrowheads="1"/>
          </p:cNvSpPr>
          <p:nvPr>
            <p:ph idx="1"/>
          </p:nvPr>
        </p:nvSpPr>
        <p:spPr bwMode="auto">
          <a:xfrm>
            <a:off x="848667" y="1677993"/>
            <a:ext cx="10886133" cy="3136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spcAft>
                <a:spcPct val="0"/>
              </a:spcAft>
            </a:pPr>
            <a:r>
              <a:rPr lang="en-US" sz="2400" dirty="0">
                <a:latin typeface="Calibri" panose="020F0502020204030204" pitchFamily="34" charset="0"/>
                <a:cs typeface="Calibri" panose="020F0502020204030204" pitchFamily="34" charset="0"/>
              </a:rPr>
              <a:t>At k=1000, </a:t>
            </a:r>
            <a:r>
              <a:rPr lang="en-US" sz="2400" dirty="0" err="1">
                <a:latin typeface="Calibri" panose="020F0502020204030204" pitchFamily="34" charset="0"/>
                <a:cs typeface="Calibri" panose="020F0502020204030204" pitchFamily="34" charset="0"/>
              </a:rPr>
              <a:t>MiniLM</a:t>
            </a:r>
            <a:r>
              <a:rPr lang="en-US" sz="2400" dirty="0">
                <a:latin typeface="Calibri" panose="020F0502020204030204" pitchFamily="34" charset="0"/>
                <a:cs typeface="Calibri" panose="020F0502020204030204" pitchFamily="34" charset="0"/>
              </a:rPr>
              <a:t> achieves strong recall and overlaps 741 companies (broad coverage) but precision drops because retrieving 1000 companies inevitably includes lower-ranked corpus entries that fall below the GT relevance threshold.</a:t>
            </a:r>
          </a:p>
          <a:p>
            <a:pPr algn="just" fontAlgn="base">
              <a:spcAft>
                <a:spcPct val="0"/>
              </a:spcAft>
            </a:pPr>
            <a:r>
              <a:rPr lang="en-US" sz="2400" dirty="0">
                <a:latin typeface="Calibri" panose="020F0502020204030204" pitchFamily="34" charset="0"/>
                <a:cs typeface="Calibri" panose="020F0502020204030204" pitchFamily="34" charset="0"/>
              </a:rPr>
              <a:t>When only top-10 are retrieved, </a:t>
            </a:r>
            <a:r>
              <a:rPr lang="en-US" sz="2400" dirty="0" err="1">
                <a:latin typeface="Calibri" panose="020F0502020204030204" pitchFamily="34" charset="0"/>
                <a:cs typeface="Calibri" panose="020F0502020204030204" pitchFamily="34" charset="0"/>
              </a:rPr>
              <a:t>MiniLM</a:t>
            </a:r>
            <a:r>
              <a:rPr lang="en-US" sz="2400" dirty="0">
                <a:latin typeface="Calibri" panose="020F0502020204030204" pitchFamily="34" charset="0"/>
                <a:cs typeface="Calibri" panose="020F0502020204030204" pitchFamily="34" charset="0"/>
              </a:rPr>
              <a:t> is very confident (NDCG=0.935 and Precision=0.810). </a:t>
            </a:r>
          </a:p>
          <a:p>
            <a:pPr algn="just" fontAlgn="base">
              <a:spcAft>
                <a:spcPct val="0"/>
              </a:spcAft>
            </a:pPr>
            <a:r>
              <a:rPr lang="en-US" sz="2400" dirty="0">
                <a:latin typeface="Calibri" panose="020F0502020204030204" pitchFamily="34" charset="0"/>
                <a:cs typeface="Calibri" panose="020F0502020204030204" pitchFamily="34" charset="0"/>
              </a:rPr>
              <a:t>Retrieving 1000 companies = forcing to fetch irrelevant companies. </a:t>
            </a:r>
          </a:p>
          <a:p>
            <a:pPr algn="just" fontAlgn="base">
              <a:spcAft>
                <a:spcPct val="0"/>
              </a:spcAft>
            </a:pPr>
            <a:r>
              <a:rPr lang="en-US" sz="2400" dirty="0">
                <a:latin typeface="Calibri" panose="020F0502020204030204" pitchFamily="34" charset="0"/>
                <a:cs typeface="Calibri" panose="020F0502020204030204" pitchFamily="34" charset="0"/>
              </a:rPr>
              <a:t>Many of those lower-ranked companies score below 0.75 in the GT, dragging Precision down. </a:t>
            </a:r>
          </a:p>
        </p:txBody>
      </p:sp>
      <p:sp>
        <p:nvSpPr>
          <p:cNvPr id="4" name="Date Placeholder 3">
            <a:extLst>
              <a:ext uri="{FF2B5EF4-FFF2-40B4-BE49-F238E27FC236}">
                <a16:creationId xmlns:a16="http://schemas.microsoft.com/office/drawing/2014/main" id="{8CC1E1BF-5886-CC10-1F7C-5EF7391DFC3D}"/>
              </a:ext>
            </a:extLst>
          </p:cNvPr>
          <p:cNvSpPr>
            <a:spLocks noGrp="1"/>
          </p:cNvSpPr>
          <p:nvPr>
            <p:ph type="dt" sz="half" idx="10"/>
          </p:nvPr>
        </p:nvSpPr>
        <p:spPr/>
        <p:txBody>
          <a:bodyPr/>
          <a:lstStyle/>
          <a:p>
            <a:fld id="{4B9484E0-EA99-6E40-9BD0-550CD26F6E0B}" type="datetime1">
              <a:rPr lang="en-US" smtClean="0">
                <a:latin typeface="Calibri" panose="020F0502020204030204" pitchFamily="34" charset="0"/>
                <a:cs typeface="Calibri" panose="020F0502020204030204" pitchFamily="34" charset="0"/>
              </a:rPr>
              <a:t>6/3/26</a:t>
            </a:fld>
            <a:endParaRPr lang="en-US">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38A576BC-47A5-E3BF-5F92-D3E795819A81}"/>
              </a:ext>
            </a:extLst>
          </p:cNvPr>
          <p:cNvSpPr>
            <a:spLocks noGrp="1"/>
          </p:cNvSpPr>
          <p:nvPr>
            <p:ph type="sldNum" sz="quarter" idx="12"/>
          </p:nvPr>
        </p:nvSpPr>
        <p:spPr/>
        <p:txBody>
          <a:bodyPr/>
          <a:lstStyle/>
          <a:p>
            <a:fld id="{9918A6A5-4FFB-434A-A92F-4AE444D35066}" type="slidenum">
              <a:rPr lang="en-US" smtClean="0">
                <a:latin typeface="Calibri" panose="020F0502020204030204" pitchFamily="34" charset="0"/>
                <a:cs typeface="Calibri" panose="020F0502020204030204" pitchFamily="34" charset="0"/>
              </a:rPr>
              <a:t>13</a:t>
            </a:fld>
            <a:endParaRPr lang="en-US">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35260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A4F8F-0956-E6DB-CDFF-07A91C98752F}"/>
              </a:ext>
            </a:extLst>
          </p:cNvPr>
          <p:cNvSpPr>
            <a:spLocks noGrp="1"/>
          </p:cNvSpPr>
          <p:nvPr>
            <p:ph type="title"/>
          </p:nvPr>
        </p:nvSpPr>
        <p:spPr/>
        <p:txBody>
          <a:bodyPr>
            <a:normAutofit/>
          </a:bodyPr>
          <a:lstStyle/>
          <a:p>
            <a:r>
              <a:rPr lang="en-US" sz="4000" b="1" dirty="0">
                <a:latin typeface="Calibri" panose="020F0502020204030204" pitchFamily="34" charset="0"/>
                <a:cs typeface="Calibri" panose="020F0502020204030204" pitchFamily="34" charset="0"/>
              </a:rPr>
              <a:t>Potential Further Steps</a:t>
            </a:r>
          </a:p>
        </p:txBody>
      </p:sp>
      <p:sp>
        <p:nvSpPr>
          <p:cNvPr id="3" name="Content Placeholder 2">
            <a:extLst>
              <a:ext uri="{FF2B5EF4-FFF2-40B4-BE49-F238E27FC236}">
                <a16:creationId xmlns:a16="http://schemas.microsoft.com/office/drawing/2014/main" id="{C43EDBA6-5AA2-4043-69A9-BC8021A8CCA2}"/>
              </a:ext>
            </a:extLst>
          </p:cNvPr>
          <p:cNvSpPr>
            <a:spLocks noGrp="1"/>
          </p:cNvSpPr>
          <p:nvPr>
            <p:ph idx="1"/>
          </p:nvPr>
        </p:nvSpPr>
        <p:spPr>
          <a:xfrm>
            <a:off x="838200" y="1691513"/>
            <a:ext cx="10515600" cy="4351338"/>
          </a:xfrm>
        </p:spPr>
        <p:txBody>
          <a:bodyPr>
            <a:normAutofit/>
          </a:bodyPr>
          <a:lstStyle/>
          <a:p>
            <a:pPr marL="0" indent="0">
              <a:buNone/>
            </a:pPr>
            <a:r>
              <a:rPr lang="en-US" b="1" dirty="0">
                <a:latin typeface="Calibri" panose="020F0502020204030204" pitchFamily="34" charset="0"/>
                <a:cs typeface="Calibri" panose="020F0502020204030204" pitchFamily="34" charset="0"/>
              </a:rPr>
              <a:t>1. Domain Fine-Tuning of </a:t>
            </a:r>
            <a:r>
              <a:rPr lang="en-US" b="1" dirty="0" err="1">
                <a:latin typeface="Calibri" panose="020F0502020204030204" pitchFamily="34" charset="0"/>
                <a:cs typeface="Calibri" panose="020F0502020204030204" pitchFamily="34" charset="0"/>
              </a:rPr>
              <a:t>MiniLM</a:t>
            </a:r>
            <a:r>
              <a:rPr lang="en-US" b="1" dirty="0">
                <a:latin typeface="Calibri" panose="020F0502020204030204" pitchFamily="34" charset="0"/>
                <a:cs typeface="Calibri" panose="020F0502020204030204" pitchFamily="34" charset="0"/>
              </a:rPr>
              <a:t> </a:t>
            </a:r>
          </a:p>
          <a:p>
            <a:pPr lvl="1"/>
            <a:r>
              <a:rPr lang="en-US" dirty="0">
                <a:latin typeface="Calibri" panose="020F0502020204030204" pitchFamily="34" charset="0"/>
                <a:cs typeface="Calibri" panose="020F0502020204030204" pitchFamily="34" charset="0"/>
              </a:rPr>
              <a:t>Precision@1000 drops to 0.565 </a:t>
            </a:r>
          </a:p>
          <a:p>
            <a:pPr lvl="1"/>
            <a:r>
              <a:rPr lang="en-US" dirty="0">
                <a:latin typeface="Calibri" panose="020F0502020204030204" pitchFamily="34" charset="0"/>
                <a:cs typeface="Calibri" panose="020F0502020204030204" pitchFamily="34" charset="0"/>
              </a:rPr>
              <a:t>zero-shot </a:t>
            </a:r>
            <a:r>
              <a:rPr lang="en-US" dirty="0" err="1">
                <a:latin typeface="Calibri" panose="020F0502020204030204" pitchFamily="34" charset="0"/>
                <a:cs typeface="Calibri" panose="020F0502020204030204" pitchFamily="34" charset="0"/>
              </a:rPr>
              <a:t>MiniLM</a:t>
            </a:r>
            <a:r>
              <a:rPr lang="en-US" dirty="0">
                <a:latin typeface="Calibri" panose="020F0502020204030204" pitchFamily="34" charset="0"/>
                <a:cs typeface="Calibri" panose="020F0502020204030204" pitchFamily="34" charset="0"/>
              </a:rPr>
              <a:t> ranks marginal companies too high</a:t>
            </a:r>
          </a:p>
          <a:p>
            <a:pPr lvl="1"/>
            <a:r>
              <a:rPr lang="en-US" dirty="0">
                <a:latin typeface="Calibri" panose="020F0502020204030204" pitchFamily="34" charset="0"/>
                <a:cs typeface="Calibri" panose="020F0502020204030204" pitchFamily="34" charset="0"/>
              </a:rPr>
              <a:t>Fine-tuning on 81 training queries with eval set as supervision signal will push genuinely relevant companies higher and improve precision across all cutoffs.</a:t>
            </a:r>
          </a:p>
          <a:p>
            <a:pPr marL="0" indent="0">
              <a:buNone/>
            </a:pPr>
            <a:r>
              <a:rPr lang="en-US" b="1" dirty="0">
                <a:latin typeface="Calibri" panose="020F0502020204030204" pitchFamily="34" charset="0"/>
                <a:cs typeface="Calibri" panose="020F0502020204030204" pitchFamily="34" charset="0"/>
              </a:rPr>
              <a:t>2. Scale to Full 20M GOI Corpus </a:t>
            </a:r>
          </a:p>
          <a:p>
            <a:pPr lvl="1"/>
            <a:r>
              <a:rPr lang="en-US" dirty="0">
                <a:latin typeface="Calibri" panose="020F0502020204030204" pitchFamily="34" charset="0"/>
                <a:cs typeface="Calibri" panose="020F0502020204030204" pitchFamily="34" charset="0"/>
              </a:rPr>
              <a:t>Recall@1000 is capped at 79.4% </a:t>
            </a:r>
          </a:p>
          <a:p>
            <a:pPr lvl="1"/>
            <a:r>
              <a:rPr lang="en-US" dirty="0">
                <a:latin typeface="Calibri" panose="020F0502020204030204" pitchFamily="34" charset="0"/>
                <a:cs typeface="Calibri" panose="020F0502020204030204" pitchFamily="34" charset="0"/>
              </a:rPr>
              <a:t>259 relevant companies per query are simply absent from our 98,716 corpus</a:t>
            </a:r>
          </a:p>
          <a:p>
            <a:pPr lvl="1"/>
            <a:r>
              <a:rPr lang="en-US" dirty="0">
                <a:latin typeface="Calibri" panose="020F0502020204030204" pitchFamily="34" charset="0"/>
                <a:cs typeface="Calibri" panose="020F0502020204030204" pitchFamily="34" charset="0"/>
              </a:rPr>
              <a:t>scaling to the full GOI using HNSW approximate nearest-</a:t>
            </a:r>
            <a:r>
              <a:rPr lang="en-US" dirty="0" err="1">
                <a:latin typeface="Calibri" panose="020F0502020204030204" pitchFamily="34" charset="0"/>
                <a:cs typeface="Calibri" panose="020F0502020204030204" pitchFamily="34" charset="0"/>
              </a:rPr>
              <a:t>neighbour</a:t>
            </a:r>
            <a:r>
              <a:rPr lang="en-US" dirty="0">
                <a:latin typeface="Calibri" panose="020F0502020204030204" pitchFamily="34" charset="0"/>
                <a:cs typeface="Calibri" panose="020F0502020204030204" pitchFamily="34" charset="0"/>
              </a:rPr>
              <a:t> indexing would close this coverage gap and push recall toward 95%+.</a:t>
            </a:r>
          </a:p>
        </p:txBody>
      </p:sp>
      <p:sp>
        <p:nvSpPr>
          <p:cNvPr id="4" name="Date Placeholder 3">
            <a:extLst>
              <a:ext uri="{FF2B5EF4-FFF2-40B4-BE49-F238E27FC236}">
                <a16:creationId xmlns:a16="http://schemas.microsoft.com/office/drawing/2014/main" id="{C7EFF32D-1837-DB16-44C7-FC5DE872D420}"/>
              </a:ext>
            </a:extLst>
          </p:cNvPr>
          <p:cNvSpPr>
            <a:spLocks noGrp="1"/>
          </p:cNvSpPr>
          <p:nvPr>
            <p:ph type="dt" sz="half" idx="10"/>
          </p:nvPr>
        </p:nvSpPr>
        <p:spPr/>
        <p:txBody>
          <a:bodyPr/>
          <a:lstStyle/>
          <a:p>
            <a:fld id="{4B9484E0-EA99-6E40-9BD0-550CD26F6E0B}" type="datetime1">
              <a:rPr lang="en-US" smtClean="0">
                <a:latin typeface="Calibri" panose="020F0502020204030204" pitchFamily="34" charset="0"/>
                <a:cs typeface="Calibri" panose="020F0502020204030204" pitchFamily="34" charset="0"/>
              </a:rPr>
              <a:t>6/3/26</a:t>
            </a:fld>
            <a:endParaRPr lang="en-US">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BAD17BBE-35D6-12A1-293A-4786A2CCC7AB}"/>
              </a:ext>
            </a:extLst>
          </p:cNvPr>
          <p:cNvSpPr>
            <a:spLocks noGrp="1"/>
          </p:cNvSpPr>
          <p:nvPr>
            <p:ph type="sldNum" sz="quarter" idx="12"/>
          </p:nvPr>
        </p:nvSpPr>
        <p:spPr/>
        <p:txBody>
          <a:bodyPr/>
          <a:lstStyle/>
          <a:p>
            <a:fld id="{9918A6A5-4FFB-434A-A92F-4AE444D35066}" type="slidenum">
              <a:rPr lang="en-US" smtClean="0">
                <a:latin typeface="Calibri" panose="020F0502020204030204" pitchFamily="34" charset="0"/>
                <a:cs typeface="Calibri" panose="020F0502020204030204" pitchFamily="34" charset="0"/>
              </a:rPr>
              <a:t>14</a:t>
            </a:fld>
            <a:endParaRPr lang="en-US">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62441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10589</TotalTime>
  <Words>1220</Words>
  <Application>Microsoft Macintosh PowerPoint</Application>
  <PresentationFormat>Widescreen</PresentationFormat>
  <Paragraphs>407</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Design &amp; Evaluation of Efficient Semantic Company Retrieval at Scale</vt:lpstr>
      <vt:lpstr>Baseline - BM25 + 4 Embedding Models (k=1000)</vt:lpstr>
      <vt:lpstr>Baseline - BM25 + 4 Embedding Models (k=500, 100)</vt:lpstr>
      <vt:lpstr>Method 1: Hypthetical Document Embedding (HyDE) Expansion</vt:lpstr>
      <vt:lpstr>Method 1: HyDE Expansion (k=1000)</vt:lpstr>
      <vt:lpstr>Method 1: HyDE Expansion (k=500, 100)</vt:lpstr>
      <vt:lpstr>Method 2: Hybrid Reciprocal Rank Fusion (RRF)</vt:lpstr>
      <vt:lpstr>Method 2: Hybrid RRF (k=1000)</vt:lpstr>
      <vt:lpstr>Method 2: Hybrid RRF (k=500, 100)</vt:lpstr>
      <vt:lpstr>API Evaluation - MiniLM Pipeline vs. Istari.ai Production</vt:lpstr>
      <vt:lpstr>API Evaluation - MiniLM Pipeline vs. Istari.ai Production (k=1000)</vt:lpstr>
      <vt:lpstr>API Evaluation - MiniLM Pipeline vs. Istari.ai Production (k=500, 100)</vt:lpstr>
      <vt:lpstr>API Evaluation - MiniLM Pipeline vs. Istari.ai Production</vt:lpstr>
      <vt:lpstr>Potential Further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Marmee Pandya</dc:creator>
  <cp:lastModifiedBy>Marmee Pandya</cp:lastModifiedBy>
  <cp:revision>40</cp:revision>
  <dcterms:created xsi:type="dcterms:W3CDTF">2026-05-19T06:52:38Z</dcterms:created>
  <dcterms:modified xsi:type="dcterms:W3CDTF">2026-06-03T21:03:03Z</dcterms:modified>
</cp:coreProperties>
</file>